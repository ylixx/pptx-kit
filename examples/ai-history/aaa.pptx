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6" r:id="rId2"/>
    <p:sldMasterId id="2147483678" r:id="rId3"/>
  </p:sldMasterIdLst>
  <p:handoutMasterIdLst>
    <p:handoutMasterId r:id="rId74"/>
  </p:handoutMasterIdLst>
  <p:sldIdLst>
    <p:sldId id="257" r:id="rId901"/>
    <p:sldId id="258" r:id="rId902"/>
    <p:sldId id="259" r:id="rId903"/>
    <p:sldId id="260" r:id="rId904"/>
    <p:sldId id="261" r:id="rId905"/>
    <p:sldId id="262" r:id="rId906"/>
    <p:sldId id="263" r:id="rId907"/>
    <p:sldId id="264" r:id="rId908"/>
    <p:sldId id="265" r:id="rId909"/>
    <p:sldId id="266" r:id="rId910"/>
    <p:sldId id="267" r:id="rId911"/>
    <p:sldId id="268" r:id="rId912"/>
    <p:sldId id="269" r:id="rId913"/>
    <p:sldId id="270" r:id="rId914"/>
    <p:sldId id="271" r:id="rId915"/>
    <p:sldId id="272" r:id="rId916"/>
    <p:sldId id="273" r:id="rId917"/>
    <p:sldId id="274" r:id="rId918"/>
    <p:sldId id="275" r:id="rId9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B0617D8F-E636-45A1-97A9-07C580016CD0}">
          <p14:sldIdLst>
            <p14:sldId id="433"/>
          </p14:sldIdLst>
        </p14:section>
        <p14:section name="目录" id="{B8D05AC7-5975-4664-BCF4-10852415E6A8}">
          <p14:sldIdLst>
            <p14:sldId id="485"/>
          </p14:sldIdLst>
        </p14:section>
        <p14:section name="过渡页" id="{F8C9A4FA-4B47-4DC7-BC64-048EA85A57B3}">
          <p14:sldIdLst>
            <p14:sldId id="434"/>
            <p14:sldId id="435"/>
            <p14:sldId id="436"/>
            <p14:sldId id="437"/>
            <p14:sldId id="438"/>
            <p14:sldId id="439"/>
          </p14:sldIdLst>
        </p14:section>
        <p14:section name="尾页" id="{55E74312-9DDE-4484-89B0-5AF44DCD3318}">
          <p14:sldIdLst>
            <p14:sldId id="482"/>
          </p14:sldIdLst>
        </p14:section>
        <p14:section name="文字版式" id="{5B52DD04-C8E7-45FB-8A35-C4014DFF54D2}">
          <p14:sldIdLst>
            <p14:sldId id="428"/>
            <p14:sldId id="427"/>
            <p14:sldId id="424"/>
            <p14:sldId id="310"/>
            <p14:sldId id="315"/>
            <p14:sldId id="391"/>
            <p14:sldId id="423"/>
            <p14:sldId id="389"/>
          </p14:sldIdLst>
        </p14:section>
        <p14:section name="图文版式" id="{DED75D44-D9C2-400C-B89C-3AA09B8E6D74}">
          <p14:sldIdLst>
            <p14:sldId id="440"/>
            <p14:sldId id="393"/>
            <p14:sldId id="397"/>
            <p14:sldId id="396"/>
            <p14:sldId id="398"/>
            <p14:sldId id="429"/>
          </p14:sldIdLst>
        </p14:section>
        <p14:section name="样机页版式" id="{CC595ED5-A271-4C14-9AE6-1E392A3ED365}">
          <p14:sldIdLst>
            <p14:sldId id="476"/>
          </p14:sldIdLst>
        </p14:section>
        <p14:section name="人物页" id="{50674407-E17F-46E0-AE33-8D0E4F4112CF}">
          <p14:sldIdLst>
            <p14:sldId id="442"/>
            <p14:sldId id="455"/>
            <p14:sldId id="443"/>
            <p14:sldId id="421"/>
            <p14:sldId id="407"/>
            <p14:sldId id="420"/>
          </p14:sldIdLst>
        </p14:section>
        <p14:section name="逻辑图示页" id="{A5912338-6140-4EBB-BE4E-45DF296A0F1E}">
          <p14:sldIdLst>
            <p14:sldId id="371"/>
            <p14:sldId id="468"/>
            <p14:sldId id="484"/>
            <p14:sldId id="431"/>
            <p14:sldId id="352"/>
            <p14:sldId id="478"/>
            <p14:sldId id="417"/>
            <p14:sldId id="379"/>
            <p14:sldId id="467"/>
            <p14:sldId id="471"/>
            <p14:sldId id="418"/>
          </p14:sldIdLst>
        </p14:section>
        <p14:section name="数据图表页" id="{BEC53594-DA4C-443C-91E4-FBE405EBA145}">
          <p14:sldIdLst>
            <p14:sldId id="469"/>
            <p14:sldId id="355"/>
            <p14:sldId id="367"/>
            <p14:sldId id="366"/>
            <p14:sldId id="374"/>
            <p14:sldId id="368"/>
            <p14:sldId id="373"/>
            <p14:sldId id="372"/>
            <p14:sldId id="384"/>
          </p14:sldIdLst>
        </p14:section>
        <p14:section name="其他页面版式" id="{0F852E46-3117-44F8-A025-9E90612F8A05}">
          <p14:sldIdLst>
            <p14:sldId id="479"/>
            <p14:sldId id="480"/>
            <p14:sldId id="481"/>
            <p14:sldId id="448"/>
          </p14:sldIdLst>
        </p14:section>
        <p14:section name="设计规范" id="{052484E8-0BD0-4C3A-A683-0D16114128C2}">
          <p14:sldIdLst>
            <p14:sldId id="458"/>
            <p14:sldId id="450"/>
            <p14:sldId id="451"/>
            <p14:sldId id="452"/>
          </p14:sldIdLst>
        </p14:section>
        <p14:section name="使用手册" id="{BA917DD8-350F-4BF1-80F4-6CC8AFB8986B}">
          <p14:sldIdLst>
            <p14:sldId id="456"/>
            <p14:sldId id="459"/>
            <p14:sldId id="461"/>
            <p14:sldId id="460"/>
            <p14:sldId id="474"/>
          </p14:sldIdLst>
        </p14:section>
        <p14:section name="设计小教程" id="{83C6194C-2F09-40AB-88E5-D3AB8250D87C}">
          <p14:sldIdLst>
            <p14:sldId id="463"/>
            <p14:sldId id="464"/>
            <p14:sldId id="465"/>
          </p14:sldIdLst>
        </p14:section>
        <p14:section name="模板说明" id="{985D5B19-E465-4AD2-8E10-D8801B452060}">
          <p14:sldIdLst>
            <p14:sldId id="453"/>
            <p14:sldId id="454"/>
            <p14:sldId id="1723"/>
            <p14:sldId id="1728"/>
          </p14:sldIdLst>
        </p14:section>
      </p14:sectionLst>
    </p:ext>
    <p:ext uri="{EFAFB233-063F-42B5-8137-9DF3F51BA10A}">
      <p15:sldGuideLst xmlns:p15="http://schemas.microsoft.com/office/powerpoint/2012/main">
        <p15:guide id="1" orient="horz" pos="504" userDrawn="1">
          <p15:clr>
            <a:srgbClr val="A4A3A4"/>
          </p15:clr>
        </p15:guide>
        <p15:guide id="2" pos="529" userDrawn="1">
          <p15:clr>
            <a:srgbClr val="A4A3A4"/>
          </p15:clr>
        </p15:guide>
        <p15:guide id="3" pos="7151" userDrawn="1">
          <p15:clr>
            <a:srgbClr val="A4A3A4"/>
          </p15:clr>
        </p15:guide>
        <p15:guide id="5" orient="horz" pos="4042" userDrawn="1">
          <p15:clr>
            <a:srgbClr val="A4A3A4"/>
          </p15:clr>
        </p15:guide>
        <p15:guide id="6"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陈 伟佳" initials="陈" lastIdx="3" clrIdx="0">
    <p:extLst>
      <p:ext uri="{19B8F6BF-5375-455C-9EA6-DF929625EA0E}">
        <p15:presenceInfo xmlns:p15="http://schemas.microsoft.com/office/powerpoint/2012/main" userId="cbebeb1f0ada7a0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110" d="100"/>
          <a:sy n="110" d="100"/>
        </p:scale>
        <p:origin x="426" y="108"/>
      </p:cViewPr>
      <p:guideLst>
        <p:guide orient="horz" pos="504"/>
        <p:guide pos="529"/>
        <p:guide pos="7151"/>
        <p:guide orient="horz" pos="4042"/>
        <p:guide orient="horz" pos="2160"/>
      </p:guideLst>
    </p:cSldViewPr>
  </p:slideViewPr>
  <p:notesTextViewPr>
    <p:cViewPr>
      <p:scale>
        <a:sx n="1" d="1"/>
        <a:sy n="1" d="1"/>
      </p:scale>
      <p:origin x="0" y="0"/>
    </p:cViewPr>
  </p:notesTextViewPr>
  <p:notesViewPr>
    <p:cSldViewPr snapToGrid="0" showGuides="1">
      <p:cViewPr varScale="1">
        <p:scale>
          <a:sx n="51" d="100"/>
          <a:sy n="51" d="100"/>
        </p:scale>
        <p:origin x="2970"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29" Type="http://schemas.openxmlformats.org/officeDocument/2006/relationships/notesMaster" Target="notesMasters/notesMaster1.xml"/><Relationship Id="rId74" Type="http://schemas.openxmlformats.org/officeDocument/2006/relationships/handoutMaster" Target="handoutMasters/handoutMaster1.xml"/><Relationship Id="rId75" Type="http://schemas.openxmlformats.org/officeDocument/2006/relationships/commentAuthors" Target="commentAuthors.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901" Type="http://schemas.openxmlformats.org/officeDocument/2006/relationships/slide" Target="slides/slide1.xml"/><Relationship Id="rId902" Type="http://schemas.openxmlformats.org/officeDocument/2006/relationships/slide" Target="slides/slide2.xml"/><Relationship Id="rId903" Type="http://schemas.openxmlformats.org/officeDocument/2006/relationships/slide" Target="slides/slide3.xml"/><Relationship Id="rId904" Type="http://schemas.openxmlformats.org/officeDocument/2006/relationships/slide" Target="slides/slide4.xml"/><Relationship Id="rId905" Type="http://schemas.openxmlformats.org/officeDocument/2006/relationships/slide" Target="slides/slide5.xml"/><Relationship Id="rId906" Type="http://schemas.openxmlformats.org/officeDocument/2006/relationships/slide" Target="slides/slide6.xml"/><Relationship Id="rId907" Type="http://schemas.openxmlformats.org/officeDocument/2006/relationships/slide" Target="slides/slide7.xml"/><Relationship Id="rId908" Type="http://schemas.openxmlformats.org/officeDocument/2006/relationships/slide" Target="slides/slide8.xml"/><Relationship Id="rId909" Type="http://schemas.openxmlformats.org/officeDocument/2006/relationships/slide" Target="slides/slide9.xml"/><Relationship Id="rId910" Type="http://schemas.openxmlformats.org/officeDocument/2006/relationships/slide" Target="slides/slide10.xml"/><Relationship Id="rId911" Type="http://schemas.openxmlformats.org/officeDocument/2006/relationships/slide" Target="slides/slide11.xml"/><Relationship Id="rId912" Type="http://schemas.openxmlformats.org/officeDocument/2006/relationships/slide" Target="slides/slide12.xml"/><Relationship Id="rId913" Type="http://schemas.openxmlformats.org/officeDocument/2006/relationships/slide" Target="slides/slide13.xml"/><Relationship Id="rId914" Type="http://schemas.openxmlformats.org/officeDocument/2006/relationships/slide" Target="slides/slide14.xml"/><Relationship Id="rId915" Type="http://schemas.openxmlformats.org/officeDocument/2006/relationships/slide" Target="slides/slide15.xml"/><Relationship Id="rId916" Type="http://schemas.openxmlformats.org/officeDocument/2006/relationships/slide" Target="slides/slide16.xml"/><Relationship Id="rId917" Type="http://schemas.openxmlformats.org/officeDocument/2006/relationships/slide" Target="slides/slide17.xml"/><Relationship Id="rId918" Type="http://schemas.openxmlformats.org/officeDocument/2006/relationships/slide" Target="slides/slide18.xml"/><Relationship Id="rId919"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FBB56966-702A-4E09-89A2-954FABE11A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EEB4B198-49C9-4D50-9E08-46D9DDE6A5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CC5015A-9E95-41FB-8D6D-E9ACB1674950}" type="datetimeFigureOut">
              <a:rPr lang="zh-CN" altLang="en-US" smtClean="0"/>
              <a:t>2025/2/15</a:t>
            </a:fld>
            <a:endParaRPr lang="zh-CN" altLang="en-US"/>
          </a:p>
        </p:txBody>
      </p:sp>
      <p:sp>
        <p:nvSpPr>
          <p:cNvPr id="4" name="页脚占位符 3">
            <a:extLst>
              <a:ext uri="{FF2B5EF4-FFF2-40B4-BE49-F238E27FC236}">
                <a16:creationId xmlns:a16="http://schemas.microsoft.com/office/drawing/2014/main" id="{4C4E4FD6-5F04-49E0-8EEE-E8AF65F830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3E28B318-CB03-4C14-8B8A-C9184B42696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66FC0C-9F35-4B11-83DC-245F3306CDED}" type="slidenum">
              <a:rPr lang="zh-CN" altLang="en-US" smtClean="0"/>
              <a:t>‹#›</a:t>
            </a:fld>
            <a:endParaRPr lang="zh-CN" altLang="en-US"/>
          </a:p>
        </p:txBody>
      </p:sp>
    </p:spTree>
    <p:extLst>
      <p:ext uri="{BB962C8B-B14F-4D97-AF65-F5344CB8AC3E}">
        <p14:creationId xmlns:p14="http://schemas.microsoft.com/office/powerpoint/2010/main" val="732765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各位老师好，我汇报的题目是《人工智能大模型发展历史研究》。本文以历史演进为线索，梳理大模型八十年的发展脉络，回答它从哪里来、因何而成、向何处去。</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汇报分为五个部分：先回溯 1943 年以来的萌芽与积淀，再看深度学习革命与预训练时代，接着分析生成式 AI 的破圈，最后总结演进规律与现实挑战。</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第一部分回到起点。1943 至 2005 年，人工智能在理论奠基与寒冬往复中前行，确立了从数据中学习的连接主义路线，为日后爆发埋下伏笔。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核心洞察——大模型是三次浪潮叠加的必然产物，而非突变。引言旨在澄清公众认知偏差，确立全文历史脉络的分析框架，帮助听众把握技术规律。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核心洞察——浪潮与寒冬交替是 AI 独有的历史节奏。此期确立从数据学习的路线，每次低谷都在积蓄下一轮爆发的理论与人才。</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第二部分进入深度学习革命。2006 至 2016 年，深层网络在数据与算力加持下重新点燃，AlexNet 成为标志性起点。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核心洞察——深度学习崛起是基础设施成熟后的必然。数据、算法、算力三者缺一不可，技术外溢至视觉语音翻译多领域。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核心洞察——AlexNet 的价值不在单篇论文，而在证明数据、算力、算法共振可引爆范式转移，开启深度学习十年繁荣。</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第三部分来到预训练时代。Transformer 与规模扩展定律让模型首次具备可扩展的统一架构与可预测的能力增长。</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核心洞察——Transformer 是大模型时代的地基。它用架构创新换取并行上限，使后续所有规模化训练成为可能。</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核心洞察——规模即范式。Scaling Laws 让大力出奇迹从经验变为可计算纲领，临界点后的涌现改写能力边界。</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第四部分聚焦生成式 AI。RLHF 让模型学会服从指令，ChatGPT 将能力推向大众，产业沿三条主线演进。</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核心洞察——突破不在参数而在对齐。RLHF 把续写机器训成听话助手，ChatGPT 由此破圈走向大众。</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核心洞察——2023 年呈现多模态、开源、智能体三主线。能力从生成文本扩展为执行任务，AI 迈向通用代理。</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最后一部分做冷思考。提炼八十年三大演进规律，直面成本幻觉安全治理四重现实挑战。</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核心洞察——八十年可提炼三条规律。范式递进、要素共振、规模即范式，共同解释大模型为何在此刻爆发。</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核心洞察——大模型并非万能。成本、幻觉、安全、治理四重约束，决定其落地节奏与可及边界。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核心洞察——大模型从工具演变为基础设施。回望历史是为前瞻：下一阶段竞争在模态、推理与自主化。</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我的汇报到此结束，感谢各位老师聆听。接下来是问答环节，恳请各位老师批评指正。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4.pn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4.png"/><Relationship Id="rId5"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4.png"/><Relationship Id="rId5"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51A6BD26-7563-4661-9D5D-3AFE64DC9D10}"/>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Blur radius="9"/>
                    </a14:imgEffect>
                  </a14:imgLayer>
                </a14:imgProps>
              </a:ext>
              <a:ext uri="{28A0092B-C50C-407E-A947-70E740481C1C}">
                <a14:useLocalDpi xmlns:a14="http://schemas.microsoft.com/office/drawing/2010/main" val="0"/>
              </a:ext>
            </a:extLst>
          </a:blip>
          <a:stretch>
            <a:fillRect/>
          </a:stretch>
        </p:blipFill>
        <p:spPr>
          <a:xfrm>
            <a:off x="0" y="1"/>
            <a:ext cx="12192000" cy="6857999"/>
          </a:xfrm>
          <a:prstGeom prst="rect">
            <a:avLst/>
          </a:prstGeom>
        </p:spPr>
      </p:pic>
      <p:pic>
        <p:nvPicPr>
          <p:cNvPr id="12" name="图片 11">
            <a:extLst>
              <a:ext uri="{FF2B5EF4-FFF2-40B4-BE49-F238E27FC236}">
                <a16:creationId xmlns:a16="http://schemas.microsoft.com/office/drawing/2014/main" id="{B9631A0B-9F80-4132-80B6-BCDC3803326D}"/>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a:stretch/>
        </p:blipFill>
        <p:spPr>
          <a:xfrm>
            <a:off x="7951823" y="2454725"/>
            <a:ext cx="4240177" cy="4403275"/>
          </a:xfrm>
          <a:prstGeom prst="rect">
            <a:avLst/>
          </a:prstGeom>
        </p:spPr>
      </p:pic>
      <p:pic>
        <p:nvPicPr>
          <p:cNvPr id="13" name="图片 12">
            <a:extLst>
              <a:ext uri="{FF2B5EF4-FFF2-40B4-BE49-F238E27FC236}">
                <a16:creationId xmlns:a16="http://schemas.microsoft.com/office/drawing/2014/main" id="{E45DF580-DF41-4B00-BCDE-5A56D651080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a:xfrm>
            <a:off x="0" y="2454725"/>
            <a:ext cx="4471803" cy="4403276"/>
          </a:xfrm>
          <a:prstGeom prst="rect">
            <a:avLst/>
          </a:prstGeom>
        </p:spPr>
      </p:pic>
      <p:sp>
        <p:nvSpPr>
          <p:cNvPr id="10" name="图片占位符 9">
            <a:extLst>
              <a:ext uri="{FF2B5EF4-FFF2-40B4-BE49-F238E27FC236}">
                <a16:creationId xmlns:a16="http://schemas.microsoft.com/office/drawing/2014/main" id="{2C2784C5-757A-4A84-84E5-BFB54E3AF7E4}"/>
              </a:ext>
            </a:extLst>
          </p:cNvPr>
          <p:cNvSpPr>
            <a:spLocks noGrp="1"/>
          </p:cNvSpPr>
          <p:nvPr>
            <p:ph type="pic" sz="quarter" idx="10" hasCustomPrompt="1"/>
          </p:nvPr>
        </p:nvSpPr>
        <p:spPr>
          <a:xfrm>
            <a:off x="172936" y="176464"/>
            <a:ext cx="11846128" cy="4395536"/>
          </a:xfrm>
          <a:prstGeom prst="roundRect">
            <a:avLst>
              <a:gd name="adj" fmla="val 848"/>
            </a:avLst>
          </a:prstGeom>
        </p:spPr>
        <p:txBody>
          <a:bodyPr/>
          <a:lstStyle>
            <a:lvl1pPr marL="0" indent="0" algn="ctr">
              <a:buNone/>
              <a:defRPr>
                <a:solidFill>
                  <a:schemeClr val="tx1">
                    <a:lumMod val="65000"/>
                    <a:lumOff val="35000"/>
                  </a:schemeClr>
                </a:solidFill>
                <a:latin typeface="+mn-ea"/>
                <a:ea typeface="+mn-ea"/>
              </a:defRPr>
            </a:lvl1pPr>
          </a:lstStyle>
          <a:p>
            <a:r>
              <a:rPr lang="zh-CN" altLang="en-US" dirty="0"/>
              <a:t>点击图标，添加图片</a:t>
            </a:r>
          </a:p>
        </p:txBody>
      </p:sp>
      <p:sp>
        <p:nvSpPr>
          <p:cNvPr id="14" name="文本占位符 13">
            <a:extLst>
              <a:ext uri="{FF2B5EF4-FFF2-40B4-BE49-F238E27FC236}">
                <a16:creationId xmlns:a16="http://schemas.microsoft.com/office/drawing/2014/main" id="{6B050F4D-CDE1-4589-ABC8-30AF83FB1CFD}"/>
              </a:ext>
            </a:extLst>
          </p:cNvPr>
          <p:cNvSpPr>
            <a:spLocks noGrp="1"/>
          </p:cNvSpPr>
          <p:nvPr>
            <p:ph type="body" sz="quarter" idx="11" hasCustomPrompt="1"/>
          </p:nvPr>
        </p:nvSpPr>
        <p:spPr>
          <a:xfrm>
            <a:off x="1409701" y="2598738"/>
            <a:ext cx="9372600" cy="841375"/>
          </a:xfrm>
          <a:prstGeom prst="rect">
            <a:avLst/>
          </a:prstGeom>
        </p:spPr>
        <p:txBody>
          <a:bodyPr>
            <a:normAutofit/>
          </a:bodyPr>
          <a:lstStyle>
            <a:lvl1pPr marL="0" indent="0" algn="ctr">
              <a:buNone/>
              <a:defRPr sz="4800" b="1">
                <a:solidFill>
                  <a:schemeClr val="bg1"/>
                </a:solidFill>
                <a:latin typeface="+mj-ea"/>
                <a:ea typeface="+mj-ea"/>
              </a:defRPr>
            </a:lvl1pPr>
          </a:lstStyle>
          <a:p>
            <a:pPr lvl="0"/>
            <a:r>
              <a:rPr lang="zh-CN" altLang="en-US" dirty="0"/>
              <a:t>单击此处编辑标题</a:t>
            </a:r>
          </a:p>
        </p:txBody>
      </p:sp>
      <p:sp>
        <p:nvSpPr>
          <p:cNvPr id="16" name="文本占位符 15">
            <a:extLst>
              <a:ext uri="{FF2B5EF4-FFF2-40B4-BE49-F238E27FC236}">
                <a16:creationId xmlns:a16="http://schemas.microsoft.com/office/drawing/2014/main" id="{13822795-9DA5-4FD8-BF21-26E533A7EA26}"/>
              </a:ext>
            </a:extLst>
          </p:cNvPr>
          <p:cNvSpPr>
            <a:spLocks noGrp="1"/>
          </p:cNvSpPr>
          <p:nvPr>
            <p:ph type="body" sz="quarter" idx="12" hasCustomPrompt="1"/>
          </p:nvPr>
        </p:nvSpPr>
        <p:spPr>
          <a:xfrm>
            <a:off x="1409700" y="3471556"/>
            <a:ext cx="9372602" cy="284163"/>
          </a:xfrm>
          <a:prstGeom prst="rect">
            <a:avLst/>
          </a:prstGeom>
        </p:spPr>
        <p:txBody>
          <a:bodyPr>
            <a:normAutofit/>
          </a:bodyPr>
          <a:lstStyle>
            <a:lvl1pPr marL="0" indent="0" algn="ctr">
              <a:buNone/>
              <a:defRPr sz="1600" b="0">
                <a:solidFill>
                  <a:schemeClr val="bg1">
                    <a:lumMod val="85000"/>
                  </a:schemeClr>
                </a:solidFill>
                <a:latin typeface="+mj-lt"/>
                <a:ea typeface="+mj-ea"/>
              </a:defRPr>
            </a:lvl1pPr>
          </a:lstStyle>
          <a:p>
            <a:pPr lvl="0"/>
            <a:r>
              <a:rPr lang="zh-CN" altLang="en-US" dirty="0"/>
              <a:t>单击此处编辑标题的英文式</a:t>
            </a:r>
          </a:p>
        </p:txBody>
      </p:sp>
      <p:sp>
        <p:nvSpPr>
          <p:cNvPr id="21" name="文本框 20">
            <a:extLst>
              <a:ext uri="{FF2B5EF4-FFF2-40B4-BE49-F238E27FC236}">
                <a16:creationId xmlns:a16="http://schemas.microsoft.com/office/drawing/2014/main" id="{EE2DBBC0-679A-4A4A-9B24-8D9D37C9A8AF}"/>
              </a:ext>
            </a:extLst>
          </p:cNvPr>
          <p:cNvSpPr txBox="1"/>
          <p:nvPr/>
        </p:nvSpPr>
        <p:spPr>
          <a:xfrm>
            <a:off x="621092" y="6526837"/>
            <a:ext cx="2209800" cy="184666"/>
          </a:xfrm>
          <a:prstGeom prst="rect">
            <a:avLst/>
          </a:prstGeom>
          <a:noFill/>
        </p:spPr>
        <p:txBody>
          <a:bodyPr wrap="square" lIns="0" tIns="0" rIns="0" bIns="0" rtlCol="0">
            <a:spAutoFit/>
          </a:bodyPr>
          <a:lstStyle/>
          <a:p>
            <a:pPr algn="ctr"/>
            <a:r>
              <a:rPr lang="zh-CN" altLang="en-US" sz="1200" spc="600" dirty="0">
                <a:solidFill>
                  <a:schemeClr val="bg1">
                    <a:lumMod val="65000"/>
                  </a:schemeClr>
                </a:solidFill>
                <a:latin typeface="+mj-ea"/>
                <a:ea typeface="+mj-ea"/>
              </a:rPr>
              <a:t>厚德</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励学</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笃行</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拓新</a:t>
            </a:r>
          </a:p>
        </p:txBody>
      </p:sp>
      <p:sp>
        <p:nvSpPr>
          <p:cNvPr id="22" name="文本框 21">
            <a:extLst>
              <a:ext uri="{FF2B5EF4-FFF2-40B4-BE49-F238E27FC236}">
                <a16:creationId xmlns:a16="http://schemas.microsoft.com/office/drawing/2014/main" id="{54904E7C-E723-47B9-83E9-0363A90623C4}"/>
              </a:ext>
            </a:extLst>
          </p:cNvPr>
          <p:cNvSpPr txBox="1"/>
          <p:nvPr/>
        </p:nvSpPr>
        <p:spPr>
          <a:xfrm>
            <a:off x="7931282" y="6526837"/>
            <a:ext cx="3639627"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40" normalizeH="0" baseline="0" noProof="0" dirty="0" err="1">
                <a:ln>
                  <a:noFill/>
                </a:ln>
                <a:solidFill>
                  <a:schemeClr val="bg1">
                    <a:lumMod val="65000"/>
                  </a:schemeClr>
                </a:solidFill>
                <a:effectLst/>
                <a:uLnTx/>
                <a:uFillTx/>
                <a:latin typeface="+mn-lt"/>
                <a:ea typeface="+mn-ea"/>
                <a:cs typeface="+mn-cs"/>
              </a:rPr>
              <a:t>GuangDong</a:t>
            </a:r>
            <a:r>
              <a:rPr kumimoji="0" lang="en-US" altLang="zh-CN" sz="1200" b="0" i="0" u="none" strike="noStrike" kern="1200" cap="none" spc="40" normalizeH="0" baseline="0" noProof="0" dirty="0">
                <a:ln>
                  <a:noFill/>
                </a:ln>
                <a:solidFill>
                  <a:schemeClr val="bg1">
                    <a:lumMod val="65000"/>
                  </a:schemeClr>
                </a:solidFill>
                <a:effectLst/>
                <a:uLnTx/>
                <a:uFillTx/>
                <a:latin typeface="+mn-lt"/>
                <a:ea typeface="+mn-ea"/>
                <a:cs typeface="+mn-cs"/>
              </a:rPr>
              <a:t> University of Finance &amp; Economics</a:t>
            </a:r>
            <a:endParaRPr kumimoji="0" lang="zh-CN" altLang="en-US" sz="1200" b="0" i="0" u="none" strike="noStrike" kern="1200" cap="none" spc="40" normalizeH="0" baseline="0" noProof="0" dirty="0">
              <a:ln>
                <a:noFill/>
              </a:ln>
              <a:solidFill>
                <a:schemeClr val="bg1">
                  <a:lumMod val="65000"/>
                </a:schemeClr>
              </a:solidFill>
              <a:effectLst/>
              <a:uLnTx/>
              <a:uFillTx/>
              <a:latin typeface="+mn-lt"/>
              <a:ea typeface="+mn-ea"/>
              <a:cs typeface="+mn-cs"/>
            </a:endParaRPr>
          </a:p>
        </p:txBody>
      </p:sp>
      <p:cxnSp>
        <p:nvCxnSpPr>
          <p:cNvPr id="23" name="直接连接符 22">
            <a:extLst>
              <a:ext uri="{FF2B5EF4-FFF2-40B4-BE49-F238E27FC236}">
                <a16:creationId xmlns:a16="http://schemas.microsoft.com/office/drawing/2014/main" id="{B075EB60-7EEF-4EED-9A20-40BA124BFF5B}"/>
              </a:ext>
            </a:extLst>
          </p:cNvPr>
          <p:cNvCxnSpPr>
            <a:cxnSpLocks/>
          </p:cNvCxnSpPr>
          <p:nvPr userDrawn="1"/>
        </p:nvCxnSpPr>
        <p:spPr>
          <a:xfrm>
            <a:off x="463252" y="6431331"/>
            <a:ext cx="11265496" cy="0"/>
          </a:xfrm>
          <a:prstGeom prst="line">
            <a:avLst/>
          </a:prstGeom>
          <a:ln w="12700">
            <a:solidFill>
              <a:schemeClr val="accent1">
                <a:alpha val="43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925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51A6BD26-7563-4661-9D5D-3AFE64DC9D10}"/>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Blur radius="9"/>
                    </a14:imgEffect>
                  </a14:imgLayer>
                </a14:imgProps>
              </a:ext>
              <a:ext uri="{28A0092B-C50C-407E-A947-70E740481C1C}">
                <a14:useLocalDpi xmlns:a14="http://schemas.microsoft.com/office/drawing/2010/main" val="0"/>
              </a:ext>
            </a:extLst>
          </a:blip>
          <a:stretch>
            <a:fillRect/>
          </a:stretch>
        </p:blipFill>
        <p:spPr>
          <a:xfrm>
            <a:off x="0" y="1"/>
            <a:ext cx="12192000" cy="6857999"/>
          </a:xfrm>
          <a:prstGeom prst="rect">
            <a:avLst/>
          </a:prstGeom>
        </p:spPr>
      </p:pic>
      <p:pic>
        <p:nvPicPr>
          <p:cNvPr id="12" name="图片 11">
            <a:extLst>
              <a:ext uri="{FF2B5EF4-FFF2-40B4-BE49-F238E27FC236}">
                <a16:creationId xmlns:a16="http://schemas.microsoft.com/office/drawing/2014/main" id="{B9631A0B-9F80-4132-80B6-BCDC3803326D}"/>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a:stretch/>
        </p:blipFill>
        <p:spPr>
          <a:xfrm>
            <a:off x="7951823" y="2454725"/>
            <a:ext cx="4240177" cy="4403275"/>
          </a:xfrm>
          <a:prstGeom prst="rect">
            <a:avLst/>
          </a:prstGeom>
        </p:spPr>
      </p:pic>
      <p:pic>
        <p:nvPicPr>
          <p:cNvPr id="13" name="图片 12">
            <a:extLst>
              <a:ext uri="{FF2B5EF4-FFF2-40B4-BE49-F238E27FC236}">
                <a16:creationId xmlns:a16="http://schemas.microsoft.com/office/drawing/2014/main" id="{E45DF580-DF41-4B00-BCDE-5A56D651080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a:xfrm>
            <a:off x="0" y="2454725"/>
            <a:ext cx="4471803" cy="4403276"/>
          </a:xfrm>
          <a:prstGeom prst="rect">
            <a:avLst/>
          </a:prstGeom>
        </p:spPr>
      </p:pic>
      <p:sp>
        <p:nvSpPr>
          <p:cNvPr id="10" name="图片占位符 9">
            <a:extLst>
              <a:ext uri="{FF2B5EF4-FFF2-40B4-BE49-F238E27FC236}">
                <a16:creationId xmlns:a16="http://schemas.microsoft.com/office/drawing/2014/main" id="{2C2784C5-757A-4A84-84E5-BFB54E3AF7E4}"/>
              </a:ext>
            </a:extLst>
          </p:cNvPr>
          <p:cNvSpPr>
            <a:spLocks noGrp="1"/>
          </p:cNvSpPr>
          <p:nvPr>
            <p:ph type="pic" sz="quarter" idx="10" hasCustomPrompt="1"/>
          </p:nvPr>
        </p:nvSpPr>
        <p:spPr>
          <a:xfrm>
            <a:off x="172936" y="176464"/>
            <a:ext cx="11846128" cy="4395536"/>
          </a:xfrm>
          <a:prstGeom prst="roundRect">
            <a:avLst>
              <a:gd name="adj" fmla="val 848"/>
            </a:avLst>
          </a:prstGeom>
        </p:spPr>
        <p:txBody>
          <a:bodyPr/>
          <a:lstStyle>
            <a:lvl1pPr marL="0" indent="0" algn="ctr">
              <a:buNone/>
              <a:defRPr>
                <a:solidFill>
                  <a:schemeClr val="tx1">
                    <a:lumMod val="65000"/>
                    <a:lumOff val="35000"/>
                  </a:schemeClr>
                </a:solidFill>
                <a:latin typeface="+mn-ea"/>
                <a:ea typeface="+mn-ea"/>
              </a:defRPr>
            </a:lvl1pPr>
          </a:lstStyle>
          <a:p>
            <a:r>
              <a:rPr lang="zh-CN" altLang="en-US" dirty="0"/>
              <a:t>点击图标，添加图片</a:t>
            </a:r>
          </a:p>
        </p:txBody>
      </p:sp>
      <p:sp>
        <p:nvSpPr>
          <p:cNvPr id="21" name="文本框 20">
            <a:extLst>
              <a:ext uri="{FF2B5EF4-FFF2-40B4-BE49-F238E27FC236}">
                <a16:creationId xmlns:a16="http://schemas.microsoft.com/office/drawing/2014/main" id="{EE2DBBC0-679A-4A4A-9B24-8D9D37C9A8AF}"/>
              </a:ext>
            </a:extLst>
          </p:cNvPr>
          <p:cNvSpPr txBox="1"/>
          <p:nvPr/>
        </p:nvSpPr>
        <p:spPr>
          <a:xfrm>
            <a:off x="621092" y="6526837"/>
            <a:ext cx="2209800" cy="184666"/>
          </a:xfrm>
          <a:prstGeom prst="rect">
            <a:avLst/>
          </a:prstGeom>
          <a:noFill/>
        </p:spPr>
        <p:txBody>
          <a:bodyPr wrap="square" lIns="0" tIns="0" rIns="0" bIns="0" rtlCol="0">
            <a:spAutoFit/>
          </a:bodyPr>
          <a:lstStyle/>
          <a:p>
            <a:pPr algn="ctr"/>
            <a:r>
              <a:rPr lang="zh-CN" altLang="en-US" sz="1200" spc="600" dirty="0">
                <a:solidFill>
                  <a:schemeClr val="bg1">
                    <a:lumMod val="65000"/>
                  </a:schemeClr>
                </a:solidFill>
                <a:latin typeface="+mj-ea"/>
                <a:ea typeface="+mj-ea"/>
              </a:rPr>
              <a:t>厚德</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励学</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笃行</a:t>
            </a:r>
            <a:r>
              <a:rPr lang="en-US" altLang="zh-CN" sz="1200" spc="600" dirty="0">
                <a:solidFill>
                  <a:schemeClr val="bg1">
                    <a:lumMod val="65000"/>
                  </a:schemeClr>
                </a:solidFill>
                <a:latin typeface="+mj-ea"/>
                <a:ea typeface="+mj-ea"/>
              </a:rPr>
              <a:t>·</a:t>
            </a:r>
            <a:r>
              <a:rPr lang="zh-CN" altLang="en-US" sz="1200" spc="600" dirty="0">
                <a:solidFill>
                  <a:schemeClr val="bg1">
                    <a:lumMod val="65000"/>
                  </a:schemeClr>
                </a:solidFill>
                <a:latin typeface="+mj-ea"/>
                <a:ea typeface="+mj-ea"/>
              </a:rPr>
              <a:t>拓新</a:t>
            </a:r>
          </a:p>
        </p:txBody>
      </p:sp>
      <p:sp>
        <p:nvSpPr>
          <p:cNvPr id="22" name="文本框 21">
            <a:extLst>
              <a:ext uri="{FF2B5EF4-FFF2-40B4-BE49-F238E27FC236}">
                <a16:creationId xmlns:a16="http://schemas.microsoft.com/office/drawing/2014/main" id="{54904E7C-E723-47B9-83E9-0363A90623C4}"/>
              </a:ext>
            </a:extLst>
          </p:cNvPr>
          <p:cNvSpPr txBox="1"/>
          <p:nvPr/>
        </p:nvSpPr>
        <p:spPr>
          <a:xfrm>
            <a:off x="7931282" y="6526837"/>
            <a:ext cx="3639627"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40" normalizeH="0" baseline="0" noProof="0" dirty="0" err="1">
                <a:ln>
                  <a:noFill/>
                </a:ln>
                <a:solidFill>
                  <a:schemeClr val="bg1">
                    <a:lumMod val="65000"/>
                  </a:schemeClr>
                </a:solidFill>
                <a:effectLst/>
                <a:uLnTx/>
                <a:uFillTx/>
                <a:latin typeface="+mn-lt"/>
                <a:ea typeface="+mn-ea"/>
                <a:cs typeface="+mn-cs"/>
              </a:rPr>
              <a:t>GuangDong</a:t>
            </a:r>
            <a:r>
              <a:rPr kumimoji="0" lang="en-US" altLang="zh-CN" sz="1200" b="0" i="0" u="none" strike="noStrike" kern="1200" cap="none" spc="40" normalizeH="0" baseline="0" noProof="0" dirty="0">
                <a:ln>
                  <a:noFill/>
                </a:ln>
                <a:solidFill>
                  <a:schemeClr val="bg1">
                    <a:lumMod val="65000"/>
                  </a:schemeClr>
                </a:solidFill>
                <a:effectLst/>
                <a:uLnTx/>
                <a:uFillTx/>
                <a:latin typeface="+mn-lt"/>
                <a:ea typeface="+mn-ea"/>
                <a:cs typeface="+mn-cs"/>
              </a:rPr>
              <a:t> University of Finance &amp; Economics</a:t>
            </a:r>
            <a:endParaRPr kumimoji="0" lang="zh-CN" altLang="en-US" sz="1200" b="0" i="0" u="none" strike="noStrike" kern="1200" cap="none" spc="40" normalizeH="0" baseline="0" noProof="0" dirty="0">
              <a:ln>
                <a:noFill/>
              </a:ln>
              <a:solidFill>
                <a:schemeClr val="bg1">
                  <a:lumMod val="65000"/>
                </a:schemeClr>
              </a:solidFill>
              <a:effectLst/>
              <a:uLnTx/>
              <a:uFillTx/>
              <a:latin typeface="+mn-lt"/>
              <a:ea typeface="+mn-ea"/>
              <a:cs typeface="+mn-cs"/>
            </a:endParaRPr>
          </a:p>
        </p:txBody>
      </p:sp>
      <p:cxnSp>
        <p:nvCxnSpPr>
          <p:cNvPr id="23" name="直接连接符 22">
            <a:extLst>
              <a:ext uri="{FF2B5EF4-FFF2-40B4-BE49-F238E27FC236}">
                <a16:creationId xmlns:a16="http://schemas.microsoft.com/office/drawing/2014/main" id="{B075EB60-7EEF-4EED-9A20-40BA124BFF5B}"/>
              </a:ext>
            </a:extLst>
          </p:cNvPr>
          <p:cNvCxnSpPr>
            <a:cxnSpLocks/>
          </p:cNvCxnSpPr>
          <p:nvPr userDrawn="1"/>
        </p:nvCxnSpPr>
        <p:spPr>
          <a:xfrm>
            <a:off x="463252" y="6431331"/>
            <a:ext cx="11265496" cy="0"/>
          </a:xfrm>
          <a:prstGeom prst="line">
            <a:avLst/>
          </a:prstGeom>
          <a:ln w="12700">
            <a:solidFill>
              <a:schemeClr val="accent1">
                <a:alpha val="43000"/>
              </a:schemeClr>
            </a:solidFill>
          </a:ln>
        </p:spPr>
        <p:style>
          <a:lnRef idx="1">
            <a:schemeClr val="accent1"/>
          </a:lnRef>
          <a:fillRef idx="0">
            <a:schemeClr val="accent1"/>
          </a:fillRef>
          <a:effectRef idx="0">
            <a:schemeClr val="accent1"/>
          </a:effectRef>
          <a:fontRef idx="minor">
            <a:schemeClr val="tx1"/>
          </a:fontRef>
        </p:style>
      </p:cxnSp>
      <p:sp>
        <p:nvSpPr>
          <p:cNvPr id="3" name="文本占位符 2">
            <a:extLst>
              <a:ext uri="{FF2B5EF4-FFF2-40B4-BE49-F238E27FC236}">
                <a16:creationId xmlns:a16="http://schemas.microsoft.com/office/drawing/2014/main" id="{998F1687-12F3-4E3D-8950-0DF57363A039}"/>
              </a:ext>
            </a:extLst>
          </p:cNvPr>
          <p:cNvSpPr>
            <a:spLocks noGrp="1"/>
          </p:cNvSpPr>
          <p:nvPr>
            <p:ph type="body" sz="quarter" idx="15" hasCustomPrompt="1"/>
          </p:nvPr>
        </p:nvSpPr>
        <p:spPr>
          <a:xfrm>
            <a:off x="1399805" y="2135188"/>
            <a:ext cx="9392390" cy="841375"/>
          </a:xfrm>
          <a:prstGeom prst="rect">
            <a:avLst/>
          </a:prstGeom>
        </p:spPr>
        <p:txBody>
          <a:bodyPr lIns="0" tIns="0" rIns="0" bIns="0" anchor="ctr" anchorCtr="0"/>
          <a:lstStyle>
            <a:lvl1pPr marL="0" indent="0" algn="ctr">
              <a:buNone/>
              <a:defRPr lang="zh-CN" altLang="en-US" sz="4400" b="1" i="1" kern="1200" dirty="0">
                <a:solidFill>
                  <a:prstClr val="white"/>
                </a:solidFill>
                <a:latin typeface="+mj-lt"/>
                <a:ea typeface="+mn-ea"/>
                <a:cs typeface="+mn-cs"/>
              </a:defRPr>
            </a:lvl1pPr>
          </a:lstStyle>
          <a:p>
            <a:pPr lvl="0"/>
            <a:r>
              <a:rPr lang="en-US" altLang="zh-CN" dirty="0"/>
              <a:t>ADD YOUR TITLE HERE</a:t>
            </a:r>
            <a:endParaRPr lang="zh-CN" altLang="en-US" dirty="0"/>
          </a:p>
        </p:txBody>
      </p:sp>
      <p:sp>
        <p:nvSpPr>
          <p:cNvPr id="5" name="文本占位符 4">
            <a:extLst>
              <a:ext uri="{FF2B5EF4-FFF2-40B4-BE49-F238E27FC236}">
                <a16:creationId xmlns:a16="http://schemas.microsoft.com/office/drawing/2014/main" id="{798AD7D2-85D2-4576-86A2-580321E961F2}"/>
              </a:ext>
            </a:extLst>
          </p:cNvPr>
          <p:cNvSpPr>
            <a:spLocks noGrp="1"/>
          </p:cNvSpPr>
          <p:nvPr>
            <p:ph type="body" sz="quarter" idx="16" hasCustomPrompt="1"/>
          </p:nvPr>
        </p:nvSpPr>
        <p:spPr>
          <a:xfrm>
            <a:off x="1399806" y="5119688"/>
            <a:ext cx="9392390" cy="493712"/>
          </a:xfrm>
          <a:prstGeom prst="rect">
            <a:avLst/>
          </a:prstGeom>
        </p:spPr>
        <p:txBody>
          <a:bodyPr lIns="0" tIns="0" rIns="0" bIns="0" anchor="ctr" anchorCtr="0"/>
          <a:lstStyle>
            <a:lvl1pPr marL="0" indent="0" algn="ctr">
              <a:buNone/>
              <a:defRPr lang="zh-CN" altLang="en-US" sz="2800" b="1" kern="1200" spc="600" dirty="0">
                <a:solidFill>
                  <a:schemeClr val="tx1">
                    <a:lumMod val="65000"/>
                    <a:lumOff val="35000"/>
                  </a:schemeClr>
                </a:solidFill>
                <a:latin typeface="+mj-ea"/>
                <a:ea typeface="+mj-ea"/>
                <a:cs typeface="+mn-cs"/>
              </a:defRPr>
            </a:lvl1pPr>
          </a:lstStyle>
          <a:p>
            <a:pPr lvl="0"/>
            <a:r>
              <a:rPr lang="zh-CN" altLang="en-US" dirty="0"/>
              <a:t>单击此处编辑文本</a:t>
            </a:r>
          </a:p>
        </p:txBody>
      </p:sp>
      <p:sp>
        <p:nvSpPr>
          <p:cNvPr id="9" name="文本占位符 8">
            <a:extLst>
              <a:ext uri="{FF2B5EF4-FFF2-40B4-BE49-F238E27FC236}">
                <a16:creationId xmlns:a16="http://schemas.microsoft.com/office/drawing/2014/main" id="{8DD130A2-C5ED-4DF3-AA5D-3B37E1315853}"/>
              </a:ext>
            </a:extLst>
          </p:cNvPr>
          <p:cNvSpPr>
            <a:spLocks noGrp="1"/>
          </p:cNvSpPr>
          <p:nvPr>
            <p:ph type="body" sz="quarter" idx="17" hasCustomPrompt="1"/>
          </p:nvPr>
        </p:nvSpPr>
        <p:spPr>
          <a:xfrm>
            <a:off x="1399435" y="5670537"/>
            <a:ext cx="9392390" cy="257175"/>
          </a:xfrm>
          <a:prstGeom prst="rect">
            <a:avLst/>
          </a:prstGeom>
        </p:spPr>
        <p:txBody>
          <a:bodyPr lIns="0" tIns="0" rIns="0" bIns="0" anchor="ctr" anchorCtr="0"/>
          <a:lstStyle>
            <a:lvl1pPr marL="0" indent="0" algn="ctr">
              <a:buNone/>
              <a:defRPr lang="zh-CN" altLang="en-US" sz="1300" kern="1200" spc="300" dirty="0">
                <a:solidFill>
                  <a:prstClr val="white">
                    <a:lumMod val="85000"/>
                  </a:prstClr>
                </a:solidFill>
                <a:latin typeface="+mn-lt"/>
                <a:ea typeface="+mn-ea"/>
                <a:cs typeface="+mn-cs"/>
              </a:defRPr>
            </a:lvl1pPr>
          </a:lstStyle>
          <a:p>
            <a:pPr lvl="0"/>
            <a:r>
              <a:rPr lang="en-US" altLang="zh-CN" dirty="0"/>
              <a:t>ADD YOUR TEXT HERE</a:t>
            </a:r>
            <a:endParaRPr lang="zh-CN" altLang="en-US" dirty="0"/>
          </a:p>
        </p:txBody>
      </p:sp>
    </p:spTree>
    <p:extLst>
      <p:ext uri="{BB962C8B-B14F-4D97-AF65-F5344CB8AC3E}">
        <p14:creationId xmlns:p14="http://schemas.microsoft.com/office/powerpoint/2010/main" val="3428989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A279B382-E648-4C12-A113-FC3140A71B5C}"/>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Blur radius="9"/>
                    </a14:imgEffect>
                  </a14:imgLayer>
                </a14:imgProps>
              </a:ext>
              <a:ext uri="{28A0092B-C50C-407E-A947-70E740481C1C}">
                <a14:useLocalDpi xmlns:a14="http://schemas.microsoft.com/office/drawing/2010/main" val="0"/>
              </a:ext>
            </a:extLst>
          </a:blip>
          <a:stretch>
            <a:fillRect/>
          </a:stretch>
        </p:blipFill>
        <p:spPr>
          <a:xfrm>
            <a:off x="0" y="1"/>
            <a:ext cx="12192000" cy="6857999"/>
          </a:xfrm>
          <a:prstGeom prst="rect">
            <a:avLst/>
          </a:prstGeom>
        </p:spPr>
      </p:pic>
      <p:sp>
        <p:nvSpPr>
          <p:cNvPr id="11" name="文本框 10">
            <a:extLst>
              <a:ext uri="{FF2B5EF4-FFF2-40B4-BE49-F238E27FC236}">
                <a16:creationId xmlns:a16="http://schemas.microsoft.com/office/drawing/2014/main" id="{FA698911-24B6-42BB-B494-0A0CEE30D04B}"/>
              </a:ext>
            </a:extLst>
          </p:cNvPr>
          <p:cNvSpPr txBox="1"/>
          <p:nvPr userDrawn="1"/>
        </p:nvSpPr>
        <p:spPr>
          <a:xfrm>
            <a:off x="850267" y="6526837"/>
            <a:ext cx="2363565" cy="184666"/>
          </a:xfrm>
          <a:prstGeom prst="rect">
            <a:avLst/>
          </a:prstGeom>
          <a:noFill/>
        </p:spPr>
        <p:txBody>
          <a:bodyPr wrap="square" lIns="0" tIns="0" rIns="0" bIns="0" rtlCol="0">
            <a:spAutoFit/>
          </a:bodyPr>
          <a:lstStyle/>
          <a:p>
            <a:r>
              <a:rPr lang="zh-CN" altLang="en-US" sz="1200" spc="300" dirty="0">
                <a:solidFill>
                  <a:schemeClr val="bg1">
                    <a:lumMod val="65000"/>
                  </a:schemeClr>
                </a:solidFill>
                <a:latin typeface="+mj-ea"/>
              </a:rPr>
              <a:t>广东财经大学毕业答辩</a:t>
            </a:r>
          </a:p>
        </p:txBody>
      </p:sp>
      <p:sp>
        <p:nvSpPr>
          <p:cNvPr id="12" name="文本框 11">
            <a:extLst>
              <a:ext uri="{FF2B5EF4-FFF2-40B4-BE49-F238E27FC236}">
                <a16:creationId xmlns:a16="http://schemas.microsoft.com/office/drawing/2014/main" id="{05177294-1A50-4C88-932B-6DACBBC1470E}"/>
              </a:ext>
            </a:extLst>
          </p:cNvPr>
          <p:cNvSpPr txBox="1"/>
          <p:nvPr userDrawn="1"/>
        </p:nvSpPr>
        <p:spPr>
          <a:xfrm>
            <a:off x="7794172" y="6526837"/>
            <a:ext cx="3562804" cy="184666"/>
          </a:xfrm>
          <a:prstGeom prst="rect">
            <a:avLst/>
          </a:prstGeom>
          <a:noFill/>
        </p:spPr>
        <p:txBody>
          <a:bodyPr wrap="square" lIns="0" tIns="0" rIns="0" bIns="0" rtlCol="0">
            <a:spAutoFit/>
          </a:bodyPr>
          <a:lstStyle/>
          <a:p>
            <a:pPr algn="r"/>
            <a:r>
              <a:rPr lang="en-US" altLang="zh-CN" sz="1200" spc="40" baseline="0" dirty="0" err="1">
                <a:solidFill>
                  <a:schemeClr val="bg1">
                    <a:lumMod val="65000"/>
                  </a:schemeClr>
                </a:solidFill>
              </a:rPr>
              <a:t>GuangDong</a:t>
            </a:r>
            <a:r>
              <a:rPr lang="en-US" altLang="zh-CN" sz="1200" spc="40" baseline="0" dirty="0">
                <a:solidFill>
                  <a:schemeClr val="bg1">
                    <a:lumMod val="65000"/>
                  </a:schemeClr>
                </a:solidFill>
              </a:rPr>
              <a:t> University of Finance &amp; Economics</a:t>
            </a:r>
            <a:endParaRPr lang="zh-CN" altLang="en-US" sz="1200" spc="40" baseline="0" dirty="0">
              <a:solidFill>
                <a:schemeClr val="bg1">
                  <a:lumMod val="65000"/>
                </a:schemeClr>
              </a:solidFill>
            </a:endParaRPr>
          </a:p>
        </p:txBody>
      </p:sp>
      <p:cxnSp>
        <p:nvCxnSpPr>
          <p:cNvPr id="13" name="直接连接符 12">
            <a:extLst>
              <a:ext uri="{FF2B5EF4-FFF2-40B4-BE49-F238E27FC236}">
                <a16:creationId xmlns:a16="http://schemas.microsoft.com/office/drawing/2014/main" id="{701970DD-3C3B-49AA-BA1C-BFC33B570567}"/>
              </a:ext>
            </a:extLst>
          </p:cNvPr>
          <p:cNvCxnSpPr>
            <a:cxnSpLocks/>
          </p:cNvCxnSpPr>
          <p:nvPr userDrawn="1"/>
        </p:nvCxnSpPr>
        <p:spPr>
          <a:xfrm>
            <a:off x="463252" y="6431331"/>
            <a:ext cx="11265496" cy="0"/>
          </a:xfrm>
          <a:prstGeom prst="line">
            <a:avLst/>
          </a:prstGeom>
          <a:ln w="12700" cap="rnd">
            <a:solidFill>
              <a:schemeClr val="accent1">
                <a:alpha val="34000"/>
              </a:schemeClr>
            </a:solidFill>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1F108C4D-CC0C-41AB-A64F-E26FD7354E1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a:stretch/>
        </p:blipFill>
        <p:spPr>
          <a:xfrm>
            <a:off x="7951823" y="2454725"/>
            <a:ext cx="4240177" cy="4403275"/>
          </a:xfrm>
          <a:prstGeom prst="rect">
            <a:avLst/>
          </a:prstGeom>
        </p:spPr>
      </p:pic>
      <p:pic>
        <p:nvPicPr>
          <p:cNvPr id="16" name="图片 15">
            <a:extLst>
              <a:ext uri="{FF2B5EF4-FFF2-40B4-BE49-F238E27FC236}">
                <a16:creationId xmlns:a16="http://schemas.microsoft.com/office/drawing/2014/main" id="{BEF9CFD8-8808-40B8-A1BC-9D5BE6DB8FE0}"/>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a:xfrm>
            <a:off x="0" y="2454725"/>
            <a:ext cx="4471803" cy="4403276"/>
          </a:xfrm>
          <a:prstGeom prst="rect">
            <a:avLst/>
          </a:prstGeom>
        </p:spPr>
      </p:pic>
    </p:spTree>
    <p:extLst>
      <p:ext uri="{BB962C8B-B14F-4D97-AF65-F5344CB8AC3E}">
        <p14:creationId xmlns:p14="http://schemas.microsoft.com/office/powerpoint/2010/main" val="18905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F9FE1152-0BFE-4E9A-83BB-07BE9C434635}"/>
              </a:ext>
            </a:extLst>
          </p:cNvPr>
          <p:cNvSpPr/>
          <p:nvPr userDrawn="1"/>
        </p:nvSpPr>
        <p:spPr>
          <a:xfrm>
            <a:off x="2144363" y="0"/>
            <a:ext cx="2664515" cy="5257801"/>
          </a:xfrm>
          <a:prstGeom prst="rect">
            <a:avLst/>
          </a:prstGeom>
          <a:gradFill>
            <a:gsLst>
              <a:gs pos="100000">
                <a:schemeClr val="accent1"/>
              </a:gs>
              <a:gs pos="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a:extLst>
              <a:ext uri="{FF2B5EF4-FFF2-40B4-BE49-F238E27FC236}">
                <a16:creationId xmlns:a16="http://schemas.microsoft.com/office/drawing/2014/main" id="{D92B83DD-1F91-49DF-9B55-0E2D9B9BBB11}"/>
              </a:ext>
            </a:extLst>
          </p:cNvPr>
          <p:cNvCxnSpPr/>
          <p:nvPr userDrawn="1"/>
        </p:nvCxnSpPr>
        <p:spPr>
          <a:xfrm>
            <a:off x="5575011" y="3588650"/>
            <a:ext cx="2385323" cy="0"/>
          </a:xfrm>
          <a:prstGeom prst="line">
            <a:avLst/>
          </a:prstGeom>
          <a:ln w="28575" cap="rnd">
            <a:gradFill>
              <a:gsLst>
                <a:gs pos="50000">
                  <a:srgbClr val="006871">
                    <a:alpha val="32000"/>
                  </a:srgbClr>
                </a:gs>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433EAF82-3AB6-46D6-9C71-BD2E7E9D9B2D}"/>
              </a:ext>
            </a:extLst>
          </p:cNvPr>
          <p:cNvSpPr/>
          <p:nvPr userDrawn="1"/>
        </p:nvSpPr>
        <p:spPr>
          <a:xfrm>
            <a:off x="2138515" y="4654821"/>
            <a:ext cx="2664516"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BB6023D3-1FF5-4A20-9A46-26015559941F}"/>
              </a:ext>
            </a:extLst>
          </p:cNvPr>
          <p:cNvSpPr/>
          <p:nvPr userDrawn="1"/>
        </p:nvSpPr>
        <p:spPr>
          <a:xfrm>
            <a:off x="2138515" y="4769121"/>
            <a:ext cx="2664516"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2">
            <a:extLst>
              <a:ext uri="{FF2B5EF4-FFF2-40B4-BE49-F238E27FC236}">
                <a16:creationId xmlns:a16="http://schemas.microsoft.com/office/drawing/2014/main" id="{23AD43AA-588A-4F1E-A023-4DF52B8DC28B}"/>
              </a:ext>
            </a:extLst>
          </p:cNvPr>
          <p:cNvSpPr>
            <a:spLocks noGrp="1"/>
          </p:cNvSpPr>
          <p:nvPr>
            <p:ph type="body" sz="quarter" idx="10" hasCustomPrompt="1"/>
          </p:nvPr>
        </p:nvSpPr>
        <p:spPr>
          <a:xfrm>
            <a:off x="2269829" y="1920441"/>
            <a:ext cx="2413583" cy="2369880"/>
          </a:xfrm>
          <a:prstGeom prst="rect">
            <a:avLst/>
          </a:prstGeom>
          <a:noFill/>
        </p:spPr>
        <p:txBody>
          <a:bodyPr wrap="square" lIns="0" tIns="0" rIns="0" bIns="0" rtlCol="0" anchor="ctr" anchorCtr="0">
            <a:spAutoFit/>
          </a:bodyPr>
          <a:lstStyle>
            <a:lvl1pPr marL="0" indent="0">
              <a:lnSpc>
                <a:spcPct val="100000"/>
              </a:lnSpc>
              <a:buNone/>
              <a:defRPr lang="zh-CN" altLang="en-US" sz="15400" b="1" dirty="0">
                <a:gradFill>
                  <a:gsLst>
                    <a:gs pos="28000">
                      <a:schemeClr val="bg1"/>
                    </a:gs>
                    <a:gs pos="73000">
                      <a:schemeClr val="bg1">
                        <a:alpha val="10000"/>
                      </a:schemeClr>
                    </a:gs>
                    <a:gs pos="90000">
                      <a:schemeClr val="bg1">
                        <a:alpha val="0"/>
                      </a:schemeClr>
                    </a:gs>
                  </a:gsLst>
                  <a:lin ang="5400000" scaled="0"/>
                </a:gradFill>
                <a:latin typeface="+mj-ea"/>
                <a:ea typeface="+mj-ea"/>
              </a:defRPr>
            </a:lvl1pPr>
          </a:lstStyle>
          <a:p>
            <a:pPr marL="0" lvl="0" algn="ctr"/>
            <a:r>
              <a:rPr lang="en-US" altLang="zh-CN" dirty="0"/>
              <a:t>01</a:t>
            </a:r>
            <a:endParaRPr lang="zh-CN" altLang="en-US" dirty="0"/>
          </a:p>
        </p:txBody>
      </p:sp>
      <p:sp>
        <p:nvSpPr>
          <p:cNvPr id="5" name="文本占位符 4">
            <a:extLst>
              <a:ext uri="{FF2B5EF4-FFF2-40B4-BE49-F238E27FC236}">
                <a16:creationId xmlns:a16="http://schemas.microsoft.com/office/drawing/2014/main" id="{156879F1-D47F-4555-97AC-AD923CE27FE2}"/>
              </a:ext>
            </a:extLst>
          </p:cNvPr>
          <p:cNvSpPr>
            <a:spLocks noGrp="1"/>
          </p:cNvSpPr>
          <p:nvPr>
            <p:ph type="body" sz="quarter" idx="11" hasCustomPrompt="1"/>
          </p:nvPr>
        </p:nvSpPr>
        <p:spPr>
          <a:xfrm>
            <a:off x="5524211" y="2308454"/>
            <a:ext cx="5867608" cy="747897"/>
          </a:xfrm>
          <a:prstGeom prst="rect">
            <a:avLst/>
          </a:prstGeom>
          <a:noFill/>
        </p:spPr>
        <p:txBody>
          <a:bodyPr wrap="square" lIns="0" tIns="0" rIns="0" bIns="0" rtlCol="0" anchor="ctr" anchorCtr="0">
            <a:spAutoFit/>
          </a:bodyPr>
          <a:lstStyle>
            <a:lvl1pPr marL="0" indent="0">
              <a:buNone/>
              <a:defRPr lang="zh-CN" altLang="en-US" sz="5400" b="1" spc="300" dirty="0">
                <a:solidFill>
                  <a:schemeClr val="accent1"/>
                </a:solidFill>
                <a:latin typeface="+mj-ea"/>
                <a:ea typeface="+mj-ea"/>
              </a:defRPr>
            </a:lvl1pPr>
          </a:lstStyle>
          <a:p>
            <a:pPr marL="0" lvl="0"/>
            <a:r>
              <a:rPr lang="zh-CN" altLang="en-US" dirty="0"/>
              <a:t>单击此处编辑标题</a:t>
            </a:r>
          </a:p>
        </p:txBody>
      </p:sp>
      <p:sp>
        <p:nvSpPr>
          <p:cNvPr id="9" name="文本占位符 8">
            <a:extLst>
              <a:ext uri="{FF2B5EF4-FFF2-40B4-BE49-F238E27FC236}">
                <a16:creationId xmlns:a16="http://schemas.microsoft.com/office/drawing/2014/main" id="{DEB1245A-7C9E-47E3-A5C2-1214DEDBA22F}"/>
              </a:ext>
            </a:extLst>
          </p:cNvPr>
          <p:cNvSpPr>
            <a:spLocks noGrp="1"/>
          </p:cNvSpPr>
          <p:nvPr>
            <p:ph type="body" sz="quarter" idx="12" hasCustomPrompt="1"/>
          </p:nvPr>
        </p:nvSpPr>
        <p:spPr>
          <a:xfrm>
            <a:off x="5524211" y="3132779"/>
            <a:ext cx="5867608" cy="249299"/>
          </a:xfrm>
          <a:prstGeom prst="rect">
            <a:avLst/>
          </a:prstGeom>
        </p:spPr>
        <p:txBody>
          <a:bodyPr wrap="square" lIns="0" tIns="0" rIns="0" bIns="0" anchor="ctr" anchorCtr="0">
            <a:spAutoFit/>
          </a:bodyPr>
          <a:lstStyle>
            <a:lvl1pPr marL="0" indent="0">
              <a:buNone/>
              <a:defRPr lang="zh-CN" altLang="en-US" sz="1800" spc="300" dirty="0">
                <a:solidFill>
                  <a:schemeClr val="tx1">
                    <a:lumMod val="50000"/>
                    <a:lumOff val="50000"/>
                  </a:schemeClr>
                </a:solidFill>
              </a:defRPr>
            </a:lvl1pPr>
          </a:lstStyle>
          <a:p>
            <a:pPr marL="0" lvl="0"/>
            <a:r>
              <a:rPr lang="en-US" altLang="zh-CN" dirty="0"/>
              <a:t>ADD YOUR TITLE HERE</a:t>
            </a:r>
            <a:endParaRPr lang="zh-CN" altLang="en-US" dirty="0"/>
          </a:p>
        </p:txBody>
      </p:sp>
      <p:sp>
        <p:nvSpPr>
          <p:cNvPr id="34" name="文本占位符 33">
            <a:extLst>
              <a:ext uri="{FF2B5EF4-FFF2-40B4-BE49-F238E27FC236}">
                <a16:creationId xmlns:a16="http://schemas.microsoft.com/office/drawing/2014/main" id="{E6D06C17-2E61-4BAA-A044-84C4BEF7E6FF}"/>
              </a:ext>
            </a:extLst>
          </p:cNvPr>
          <p:cNvSpPr>
            <a:spLocks noGrp="1"/>
          </p:cNvSpPr>
          <p:nvPr>
            <p:ph type="body" sz="quarter" idx="13" hasCustomPrompt="1"/>
          </p:nvPr>
        </p:nvSpPr>
        <p:spPr>
          <a:xfrm>
            <a:off x="5524211" y="3757038"/>
            <a:ext cx="3518189" cy="707373"/>
          </a:xfrm>
          <a:prstGeom prst="rect">
            <a:avLst/>
          </a:prstGeom>
          <a:noFill/>
        </p:spPr>
        <p:txBody>
          <a:bodyPr wrap="square" lIns="0" tIns="0" rIns="0" bIns="0" rtlCol="0" anchor="ctr" anchorCtr="0">
            <a:spAutoFit/>
          </a:bodyPr>
          <a:lstStyle>
            <a:lvl1pPr marL="0" marR="0" indent="0" algn="l" defTabSz="914400" rtl="0" eaLnBrk="1" fontAlgn="auto" latinLnBrk="0" hangingPunct="1">
              <a:lnSpc>
                <a:spcPct val="120000"/>
              </a:lnSpc>
              <a:spcBef>
                <a:spcPts val="0"/>
              </a:spcBef>
              <a:spcAft>
                <a:spcPts val="0"/>
              </a:spcAft>
              <a:buClrTx/>
              <a:buSzTx/>
              <a:buFontTx/>
              <a:buNone/>
              <a:tabLst/>
              <a:defRPr lang="zh-CN" altLang="en-US" sz="2000" spc="300" dirty="0">
                <a:solidFill>
                  <a:schemeClr val="tx1">
                    <a:lumMod val="50000"/>
                    <a:lumOff val="50000"/>
                  </a:schemeClr>
                </a:solidFill>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300" normalizeH="0" baseline="0" noProof="0" dirty="0">
                <a:ln>
                  <a:noFill/>
                </a:ln>
                <a:solidFill>
                  <a:prstClr val="black">
                    <a:lumMod val="50000"/>
                    <a:lumOff val="50000"/>
                  </a:prstClr>
                </a:solidFill>
                <a:effectLst/>
                <a:uLnTx/>
                <a:uFillTx/>
                <a:latin typeface="+mn-ea"/>
                <a:ea typeface="+mn-ea"/>
                <a:cs typeface="+mn-cs"/>
              </a:rPr>
              <a:t>这里可以输入一段简短文字进行描述</a:t>
            </a:r>
          </a:p>
        </p:txBody>
      </p:sp>
    </p:spTree>
    <p:extLst>
      <p:ext uri="{BB962C8B-B14F-4D97-AF65-F5344CB8AC3E}">
        <p14:creationId xmlns:p14="http://schemas.microsoft.com/office/powerpoint/2010/main" val="2039320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1267421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
        <p:nvSpPr>
          <p:cNvPr id="3" name="图片占位符 2">
            <a:extLst>
              <a:ext uri="{FF2B5EF4-FFF2-40B4-BE49-F238E27FC236}">
                <a16:creationId xmlns:a16="http://schemas.microsoft.com/office/drawing/2014/main" id="{392CC0DA-813F-4CAE-AA35-E0EDD9149BCC}"/>
              </a:ext>
            </a:extLst>
          </p:cNvPr>
          <p:cNvSpPr>
            <a:spLocks noGrp="1"/>
          </p:cNvSpPr>
          <p:nvPr>
            <p:ph type="pic" sz="quarter" idx="11" hasCustomPrompt="1"/>
          </p:nvPr>
        </p:nvSpPr>
        <p:spPr>
          <a:xfrm>
            <a:off x="0" y="1397000"/>
            <a:ext cx="12192000" cy="2500313"/>
          </a:xfrm>
          <a:prstGeom prst="rect">
            <a:avLst/>
          </a:prstGeom>
          <a:ln w="50800">
            <a:solidFill>
              <a:schemeClr val="accent2"/>
            </a:solidFill>
          </a:ln>
        </p:spPr>
        <p:txBody>
          <a:bodyPr/>
          <a:lstStyle>
            <a:lvl1pPr marL="0" indent="0" algn="ctr">
              <a:buNone/>
              <a:defRPr b="0" strike="noStrike">
                <a:solidFill>
                  <a:schemeClr val="tx1">
                    <a:lumMod val="65000"/>
                    <a:lumOff val="35000"/>
                  </a:schemeClr>
                </a:solidFill>
                <a:latin typeface="+mn-ea"/>
                <a:ea typeface="+mn-ea"/>
              </a:defRPr>
            </a:lvl1pPr>
          </a:lstStyle>
          <a:p>
            <a:r>
              <a:rPr lang="zh-CN" altLang="en-US" dirty="0"/>
              <a:t>点击图标，添加图片</a:t>
            </a:r>
          </a:p>
        </p:txBody>
      </p:sp>
    </p:spTree>
    <p:extLst>
      <p:ext uri="{BB962C8B-B14F-4D97-AF65-F5344CB8AC3E}">
        <p14:creationId xmlns:p14="http://schemas.microsoft.com/office/powerpoint/2010/main" val="2405715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EC01B90F-435C-47D3-B83F-E56EFCD2A691}"/>
              </a:ext>
            </a:extLst>
          </p:cNvPr>
          <p:cNvSpPr>
            <a:spLocks noGrp="1"/>
          </p:cNvSpPr>
          <p:nvPr>
            <p:ph type="pic" sz="quarter" idx="11" hasCustomPrompt="1"/>
          </p:nvPr>
        </p:nvSpPr>
        <p:spPr>
          <a:xfrm>
            <a:off x="1068388" y="1414463"/>
            <a:ext cx="5316537" cy="4029075"/>
          </a:xfrm>
          <a:prstGeom prst="rect">
            <a:avLst/>
          </a:prstGeom>
        </p:spPr>
        <p:txBody>
          <a:bodyPr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800" b="0" strike="noStrike" kern="1200" dirty="0" smtClean="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2221898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6" name="图片占位符 5">
            <a:extLst>
              <a:ext uri="{FF2B5EF4-FFF2-40B4-BE49-F238E27FC236}">
                <a16:creationId xmlns:a16="http://schemas.microsoft.com/office/drawing/2014/main" id="{EE1E19AD-D9F1-4953-A946-4B34A5FB9D64}"/>
              </a:ext>
            </a:extLst>
          </p:cNvPr>
          <p:cNvSpPr>
            <a:spLocks noGrp="1"/>
          </p:cNvSpPr>
          <p:nvPr>
            <p:ph type="pic" sz="quarter" idx="13" hasCustomPrompt="1"/>
          </p:nvPr>
        </p:nvSpPr>
        <p:spPr>
          <a:xfrm>
            <a:off x="939800" y="3784600"/>
            <a:ext cx="3113088" cy="20383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3" name="图片占位符 2">
            <a:extLst>
              <a:ext uri="{FF2B5EF4-FFF2-40B4-BE49-F238E27FC236}">
                <a16:creationId xmlns:a16="http://schemas.microsoft.com/office/drawing/2014/main" id="{8C1AC81B-8AA2-4909-BB63-7505A4D5013A}"/>
              </a:ext>
            </a:extLst>
          </p:cNvPr>
          <p:cNvSpPr>
            <a:spLocks noGrp="1"/>
          </p:cNvSpPr>
          <p:nvPr>
            <p:ph type="pic" sz="quarter" idx="11" hasCustomPrompt="1"/>
          </p:nvPr>
        </p:nvSpPr>
        <p:spPr>
          <a:xfrm>
            <a:off x="939800" y="1268413"/>
            <a:ext cx="3113088" cy="20383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551836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7E34D624-C79E-4CE4-AC85-B853326EBB9F}"/>
              </a:ext>
            </a:extLst>
          </p:cNvPr>
          <p:cNvSpPr>
            <a:spLocks noGrp="1"/>
          </p:cNvSpPr>
          <p:nvPr>
            <p:ph type="pic" sz="quarter" idx="11" hasCustomPrompt="1"/>
          </p:nvPr>
        </p:nvSpPr>
        <p:spPr>
          <a:xfrm>
            <a:off x="963613" y="1296988"/>
            <a:ext cx="4389437" cy="2468562"/>
          </a:xfrm>
          <a:prstGeom prst="rect">
            <a:avLst/>
          </a:prstGeom>
        </p:spPr>
        <p:txBody>
          <a:bodyPr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8" name="图片占位符 7">
            <a:extLst>
              <a:ext uri="{FF2B5EF4-FFF2-40B4-BE49-F238E27FC236}">
                <a16:creationId xmlns:a16="http://schemas.microsoft.com/office/drawing/2014/main" id="{F34025B3-E699-48E4-B5BD-A48465139B3E}"/>
              </a:ext>
            </a:extLst>
          </p:cNvPr>
          <p:cNvSpPr>
            <a:spLocks noGrp="1"/>
          </p:cNvSpPr>
          <p:nvPr>
            <p:ph type="pic" sz="quarter" idx="12" hasCustomPrompt="1"/>
          </p:nvPr>
        </p:nvSpPr>
        <p:spPr>
          <a:xfrm>
            <a:off x="6838950" y="3122613"/>
            <a:ext cx="4389438" cy="2468562"/>
          </a:xfrm>
          <a:prstGeom prst="rect">
            <a:avLst/>
          </a:prstGeom>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167521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3E9C8CF4-C8D5-4611-A1CD-8C183C1EE5CA}"/>
              </a:ext>
            </a:extLst>
          </p:cNvPr>
          <p:cNvSpPr>
            <a:spLocks noGrp="1"/>
          </p:cNvSpPr>
          <p:nvPr>
            <p:ph type="pic" sz="quarter" idx="11" hasCustomPrompt="1"/>
          </p:nvPr>
        </p:nvSpPr>
        <p:spPr>
          <a:xfrm>
            <a:off x="1543041" y="1859764"/>
            <a:ext cx="1789200" cy="1789200"/>
          </a:xfrm>
          <a:prstGeom prst="ellipse">
            <a:avLst/>
          </a:prstGeom>
          <a:ln w="28575">
            <a:solidFill>
              <a:schemeClr val="bg1">
                <a:lumMod val="95000"/>
              </a:schemeClr>
            </a:solidFill>
          </a:ln>
          <a:effectLst>
            <a:outerShdw blurRad="114300" dist="38100" dir="2700000" sx="101000" sy="101000" algn="tl" rotWithShape="0">
              <a:prstClr val="black">
                <a:alpha val="11000"/>
              </a:prstClr>
            </a:outerShdw>
          </a:effectLst>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9" name="图片占位符 8">
            <a:extLst>
              <a:ext uri="{FF2B5EF4-FFF2-40B4-BE49-F238E27FC236}">
                <a16:creationId xmlns:a16="http://schemas.microsoft.com/office/drawing/2014/main" id="{D1E91CB7-EB3F-4DC4-9B1D-480721DF8D67}"/>
              </a:ext>
            </a:extLst>
          </p:cNvPr>
          <p:cNvSpPr>
            <a:spLocks noGrp="1"/>
          </p:cNvSpPr>
          <p:nvPr>
            <p:ph type="pic" sz="quarter" idx="12" hasCustomPrompt="1"/>
          </p:nvPr>
        </p:nvSpPr>
        <p:spPr>
          <a:xfrm>
            <a:off x="5200244" y="1859764"/>
            <a:ext cx="1789200" cy="1789200"/>
          </a:xfrm>
          <a:prstGeom prst="ellipse">
            <a:avLst/>
          </a:prstGeom>
          <a:ln w="28575">
            <a:solidFill>
              <a:schemeClr val="bg1">
                <a:lumMod val="95000"/>
              </a:schemeClr>
            </a:solidFill>
          </a:ln>
          <a:effectLst>
            <a:outerShdw blurRad="114300" dist="38100" dir="2700000" sx="101000" sy="101000" algn="tl" rotWithShape="0">
              <a:prstClr val="black">
                <a:alpha val="11000"/>
              </a:prstClr>
            </a:outerShdw>
          </a:effectLst>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0" name="图片占位符 9">
            <a:extLst>
              <a:ext uri="{FF2B5EF4-FFF2-40B4-BE49-F238E27FC236}">
                <a16:creationId xmlns:a16="http://schemas.microsoft.com/office/drawing/2014/main" id="{41D24BB4-CE1B-477A-BDF8-BC6AB481B9E7}"/>
              </a:ext>
            </a:extLst>
          </p:cNvPr>
          <p:cNvSpPr>
            <a:spLocks noGrp="1"/>
          </p:cNvSpPr>
          <p:nvPr>
            <p:ph type="pic" sz="quarter" idx="13" hasCustomPrompt="1"/>
          </p:nvPr>
        </p:nvSpPr>
        <p:spPr>
          <a:xfrm>
            <a:off x="8856239" y="1859764"/>
            <a:ext cx="1789200" cy="1789200"/>
          </a:xfrm>
          <a:prstGeom prst="ellipse">
            <a:avLst/>
          </a:prstGeom>
          <a:ln w="28575">
            <a:solidFill>
              <a:schemeClr val="bg1">
                <a:lumMod val="95000"/>
              </a:schemeClr>
            </a:solidFill>
          </a:ln>
          <a:effectLst>
            <a:outerShdw blurRad="114300" dist="38100" dir="2700000" sx="101000" sy="101000" algn="tl" rotWithShape="0">
              <a:prstClr val="black">
                <a:alpha val="11000"/>
              </a:prstClr>
            </a:outerShdw>
          </a:effectLst>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3521933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BCD8340F-245F-445C-A9A1-7CC63F6E6507}"/>
              </a:ext>
            </a:extLst>
          </p:cNvPr>
          <p:cNvSpPr>
            <a:spLocks noGrp="1"/>
          </p:cNvSpPr>
          <p:nvPr>
            <p:ph type="pic" sz="quarter" idx="11" hasCustomPrompt="1"/>
          </p:nvPr>
        </p:nvSpPr>
        <p:spPr>
          <a:xfrm>
            <a:off x="1136988" y="1831453"/>
            <a:ext cx="1701800" cy="1701800"/>
          </a:xfrm>
          <a:prstGeom prst="roundRect">
            <a:avLst>
              <a:gd name="adj" fmla="val 1975"/>
            </a:avLst>
          </a:prstGeom>
          <a:ln w="12700">
            <a:solidFill>
              <a:schemeClr val="bg1">
                <a:lumMod val="95000"/>
              </a:schemeClr>
            </a:solidFill>
          </a:ln>
          <a:effectLst>
            <a:outerShdw blurRad="76200" dist="38100" dir="2700000" sx="101000" sy="101000" algn="tl" rotWithShape="0">
              <a:prstClr val="black">
                <a:alpha val="14000"/>
              </a:prstClr>
            </a:outerShdw>
          </a:effectLst>
        </p:spPr>
        <p:txBody>
          <a:bodyPr anchor="t" anchorCtr="1"/>
          <a:lstStyle>
            <a:lvl1pPr>
              <a:lnSpc>
                <a:spcPct val="100000"/>
              </a:lnSpc>
              <a:defRPr lang="zh-CN" altLang="en-US" sz="1400" dirty="0" smtClean="0">
                <a:solidFill>
                  <a:schemeClr val="tx1">
                    <a:lumMod val="65000"/>
                    <a:lumOff val="35000"/>
                  </a:schemeClr>
                </a:solidFill>
                <a:latin typeface="+mn-ea"/>
                <a:ea typeface="+mn-ea"/>
              </a:defRPr>
            </a:lvl1pPr>
          </a:lstStyle>
          <a:p>
            <a:pPr marL="0" marR="0" lvl="0" indent="0" fontAlgn="auto">
              <a:spcAft>
                <a:spcPts val="0"/>
              </a:spcAft>
              <a:buClrTx/>
              <a:buSzTx/>
              <a:buNone/>
              <a:tabLst/>
            </a:pPr>
            <a:r>
              <a:rPr lang="zh-CN" altLang="en-US" dirty="0"/>
              <a:t>点击图标</a:t>
            </a:r>
            <a:endParaRPr lang="en-US" altLang="zh-CN" dirty="0"/>
          </a:p>
          <a:p>
            <a:pPr marL="0" marR="0" lvl="0" indent="0" fontAlgn="auto">
              <a:spcAft>
                <a:spcPts val="0"/>
              </a:spcAft>
              <a:buClrTx/>
              <a:buSzTx/>
              <a:buNone/>
              <a:tabLst/>
            </a:pPr>
            <a:r>
              <a:rPr lang="zh-CN" altLang="en-US" dirty="0"/>
              <a:t>添加图片</a:t>
            </a:r>
          </a:p>
        </p:txBody>
      </p:sp>
      <p:sp>
        <p:nvSpPr>
          <p:cNvPr id="10" name="图片占位符 9">
            <a:extLst>
              <a:ext uri="{FF2B5EF4-FFF2-40B4-BE49-F238E27FC236}">
                <a16:creationId xmlns:a16="http://schemas.microsoft.com/office/drawing/2014/main" id="{7C938AAB-29CC-4D1B-8FFD-9F55185EA5B4}"/>
              </a:ext>
            </a:extLst>
          </p:cNvPr>
          <p:cNvSpPr>
            <a:spLocks noGrp="1"/>
          </p:cNvSpPr>
          <p:nvPr>
            <p:ph type="pic" sz="quarter" idx="12" hasCustomPrompt="1"/>
          </p:nvPr>
        </p:nvSpPr>
        <p:spPr>
          <a:xfrm>
            <a:off x="3875493" y="1831453"/>
            <a:ext cx="1701800" cy="1701800"/>
          </a:xfrm>
          <a:prstGeom prst="roundRect">
            <a:avLst>
              <a:gd name="adj" fmla="val 1975"/>
            </a:avLst>
          </a:prstGeom>
          <a:ln w="12700">
            <a:solidFill>
              <a:schemeClr val="bg1">
                <a:lumMod val="95000"/>
              </a:schemeClr>
            </a:solidFill>
          </a:ln>
          <a:effectLst>
            <a:outerShdw blurRad="76200" dist="38100" dir="2700000" sx="101000" sy="101000" algn="tl" rotWithShape="0">
              <a:prstClr val="black">
                <a:alpha val="14000"/>
              </a:prstClr>
            </a:outerShdw>
          </a:effectLst>
        </p:spPr>
        <p:txBody>
          <a:bodyPr anchor="t" anchorCtr="1"/>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添加图片</a:t>
            </a:r>
          </a:p>
        </p:txBody>
      </p:sp>
      <p:sp>
        <p:nvSpPr>
          <p:cNvPr id="11" name="图片占位符 10">
            <a:extLst>
              <a:ext uri="{FF2B5EF4-FFF2-40B4-BE49-F238E27FC236}">
                <a16:creationId xmlns:a16="http://schemas.microsoft.com/office/drawing/2014/main" id="{E10B7149-76AA-496F-B676-9401F44453C3}"/>
              </a:ext>
            </a:extLst>
          </p:cNvPr>
          <p:cNvSpPr>
            <a:spLocks noGrp="1"/>
          </p:cNvSpPr>
          <p:nvPr>
            <p:ph type="pic" sz="quarter" idx="13" hasCustomPrompt="1"/>
          </p:nvPr>
        </p:nvSpPr>
        <p:spPr>
          <a:xfrm>
            <a:off x="6613998" y="1831453"/>
            <a:ext cx="1701800" cy="1701800"/>
          </a:xfrm>
          <a:prstGeom prst="roundRect">
            <a:avLst>
              <a:gd name="adj" fmla="val 1975"/>
            </a:avLst>
          </a:prstGeom>
          <a:ln w="12700">
            <a:solidFill>
              <a:schemeClr val="bg1">
                <a:lumMod val="95000"/>
              </a:schemeClr>
            </a:solidFill>
          </a:ln>
          <a:effectLst>
            <a:outerShdw blurRad="76200" dist="38100" dir="2700000" sx="101000" sy="101000" algn="tl" rotWithShape="0">
              <a:prstClr val="black">
                <a:alpha val="14000"/>
              </a:prstClr>
            </a:outerShdw>
          </a:effectLst>
        </p:spPr>
        <p:txBody>
          <a:bodyPr anchor="t" anchorCtr="1"/>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添加图片</a:t>
            </a:r>
          </a:p>
        </p:txBody>
      </p:sp>
      <p:sp>
        <p:nvSpPr>
          <p:cNvPr id="12" name="图片占位符 11">
            <a:extLst>
              <a:ext uri="{FF2B5EF4-FFF2-40B4-BE49-F238E27FC236}">
                <a16:creationId xmlns:a16="http://schemas.microsoft.com/office/drawing/2014/main" id="{CC14AD34-9F85-4B6A-A891-30E2E200F745}"/>
              </a:ext>
            </a:extLst>
          </p:cNvPr>
          <p:cNvSpPr>
            <a:spLocks noGrp="1"/>
          </p:cNvSpPr>
          <p:nvPr>
            <p:ph type="pic" sz="quarter" idx="14" hasCustomPrompt="1"/>
          </p:nvPr>
        </p:nvSpPr>
        <p:spPr>
          <a:xfrm>
            <a:off x="9352502" y="1831453"/>
            <a:ext cx="1701800" cy="1701800"/>
          </a:xfrm>
          <a:prstGeom prst="roundRect">
            <a:avLst>
              <a:gd name="adj" fmla="val 1975"/>
            </a:avLst>
          </a:prstGeom>
          <a:ln w="12700">
            <a:solidFill>
              <a:schemeClr val="bg1">
                <a:lumMod val="95000"/>
              </a:schemeClr>
            </a:solidFill>
          </a:ln>
          <a:effectLst>
            <a:outerShdw blurRad="76200" dist="38100" dir="2700000" sx="101000" sy="101000" algn="tl" rotWithShape="0">
              <a:prstClr val="black">
                <a:alpha val="14000"/>
              </a:prstClr>
            </a:outerShdw>
          </a:effectLst>
        </p:spPr>
        <p:txBody>
          <a:bodyPr lIns="90000" tIns="46800" rIns="90000" bIns="46800" anchor="t" anchorCtr="1"/>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847843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pic>
        <p:nvPicPr>
          <p:cNvPr id="8" name="图片 7" descr="图片包含 监视器, 计算机, 屏幕截图, 笔记本电脑&#10;&#10;描述已自动生成">
            <a:extLst>
              <a:ext uri="{FF2B5EF4-FFF2-40B4-BE49-F238E27FC236}">
                <a16:creationId xmlns:a16="http://schemas.microsoft.com/office/drawing/2014/main" id="{7D35761E-B0DB-4F2B-90A6-E8050A68C4B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681776"/>
            <a:ext cx="4929188" cy="4049612"/>
          </a:xfrm>
          <a:prstGeom prst="rect">
            <a:avLst/>
          </a:prstGeom>
        </p:spPr>
      </p:pic>
      <p:sp>
        <p:nvSpPr>
          <p:cNvPr id="5" name="图片占位符 4">
            <a:extLst>
              <a:ext uri="{FF2B5EF4-FFF2-40B4-BE49-F238E27FC236}">
                <a16:creationId xmlns:a16="http://schemas.microsoft.com/office/drawing/2014/main" id="{72B4904A-DE7F-4FB6-BDB4-382E626E9E19}"/>
              </a:ext>
            </a:extLst>
          </p:cNvPr>
          <p:cNvSpPr>
            <a:spLocks noGrp="1"/>
          </p:cNvSpPr>
          <p:nvPr>
            <p:ph type="pic" sz="quarter" idx="11" hasCustomPrompt="1"/>
          </p:nvPr>
        </p:nvSpPr>
        <p:spPr>
          <a:xfrm>
            <a:off x="0" y="1939925"/>
            <a:ext cx="4105275" cy="3260725"/>
          </a:xfrm>
          <a:prstGeom prst="rect">
            <a:avLst/>
          </a:prstGeom>
          <a:ln w="12700">
            <a:solidFill>
              <a:schemeClr val="tx1">
                <a:lumMod val="65000"/>
                <a:lumOff val="35000"/>
              </a:schemeClr>
            </a:solidFill>
          </a:ln>
        </p:spPr>
        <p:txBody>
          <a:bodyPr/>
          <a:lstStyle>
            <a:lvl1pPr marL="0" indent="0" algn="ctr">
              <a:buNone/>
              <a:defRPr>
                <a:solidFill>
                  <a:schemeClr val="tx1">
                    <a:lumMod val="65000"/>
                    <a:lumOff val="35000"/>
                  </a:schemeClr>
                </a:solidFill>
                <a:latin typeface="+mn-ea"/>
                <a:ea typeface="+mn-ea"/>
              </a:defRPr>
            </a:lvl1pPr>
          </a:lstStyle>
          <a:p>
            <a:r>
              <a:rPr lang="zh-CN" altLang="en-US" dirty="0"/>
              <a:t>点击图标，添加图片</a:t>
            </a:r>
          </a:p>
        </p:txBody>
      </p:sp>
    </p:spTree>
    <p:extLst>
      <p:ext uri="{BB962C8B-B14F-4D97-AF65-F5344CB8AC3E}">
        <p14:creationId xmlns:p14="http://schemas.microsoft.com/office/powerpoint/2010/main" val="2195764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461E123C-45D9-418C-8EEC-3CB2141F0351}"/>
              </a:ext>
            </a:extLst>
          </p:cNvPr>
          <p:cNvSpPr>
            <a:spLocks noGrp="1"/>
          </p:cNvSpPr>
          <p:nvPr>
            <p:ph type="pic" sz="quarter" idx="11" hasCustomPrompt="1"/>
          </p:nvPr>
        </p:nvSpPr>
        <p:spPr>
          <a:xfrm>
            <a:off x="1024223" y="1655638"/>
            <a:ext cx="3275013" cy="3275013"/>
          </a:xfrm>
          <a:prstGeom prst="ellipse">
            <a:avLst/>
          </a:prstGeom>
          <a:ln w="889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0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42819296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AA1E90C9-1047-47F7-BC2A-F601EE24ADCD}"/>
              </a:ext>
            </a:extLst>
          </p:cNvPr>
          <p:cNvSpPr>
            <a:spLocks noGrp="1"/>
          </p:cNvSpPr>
          <p:nvPr>
            <p:ph type="pic" sz="quarter" idx="11" hasCustomPrompt="1"/>
          </p:nvPr>
        </p:nvSpPr>
        <p:spPr>
          <a:xfrm>
            <a:off x="1180881" y="1418611"/>
            <a:ext cx="2851150" cy="3608388"/>
          </a:xfrm>
          <a:prstGeom prst="roundRect">
            <a:avLst>
              <a:gd name="adj" fmla="val 4139"/>
            </a:avLst>
          </a:prstGeom>
        </p:spPr>
        <p:txBody>
          <a:bodyPr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3456817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8" name="图片占位符 7">
            <a:extLst>
              <a:ext uri="{FF2B5EF4-FFF2-40B4-BE49-F238E27FC236}">
                <a16:creationId xmlns:a16="http://schemas.microsoft.com/office/drawing/2014/main" id="{8FE8A6A9-F37A-45B3-86DB-613DE9013D02}"/>
              </a:ext>
            </a:extLst>
          </p:cNvPr>
          <p:cNvSpPr>
            <a:spLocks noGrp="1"/>
          </p:cNvSpPr>
          <p:nvPr>
            <p:ph type="pic" sz="quarter" idx="11" hasCustomPrompt="1"/>
          </p:nvPr>
        </p:nvSpPr>
        <p:spPr>
          <a:xfrm>
            <a:off x="934426" y="1134361"/>
            <a:ext cx="1268412" cy="1268413"/>
          </a:xfrm>
          <a:prstGeom prst="ellipse">
            <a:avLst/>
          </a:prstGeom>
          <a:ln w="31750">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0" name="图片占位符 9">
            <a:extLst>
              <a:ext uri="{FF2B5EF4-FFF2-40B4-BE49-F238E27FC236}">
                <a16:creationId xmlns:a16="http://schemas.microsoft.com/office/drawing/2014/main" id="{854FCCAC-F6D5-461C-8A1F-A31035A00BF5}"/>
              </a:ext>
            </a:extLst>
          </p:cNvPr>
          <p:cNvSpPr>
            <a:spLocks noGrp="1"/>
          </p:cNvSpPr>
          <p:nvPr>
            <p:ph type="pic" sz="quarter" idx="12" hasCustomPrompt="1"/>
          </p:nvPr>
        </p:nvSpPr>
        <p:spPr>
          <a:xfrm>
            <a:off x="10032720" y="3462234"/>
            <a:ext cx="1268412" cy="1268413"/>
          </a:xfrm>
          <a:prstGeom prst="ellipse">
            <a:avLst/>
          </a:prstGeom>
          <a:ln w="31750">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2384567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A1E1C520-6D48-4032-B6F1-AB62CB5A89AA}"/>
              </a:ext>
            </a:extLst>
          </p:cNvPr>
          <p:cNvSpPr>
            <a:spLocks noGrp="1"/>
          </p:cNvSpPr>
          <p:nvPr>
            <p:ph type="pic" sz="quarter" idx="11" hasCustomPrompt="1"/>
          </p:nvPr>
        </p:nvSpPr>
        <p:spPr>
          <a:xfrm>
            <a:off x="8924071" y="1389148"/>
            <a:ext cx="1425575" cy="1425575"/>
          </a:xfrm>
          <a:prstGeom prst="ellipse">
            <a:avLst/>
          </a:prstGeom>
          <a:ln w="381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9" name="图片占位符 8">
            <a:extLst>
              <a:ext uri="{FF2B5EF4-FFF2-40B4-BE49-F238E27FC236}">
                <a16:creationId xmlns:a16="http://schemas.microsoft.com/office/drawing/2014/main" id="{4FA7CFD8-7831-49DE-90B4-35B042BA06EE}"/>
              </a:ext>
            </a:extLst>
          </p:cNvPr>
          <p:cNvSpPr>
            <a:spLocks noGrp="1"/>
          </p:cNvSpPr>
          <p:nvPr>
            <p:ph type="pic" sz="quarter" idx="12" hasCustomPrompt="1"/>
          </p:nvPr>
        </p:nvSpPr>
        <p:spPr>
          <a:xfrm>
            <a:off x="1842354" y="1388854"/>
            <a:ext cx="1425575" cy="1425575"/>
          </a:xfrm>
          <a:prstGeom prst="ellipse">
            <a:avLst/>
          </a:prstGeom>
          <a:ln w="381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0" name="图片占位符 9">
            <a:extLst>
              <a:ext uri="{FF2B5EF4-FFF2-40B4-BE49-F238E27FC236}">
                <a16:creationId xmlns:a16="http://schemas.microsoft.com/office/drawing/2014/main" id="{C33243C6-3028-4E35-BE59-E8A126472699}"/>
              </a:ext>
            </a:extLst>
          </p:cNvPr>
          <p:cNvSpPr>
            <a:spLocks noGrp="1"/>
          </p:cNvSpPr>
          <p:nvPr>
            <p:ph type="pic" sz="quarter" idx="13" hasCustomPrompt="1"/>
          </p:nvPr>
        </p:nvSpPr>
        <p:spPr>
          <a:xfrm>
            <a:off x="5383521" y="1392625"/>
            <a:ext cx="1425575" cy="1425575"/>
          </a:xfrm>
          <a:prstGeom prst="ellipse">
            <a:avLst/>
          </a:prstGeom>
          <a:ln w="38100">
            <a:solidFill>
              <a:schemeClr val="accent1">
                <a:lumMod val="50000"/>
              </a:schemeClr>
            </a:solidFill>
          </a:ln>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132695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12" name="图片占位符 11">
            <a:extLst>
              <a:ext uri="{FF2B5EF4-FFF2-40B4-BE49-F238E27FC236}">
                <a16:creationId xmlns:a16="http://schemas.microsoft.com/office/drawing/2014/main" id="{AF80A6CE-2B8F-4F9C-A23C-0B2898A15DC6}"/>
              </a:ext>
            </a:extLst>
          </p:cNvPr>
          <p:cNvSpPr>
            <a:spLocks noGrp="1"/>
          </p:cNvSpPr>
          <p:nvPr>
            <p:ph type="pic" sz="quarter" idx="11" hasCustomPrompt="1"/>
          </p:nvPr>
        </p:nvSpPr>
        <p:spPr>
          <a:xfrm>
            <a:off x="1261608" y="1538338"/>
            <a:ext cx="1497013" cy="1497012"/>
          </a:xfrm>
          <a:prstGeom prst="roundRect">
            <a:avLst>
              <a:gd name="adj" fmla="val 5532"/>
            </a:avLst>
          </a:prstGeom>
          <a:ln w="38100">
            <a:solidFill>
              <a:schemeClr val="accent1">
                <a:lumMod val="50000"/>
              </a:schemeClr>
            </a:solidFill>
          </a:ln>
        </p:spPr>
        <p:txBody>
          <a:bodyPr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0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4" name="图片占位符 13">
            <a:extLst>
              <a:ext uri="{FF2B5EF4-FFF2-40B4-BE49-F238E27FC236}">
                <a16:creationId xmlns:a16="http://schemas.microsoft.com/office/drawing/2014/main" id="{1E4BA79C-9F42-4347-B8A2-06DDF81F2B3F}"/>
              </a:ext>
            </a:extLst>
          </p:cNvPr>
          <p:cNvSpPr>
            <a:spLocks noGrp="1"/>
          </p:cNvSpPr>
          <p:nvPr>
            <p:ph type="pic" sz="quarter" idx="12" hasCustomPrompt="1"/>
          </p:nvPr>
        </p:nvSpPr>
        <p:spPr>
          <a:xfrm>
            <a:off x="6668847" y="1538338"/>
            <a:ext cx="1497013" cy="1497012"/>
          </a:xfrm>
          <a:prstGeom prst="roundRect">
            <a:avLst>
              <a:gd name="adj" fmla="val 5532"/>
            </a:avLst>
          </a:prstGeom>
          <a:ln w="381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0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6" name="图片占位符 15">
            <a:extLst>
              <a:ext uri="{FF2B5EF4-FFF2-40B4-BE49-F238E27FC236}">
                <a16:creationId xmlns:a16="http://schemas.microsoft.com/office/drawing/2014/main" id="{F9353FAA-259C-4E80-8D9D-A13ACE712647}"/>
              </a:ext>
            </a:extLst>
          </p:cNvPr>
          <p:cNvSpPr>
            <a:spLocks noGrp="1"/>
          </p:cNvSpPr>
          <p:nvPr>
            <p:ph type="pic" sz="quarter" idx="13" hasCustomPrompt="1"/>
          </p:nvPr>
        </p:nvSpPr>
        <p:spPr>
          <a:xfrm>
            <a:off x="6668847" y="3940639"/>
            <a:ext cx="1497013" cy="1497012"/>
          </a:xfrm>
          <a:prstGeom prst="roundRect">
            <a:avLst>
              <a:gd name="adj" fmla="val 5532"/>
            </a:avLst>
          </a:prstGeom>
          <a:ln w="381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0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9" name="图片占位符 18">
            <a:extLst>
              <a:ext uri="{FF2B5EF4-FFF2-40B4-BE49-F238E27FC236}">
                <a16:creationId xmlns:a16="http://schemas.microsoft.com/office/drawing/2014/main" id="{BC58B913-2E5F-41D7-84A4-A0401563E6DB}"/>
              </a:ext>
            </a:extLst>
          </p:cNvPr>
          <p:cNvSpPr>
            <a:spLocks noGrp="1"/>
          </p:cNvSpPr>
          <p:nvPr>
            <p:ph type="pic" sz="quarter" idx="14" hasCustomPrompt="1"/>
          </p:nvPr>
        </p:nvSpPr>
        <p:spPr>
          <a:xfrm>
            <a:off x="1261611" y="3940639"/>
            <a:ext cx="1497013" cy="1497012"/>
          </a:xfrm>
          <a:prstGeom prst="roundRect">
            <a:avLst>
              <a:gd name="adj" fmla="val 5532"/>
            </a:avLst>
          </a:prstGeom>
          <a:ln w="38100">
            <a:solidFill>
              <a:schemeClr val="accent1">
                <a:lumMod val="50000"/>
              </a:schemeClr>
            </a:solidFill>
          </a:ln>
        </p:spPr>
        <p:txBody>
          <a:bodyPr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20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9196007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_节标题">
    <p:spTree>
      <p:nvGrpSpPr>
        <p:cNvPr id="1" name=""/>
        <p:cNvGrpSpPr/>
        <p:nvPr/>
      </p:nvGrpSpPr>
      <p:grpSpPr>
        <a:xfrm>
          <a:off x="0" y="0"/>
          <a:ext cx="0" cy="0"/>
          <a:chOff x="0" y="0"/>
          <a:chExt cx="0" cy="0"/>
        </a:xfrm>
      </p:grpSpPr>
      <p:sp>
        <p:nvSpPr>
          <p:cNvPr id="3" name="图片占位符 2">
            <a:extLst>
              <a:ext uri="{FF2B5EF4-FFF2-40B4-BE49-F238E27FC236}">
                <a16:creationId xmlns:a16="http://schemas.microsoft.com/office/drawing/2014/main" id="{981D8F79-0448-4F17-BF2D-F9EA6BB19228}"/>
              </a:ext>
            </a:extLst>
          </p:cNvPr>
          <p:cNvSpPr>
            <a:spLocks noGrp="1"/>
          </p:cNvSpPr>
          <p:nvPr>
            <p:ph type="pic" sz="quarter" idx="11" hasCustomPrompt="1"/>
          </p:nvPr>
        </p:nvSpPr>
        <p:spPr>
          <a:xfrm>
            <a:off x="891421" y="1583119"/>
            <a:ext cx="979488" cy="979487"/>
          </a:xfrm>
          <a:prstGeom prst="roundRect">
            <a:avLst>
              <a:gd name="adj" fmla="val 4998"/>
            </a:avLst>
          </a:prstGeom>
          <a:ln w="28575">
            <a:solidFill>
              <a:schemeClr val="accent1">
                <a:lumMod val="50000"/>
              </a:schemeClr>
            </a:solidFill>
          </a:ln>
        </p:spPr>
        <p:txBody>
          <a:bodyPr vert="horz" lIns="0" tIns="0" rIns="0" bIns="0"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lumMod val="65000"/>
                    <a:lumOff val="35000"/>
                  </a:schemeClr>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2" name="图片占位符 11">
            <a:extLst>
              <a:ext uri="{FF2B5EF4-FFF2-40B4-BE49-F238E27FC236}">
                <a16:creationId xmlns:a16="http://schemas.microsoft.com/office/drawing/2014/main" id="{458F9229-2C54-4763-998C-AEE7AB916993}"/>
              </a:ext>
            </a:extLst>
          </p:cNvPr>
          <p:cNvSpPr>
            <a:spLocks noGrp="1"/>
          </p:cNvSpPr>
          <p:nvPr>
            <p:ph type="pic" sz="quarter" idx="12" hasCustomPrompt="1"/>
          </p:nvPr>
        </p:nvSpPr>
        <p:spPr>
          <a:xfrm>
            <a:off x="8214900" y="1583119"/>
            <a:ext cx="979488" cy="979487"/>
          </a:xfrm>
          <a:prstGeom prst="roundRect">
            <a:avLst>
              <a:gd name="adj" fmla="val 4998"/>
            </a:avLst>
          </a:prstGeom>
          <a:ln w="28575">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3" name="图片占位符 12">
            <a:extLst>
              <a:ext uri="{FF2B5EF4-FFF2-40B4-BE49-F238E27FC236}">
                <a16:creationId xmlns:a16="http://schemas.microsoft.com/office/drawing/2014/main" id="{230F4AEC-971F-4F48-B33B-945FB95A80F9}"/>
              </a:ext>
            </a:extLst>
          </p:cNvPr>
          <p:cNvSpPr>
            <a:spLocks noGrp="1"/>
          </p:cNvSpPr>
          <p:nvPr>
            <p:ph type="pic" sz="quarter" idx="13" hasCustomPrompt="1"/>
          </p:nvPr>
        </p:nvSpPr>
        <p:spPr>
          <a:xfrm>
            <a:off x="4552934" y="1583119"/>
            <a:ext cx="979488" cy="979487"/>
          </a:xfrm>
          <a:prstGeom prst="roundRect">
            <a:avLst>
              <a:gd name="adj" fmla="val 4998"/>
            </a:avLst>
          </a:prstGeom>
          <a:ln w="28575">
            <a:solidFill>
              <a:schemeClr val="accent1">
                <a:lumMod val="50000"/>
              </a:schemeClr>
            </a:solidFill>
          </a:ln>
        </p:spPr>
        <p:txBody>
          <a:bodyPr lIns="0" tIns="0" rIns="0" bIns="0" anchor="t" anchorCtr="1"/>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4" name="图片占位符 13">
            <a:extLst>
              <a:ext uri="{FF2B5EF4-FFF2-40B4-BE49-F238E27FC236}">
                <a16:creationId xmlns:a16="http://schemas.microsoft.com/office/drawing/2014/main" id="{EEDD6128-30DB-4B54-80C5-70799DA3CDFC}"/>
              </a:ext>
            </a:extLst>
          </p:cNvPr>
          <p:cNvSpPr>
            <a:spLocks noGrp="1"/>
          </p:cNvSpPr>
          <p:nvPr>
            <p:ph type="pic" sz="quarter" idx="14" hasCustomPrompt="1"/>
          </p:nvPr>
        </p:nvSpPr>
        <p:spPr>
          <a:xfrm>
            <a:off x="8214900" y="4000030"/>
            <a:ext cx="979488" cy="979487"/>
          </a:xfrm>
          <a:prstGeom prst="roundRect">
            <a:avLst>
              <a:gd name="adj" fmla="val 4998"/>
            </a:avLst>
          </a:prstGeom>
          <a:ln w="28575">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6" name="图片占位符 15">
            <a:extLst>
              <a:ext uri="{FF2B5EF4-FFF2-40B4-BE49-F238E27FC236}">
                <a16:creationId xmlns:a16="http://schemas.microsoft.com/office/drawing/2014/main" id="{D780BE05-9E8F-42F1-BD90-C98468164C30}"/>
              </a:ext>
            </a:extLst>
          </p:cNvPr>
          <p:cNvSpPr>
            <a:spLocks noGrp="1"/>
          </p:cNvSpPr>
          <p:nvPr>
            <p:ph type="pic" sz="quarter" idx="15" hasCustomPrompt="1"/>
          </p:nvPr>
        </p:nvSpPr>
        <p:spPr>
          <a:xfrm>
            <a:off x="4553222" y="4000030"/>
            <a:ext cx="979488" cy="979487"/>
          </a:xfrm>
          <a:prstGeom prst="roundRect">
            <a:avLst>
              <a:gd name="adj" fmla="val 4998"/>
            </a:avLst>
          </a:prstGeom>
          <a:ln w="28575">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7" name="图片占位符 16">
            <a:extLst>
              <a:ext uri="{FF2B5EF4-FFF2-40B4-BE49-F238E27FC236}">
                <a16:creationId xmlns:a16="http://schemas.microsoft.com/office/drawing/2014/main" id="{373E8A55-5B88-4E39-8773-2D21A3F46FEA}"/>
              </a:ext>
            </a:extLst>
          </p:cNvPr>
          <p:cNvSpPr>
            <a:spLocks noGrp="1"/>
          </p:cNvSpPr>
          <p:nvPr>
            <p:ph type="pic" sz="quarter" idx="16" hasCustomPrompt="1"/>
          </p:nvPr>
        </p:nvSpPr>
        <p:spPr>
          <a:xfrm>
            <a:off x="891256" y="4000030"/>
            <a:ext cx="979488" cy="979487"/>
          </a:xfrm>
          <a:prstGeom prst="roundRect">
            <a:avLst>
              <a:gd name="adj" fmla="val 4998"/>
            </a:avLst>
          </a:prstGeom>
          <a:ln w="28575">
            <a:solidFill>
              <a:schemeClr val="accent1">
                <a:lumMod val="50000"/>
              </a:schemeClr>
            </a:solidFill>
          </a:ln>
        </p:spPr>
        <p:txBody>
          <a:bodyPr lIns="0" tIns="0" rIns="0" bIns="0" anchor="t" anchorCtr="1"/>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600" kern="1200" dirty="0">
                <a:solidFill>
                  <a:schemeClr val="tx1">
                    <a:lumMod val="65000"/>
                    <a:lumOff val="35000"/>
                  </a:schemeClr>
                </a:solidFill>
                <a:latin typeface="+mn-ea"/>
                <a:ea typeface="+mn-ea"/>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dirty="0"/>
              <a:t>点击图标添加图片</a:t>
            </a:r>
          </a:p>
        </p:txBody>
      </p:sp>
      <p:sp>
        <p:nvSpPr>
          <p:cNvPr id="15" name="菱形 14">
            <a:extLst>
              <a:ext uri="{FF2B5EF4-FFF2-40B4-BE49-F238E27FC236}">
                <a16:creationId xmlns:a16="http://schemas.microsoft.com/office/drawing/2014/main" id="{6C6FBA39-2802-4FB0-B287-24E69248BB6D}"/>
              </a:ext>
            </a:extLst>
          </p:cNvPr>
          <p:cNvSpPr/>
          <p:nvPr userDrawn="1"/>
        </p:nvSpPr>
        <p:spPr>
          <a:xfrm>
            <a:off x="548482" y="440761"/>
            <a:ext cx="182562" cy="18256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a:extLst>
              <a:ext uri="{FF2B5EF4-FFF2-40B4-BE49-F238E27FC236}">
                <a16:creationId xmlns:a16="http://schemas.microsoft.com/office/drawing/2014/main" id="{F6F14F9C-BBDA-47A9-A5D0-288A453781FA}"/>
              </a:ext>
            </a:extLst>
          </p:cNvPr>
          <p:cNvSpPr>
            <a:spLocks noGrp="1"/>
          </p:cNvSpPr>
          <p:nvPr>
            <p:ph type="body" sz="quarter" idx="10" hasCustomPrompt="1"/>
          </p:nvPr>
        </p:nvSpPr>
        <p:spPr>
          <a:xfrm>
            <a:off x="843917" y="371998"/>
            <a:ext cx="5252083" cy="360099"/>
          </a:xfrm>
          <a:prstGeom prst="rect">
            <a:avLst/>
          </a:prstGeom>
          <a:noFill/>
        </p:spPr>
        <p:txBody>
          <a:bodyPr wrap="square" lIns="0" tIns="0" rIns="0" bIns="0" rtlCol="0" anchor="ctr" anchorCtr="0">
            <a:spAutoFit/>
          </a:bodyPr>
          <a:lstStyle>
            <a:lvl1pPr marL="0" indent="0">
              <a:buNone/>
              <a:defRPr lang="zh-CN" altLang="en-US" sz="2600" b="1" dirty="0">
                <a:solidFill>
                  <a:schemeClr val="tx1">
                    <a:lumMod val="65000"/>
                    <a:lumOff val="35000"/>
                  </a:schemeClr>
                </a:solidFill>
                <a:latin typeface="+mj-ea"/>
                <a:ea typeface="+mj-ea"/>
              </a:defRPr>
            </a:lvl1pPr>
          </a:lstStyle>
          <a:p>
            <a:pPr marL="0" lvl="0"/>
            <a:r>
              <a:rPr lang="zh-CN" altLang="en-US" dirty="0"/>
              <a:t>单击此处编辑标题</a:t>
            </a:r>
          </a:p>
        </p:txBody>
      </p:sp>
    </p:spTree>
    <p:extLst>
      <p:ext uri="{BB962C8B-B14F-4D97-AF65-F5344CB8AC3E}">
        <p14:creationId xmlns:p14="http://schemas.microsoft.com/office/powerpoint/2010/main" val="21607209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4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6966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74849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28937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133090967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image" Target="../media/image1.png"/><Relationship Id="rId22" Type="http://schemas.microsoft.com/office/2007/relationships/hdphoto" Target="../media/hdphoto1.wdp"/><Relationship Id="rId23" Type="http://schemas.openxmlformats.org/officeDocument/2006/relationships/image" Target="../media/image2.png"/><Relationship Id="rId2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1C07964-F6DA-48CA-B6F8-F0047DB2A624}"/>
              </a:ext>
            </a:extLst>
          </p:cNvPr>
          <p:cNvPicPr>
            <a:picLocks noChangeAspect="1"/>
          </p:cNvPicPr>
          <p:nvPr userDrawn="1"/>
        </p:nvPicPr>
        <p:blipFill>
          <a:blip r:embed="rId21">
            <a:extLst>
              <a:ext uri="{BEBA8EAE-BF5A-486C-A8C5-ECC9F3942E4B}">
                <a14:imgProps xmlns:a14="http://schemas.microsoft.com/office/drawing/2010/main">
                  <a14:imgLayer r:embed="rId22">
                    <a14:imgEffect>
                      <a14:artisticBlur radius="9"/>
                    </a14:imgEffect>
                  </a14:imgLayer>
                </a14:imgProps>
              </a:ext>
              <a:ext uri="{28A0092B-C50C-407E-A947-70E740481C1C}">
                <a14:useLocalDpi xmlns:a14="http://schemas.microsoft.com/office/drawing/2010/main" val="0"/>
              </a:ext>
            </a:extLst>
          </a:blip>
          <a:stretch>
            <a:fillRect/>
          </a:stretch>
        </p:blipFill>
        <p:spPr>
          <a:xfrm>
            <a:off x="0" y="1"/>
            <a:ext cx="12192000" cy="6857999"/>
          </a:xfrm>
          <a:prstGeom prst="rect">
            <a:avLst/>
          </a:prstGeom>
        </p:spPr>
      </p:pic>
      <p:pic>
        <p:nvPicPr>
          <p:cNvPr id="17" name="图片 16">
            <a:extLst>
              <a:ext uri="{FF2B5EF4-FFF2-40B4-BE49-F238E27FC236}">
                <a16:creationId xmlns:a16="http://schemas.microsoft.com/office/drawing/2014/main" id="{A3465F46-FD23-4F2F-9ADE-B7BA5D3E833D}"/>
              </a:ext>
            </a:extLst>
          </p:cNvPr>
          <p:cNvPicPr>
            <a:picLocks noChangeAspect="1"/>
          </p:cNvPicPr>
          <p:nvPr userDrawn="1"/>
        </p:nvPicPr>
        <p:blipFill rotWithShape="1">
          <a:blip r:embed="rId23">
            <a:extLst>
              <a:ext uri="{28A0092B-C50C-407E-A947-70E740481C1C}">
                <a14:useLocalDpi xmlns:a14="http://schemas.microsoft.com/office/drawing/2010/main" val="0"/>
              </a:ext>
            </a:extLst>
          </a:blip>
          <a:srcRect/>
          <a:stretch/>
        </p:blipFill>
        <p:spPr>
          <a:xfrm>
            <a:off x="8172085" y="3314700"/>
            <a:ext cx="4019915" cy="3543300"/>
          </a:xfrm>
          <a:prstGeom prst="rect">
            <a:avLst/>
          </a:prstGeom>
        </p:spPr>
      </p:pic>
      <p:pic>
        <p:nvPicPr>
          <p:cNvPr id="18" name="图片 17">
            <a:extLst>
              <a:ext uri="{FF2B5EF4-FFF2-40B4-BE49-F238E27FC236}">
                <a16:creationId xmlns:a16="http://schemas.microsoft.com/office/drawing/2014/main" id="{9EB8F1DA-0C1D-47B2-AF82-375E01954B7D}"/>
              </a:ext>
            </a:extLst>
          </p:cNvPr>
          <p:cNvPicPr>
            <a:picLocks noChangeAspect="1"/>
          </p:cNvPicPr>
          <p:nvPr userDrawn="1"/>
        </p:nvPicPr>
        <p:blipFill rotWithShape="1">
          <a:blip r:embed="rId24">
            <a:extLst>
              <a:ext uri="{28A0092B-C50C-407E-A947-70E740481C1C}">
                <a14:useLocalDpi xmlns:a14="http://schemas.microsoft.com/office/drawing/2010/main" val="0"/>
              </a:ext>
            </a:extLst>
          </a:blip>
          <a:srcRect/>
          <a:stretch/>
        </p:blipFill>
        <p:spPr>
          <a:xfrm>
            <a:off x="0" y="146497"/>
            <a:ext cx="5695950" cy="6711503"/>
          </a:xfrm>
          <a:prstGeom prst="rect">
            <a:avLst/>
          </a:prstGeom>
        </p:spPr>
      </p:pic>
      <p:sp>
        <p:nvSpPr>
          <p:cNvPr id="11" name="椭圆 10">
            <a:extLst>
              <a:ext uri="{FF2B5EF4-FFF2-40B4-BE49-F238E27FC236}">
                <a16:creationId xmlns:a16="http://schemas.microsoft.com/office/drawing/2014/main" id="{B3D421EF-312C-4154-88B6-542E74EFFBA9}"/>
              </a:ext>
            </a:extLst>
          </p:cNvPr>
          <p:cNvSpPr/>
          <p:nvPr userDrawn="1"/>
        </p:nvSpPr>
        <p:spPr>
          <a:xfrm flipH="1">
            <a:off x="11183277" y="356251"/>
            <a:ext cx="347396" cy="347396"/>
          </a:xfrm>
          <a:prstGeom prst="ellipse">
            <a:avLst/>
          </a:prstGeom>
          <a:gradFill>
            <a:gsLst>
              <a:gs pos="0">
                <a:schemeClr val="accent1"/>
              </a:gs>
              <a:gs pos="81000">
                <a:schemeClr val="accent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12" name="直接连接符 11">
            <a:extLst>
              <a:ext uri="{FF2B5EF4-FFF2-40B4-BE49-F238E27FC236}">
                <a16:creationId xmlns:a16="http://schemas.microsoft.com/office/drawing/2014/main" id="{972E6C8D-11C0-41AB-8B7D-1BD4CB321D4C}"/>
              </a:ext>
            </a:extLst>
          </p:cNvPr>
          <p:cNvCxnSpPr>
            <a:cxnSpLocks/>
          </p:cNvCxnSpPr>
          <p:nvPr userDrawn="1"/>
        </p:nvCxnSpPr>
        <p:spPr>
          <a:xfrm>
            <a:off x="463252" y="794672"/>
            <a:ext cx="11265496" cy="0"/>
          </a:xfrm>
          <a:prstGeom prst="line">
            <a:avLst/>
          </a:prstGeom>
          <a:ln w="15875" cap="rnd">
            <a:solidFill>
              <a:schemeClr val="accent3">
                <a:alpha val="34000"/>
              </a:schemeClr>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EC42080-406B-4860-AB02-8117694D4316}"/>
              </a:ext>
            </a:extLst>
          </p:cNvPr>
          <p:cNvSpPr txBox="1"/>
          <p:nvPr userDrawn="1"/>
        </p:nvSpPr>
        <p:spPr>
          <a:xfrm>
            <a:off x="850267" y="6526837"/>
            <a:ext cx="2363565" cy="184666"/>
          </a:xfrm>
          <a:prstGeom prst="rect">
            <a:avLst/>
          </a:prstGeom>
          <a:noFill/>
        </p:spPr>
        <p:txBody>
          <a:bodyPr wrap="square" lIns="0" tIns="0" rIns="0" bIns="0" rtlCol="0">
            <a:spAutoFit/>
          </a:bodyPr>
          <a:lstStyle/>
          <a:p>
            <a:r>
              <a:rPr lang="zh-CN" altLang="en-US" sz="1200" spc="300" dirty="0">
                <a:solidFill>
                  <a:schemeClr val="bg1">
                    <a:lumMod val="65000"/>
                  </a:schemeClr>
                </a:solidFill>
                <a:latin typeface="+mj-ea"/>
              </a:rPr>
              <a:t>广东财经大学毕业答辩</a:t>
            </a:r>
          </a:p>
        </p:txBody>
      </p:sp>
      <p:cxnSp>
        <p:nvCxnSpPr>
          <p:cNvPr id="14" name="直接连接符 13">
            <a:extLst>
              <a:ext uri="{FF2B5EF4-FFF2-40B4-BE49-F238E27FC236}">
                <a16:creationId xmlns:a16="http://schemas.microsoft.com/office/drawing/2014/main" id="{DD5EA270-A90F-434B-8FD6-5E47F1FE9126}"/>
              </a:ext>
            </a:extLst>
          </p:cNvPr>
          <p:cNvCxnSpPr>
            <a:cxnSpLocks/>
          </p:cNvCxnSpPr>
          <p:nvPr userDrawn="1"/>
        </p:nvCxnSpPr>
        <p:spPr>
          <a:xfrm>
            <a:off x="463252" y="6431331"/>
            <a:ext cx="11265496" cy="0"/>
          </a:xfrm>
          <a:prstGeom prst="line">
            <a:avLst/>
          </a:prstGeom>
          <a:ln w="12700" cap="rnd">
            <a:solidFill>
              <a:schemeClr val="accent1">
                <a:alpha val="34000"/>
              </a:schemeClr>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400ED910-D393-40D6-8B1E-E1CF7694D08F}"/>
              </a:ext>
            </a:extLst>
          </p:cNvPr>
          <p:cNvSpPr txBox="1"/>
          <p:nvPr userDrawn="1"/>
        </p:nvSpPr>
        <p:spPr>
          <a:xfrm>
            <a:off x="9381969" y="479306"/>
            <a:ext cx="2009850" cy="215444"/>
          </a:xfrm>
          <a:prstGeom prst="rect">
            <a:avLst/>
          </a:prstGeom>
          <a:noFill/>
        </p:spPr>
        <p:txBody>
          <a:bodyPr wrap="square" lIns="0" tIns="0" rIns="0" bIns="0" rtlCol="0">
            <a:spAutoFit/>
          </a:bodyPr>
          <a:lstStyle/>
          <a:p>
            <a:pPr lvl="0" algn="r"/>
            <a:r>
              <a:rPr lang="zh-CN" altLang="en-US" sz="1400" spc="300" dirty="0">
                <a:solidFill>
                  <a:schemeClr val="tx1">
                    <a:lumMod val="65000"/>
                    <a:lumOff val="35000"/>
                  </a:schemeClr>
                </a:solidFill>
                <a:latin typeface="+mj-ea"/>
                <a:ea typeface="+mj-ea"/>
              </a:rPr>
              <a:t>厚德</a:t>
            </a:r>
            <a:r>
              <a:rPr lang="en-US" altLang="zh-CN" sz="1400" spc="300" dirty="0">
                <a:solidFill>
                  <a:schemeClr val="tx1">
                    <a:lumMod val="65000"/>
                    <a:lumOff val="35000"/>
                  </a:schemeClr>
                </a:solidFill>
                <a:latin typeface="+mj-ea"/>
                <a:ea typeface="+mj-ea"/>
              </a:rPr>
              <a:t>·</a:t>
            </a:r>
            <a:r>
              <a:rPr lang="zh-CN" altLang="en-US" sz="1400" spc="300" dirty="0">
                <a:solidFill>
                  <a:schemeClr val="tx1">
                    <a:lumMod val="65000"/>
                    <a:lumOff val="35000"/>
                  </a:schemeClr>
                </a:solidFill>
                <a:latin typeface="+mj-ea"/>
                <a:ea typeface="+mj-ea"/>
              </a:rPr>
              <a:t>励学</a:t>
            </a:r>
            <a:r>
              <a:rPr lang="en-US" altLang="zh-CN" sz="1400" spc="300" dirty="0">
                <a:solidFill>
                  <a:schemeClr val="tx1">
                    <a:lumMod val="65000"/>
                    <a:lumOff val="35000"/>
                  </a:schemeClr>
                </a:solidFill>
                <a:latin typeface="+mj-ea"/>
                <a:ea typeface="+mj-ea"/>
              </a:rPr>
              <a:t>·</a:t>
            </a:r>
            <a:r>
              <a:rPr lang="zh-CN" altLang="en-US" sz="1400" spc="300" dirty="0">
                <a:solidFill>
                  <a:schemeClr val="tx1">
                    <a:lumMod val="65000"/>
                    <a:lumOff val="35000"/>
                  </a:schemeClr>
                </a:solidFill>
                <a:latin typeface="+mj-ea"/>
                <a:ea typeface="+mj-ea"/>
              </a:rPr>
              <a:t>笃行</a:t>
            </a:r>
            <a:r>
              <a:rPr lang="en-US" altLang="zh-CN" sz="1400" spc="300" dirty="0">
                <a:solidFill>
                  <a:schemeClr val="tx1">
                    <a:lumMod val="65000"/>
                    <a:lumOff val="35000"/>
                  </a:schemeClr>
                </a:solidFill>
                <a:latin typeface="+mj-ea"/>
                <a:ea typeface="+mj-ea"/>
              </a:rPr>
              <a:t>·</a:t>
            </a:r>
            <a:r>
              <a:rPr lang="zh-CN" altLang="en-US" sz="1400" spc="300" dirty="0">
                <a:solidFill>
                  <a:schemeClr val="tx1">
                    <a:lumMod val="65000"/>
                    <a:lumOff val="35000"/>
                  </a:schemeClr>
                </a:solidFill>
                <a:latin typeface="+mj-ea"/>
                <a:ea typeface="+mj-ea"/>
              </a:rPr>
              <a:t>拓新</a:t>
            </a:r>
          </a:p>
        </p:txBody>
      </p:sp>
      <p:sp>
        <p:nvSpPr>
          <p:cNvPr id="16" name="文本框 15">
            <a:extLst>
              <a:ext uri="{FF2B5EF4-FFF2-40B4-BE49-F238E27FC236}">
                <a16:creationId xmlns:a16="http://schemas.microsoft.com/office/drawing/2014/main" id="{52FF11E6-FD0C-4769-B8B0-C2CB5DA37938}"/>
              </a:ext>
            </a:extLst>
          </p:cNvPr>
          <p:cNvSpPr txBox="1"/>
          <p:nvPr userDrawn="1"/>
        </p:nvSpPr>
        <p:spPr>
          <a:xfrm>
            <a:off x="7823200" y="6526837"/>
            <a:ext cx="3533775" cy="184666"/>
          </a:xfrm>
          <a:prstGeom prst="rect">
            <a:avLst/>
          </a:prstGeom>
          <a:noFill/>
        </p:spPr>
        <p:txBody>
          <a:bodyPr wrap="square" lIns="0" tIns="0" rIns="0" bIns="0" rtlCol="0">
            <a:spAutoFit/>
          </a:bodyPr>
          <a:lstStyle/>
          <a:p>
            <a:pPr algn="r"/>
            <a:r>
              <a:rPr lang="en-US" altLang="zh-CN" sz="1200" spc="40" baseline="0" dirty="0" err="1">
                <a:solidFill>
                  <a:schemeClr val="bg1">
                    <a:lumMod val="65000"/>
                  </a:schemeClr>
                </a:solidFill>
              </a:rPr>
              <a:t>GuangDong</a:t>
            </a:r>
            <a:r>
              <a:rPr lang="en-US" altLang="zh-CN" sz="1200" spc="40" baseline="0" dirty="0">
                <a:solidFill>
                  <a:schemeClr val="bg1">
                    <a:lumMod val="65000"/>
                  </a:schemeClr>
                </a:solidFill>
              </a:rPr>
              <a:t> University of Finance &amp; Economics</a:t>
            </a:r>
            <a:endParaRPr lang="zh-CN" altLang="en-US" sz="1200" spc="40" baseline="0" dirty="0">
              <a:solidFill>
                <a:schemeClr val="bg1">
                  <a:lumMod val="65000"/>
                </a:schemeClr>
              </a:solidFill>
            </a:endParaRPr>
          </a:p>
        </p:txBody>
      </p:sp>
    </p:spTree>
    <p:extLst>
      <p:ext uri="{BB962C8B-B14F-4D97-AF65-F5344CB8AC3E}">
        <p14:creationId xmlns:p14="http://schemas.microsoft.com/office/powerpoint/2010/main" val="1241202916"/>
      </p:ext>
    </p:extLst>
  </p:cSld>
  <p:clrMap bg1="lt1" tx1="dk1" bg2="lt2" tx2="dk2" accent1="accent1" accent2="accent2" accent3="accent3" accent4="accent4" accent5="accent5" accent6="accent6" hlink="hlink" folHlink="folHlink"/>
  <p:sldLayoutIdLst>
    <p:sldLayoutId id="2147483649" r:id="rId1"/>
    <p:sldLayoutId id="2147483674" r:id="rId2"/>
    <p:sldLayoutId id="2147483650" r:id="rId3"/>
    <p:sldLayoutId id="2147483660" r:id="rId4"/>
    <p:sldLayoutId id="2147483651" r:id="rId5"/>
    <p:sldLayoutId id="2147483661" r:id="rId6"/>
    <p:sldLayoutId id="2147483662" r:id="rId7"/>
    <p:sldLayoutId id="2147483663" r:id="rId8"/>
    <p:sldLayoutId id="2147483664" r:id="rId9"/>
    <p:sldLayoutId id="2147483665" r:id="rId10"/>
    <p:sldLayoutId id="2147483666" r:id="rId11"/>
    <p:sldLayoutId id="2147483675" r:id="rId12"/>
    <p:sldLayoutId id="2147483667" r:id="rId13"/>
    <p:sldLayoutId id="2147483668" r:id="rId14"/>
    <p:sldLayoutId id="2147483669" r:id="rId15"/>
    <p:sldLayoutId id="2147483670" r:id="rId16"/>
    <p:sldLayoutId id="2147483671" r:id="rId17"/>
    <p:sldLayoutId id="2147483672" r:id="rId18"/>
    <p:sldLayoutId id="214748367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9906699"/>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3061258"/>
      </p:ext>
    </p:extLst>
  </p:cSld>
  <p:clrMap bg1="lt1" tx1="dk1" bg2="lt2" tx2="dk2" accent1="accent1" accent2="accent2" accent3="accent3" accent4="accent4" accent5="accent5" accent6="accent6" hlink="hlink" folHlink="folHlink"/>
  <p:sldLayoutIdLst>
    <p:sldLayoutId id="2147483679" r:id="rId1"/>
    <p:sldLayoutId id="214748368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eg"/><Relationship Id="rId3" Type="http://schemas.openxmlformats.org/officeDocument/2006/relationships/image" Target="../media/image11.png"/><Relationship Id="rId4" Type="http://schemas.microsoft.com/office/2007/relationships/hdphoto" Target="../media/hdphoto2.wdp"/><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a:extLst>
              <a:ext uri="{FF2B5EF4-FFF2-40B4-BE49-F238E27FC236}">
                <a16:creationId xmlns:a16="http://schemas.microsoft.com/office/drawing/2014/main" id="{BA387A8D-96F1-4AD6-BE84-D112D01E4C3D}"/>
              </a:ext>
            </a:extLst>
          </p:cNvPr>
          <p:cNvGrpSpPr/>
          <p:nvPr/>
        </p:nvGrpSpPr>
        <p:grpSpPr>
          <a:xfrm>
            <a:off x="5277402" y="4111464"/>
            <a:ext cx="1637197" cy="1042279"/>
            <a:chOff x="5277402" y="4111464"/>
            <a:chExt cx="1637197" cy="1042279"/>
          </a:xfrm>
        </p:grpSpPr>
        <p:sp>
          <p:nvSpPr>
            <p:cNvPr id="12" name="箭头: V 形 11">
              <a:extLst>
                <a:ext uri="{FF2B5EF4-FFF2-40B4-BE49-F238E27FC236}">
                  <a16:creationId xmlns:a16="http://schemas.microsoft.com/office/drawing/2014/main" id="{4170D0FE-BE81-4BF5-9D43-BBD09B244FB5}"/>
                </a:ext>
              </a:extLst>
            </p:cNvPr>
            <p:cNvSpPr/>
            <p:nvPr/>
          </p:nvSpPr>
          <p:spPr>
            <a:xfrm rot="5400000">
              <a:off x="5686426" y="3925569"/>
              <a:ext cx="819150" cy="1637197"/>
            </a:xfrm>
            <a:prstGeom prst="chevron">
              <a:avLst>
                <a:gd name="adj" fmla="val 56202"/>
              </a:avLst>
            </a:prstGeom>
            <a:gradFill>
              <a:gsLst>
                <a:gs pos="20000">
                  <a:schemeClr val="accent2">
                    <a:alpha val="0"/>
                  </a:schemeClr>
                </a:gs>
                <a:gs pos="100000">
                  <a:schemeClr val="accent2">
                    <a:alpha val="27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endParaRPr>
            </a:p>
          </p:txBody>
        </p:sp>
        <p:sp>
          <p:nvSpPr>
            <p:cNvPr id="13" name="箭头: V 形 12">
              <a:extLst>
                <a:ext uri="{FF2B5EF4-FFF2-40B4-BE49-F238E27FC236}">
                  <a16:creationId xmlns:a16="http://schemas.microsoft.com/office/drawing/2014/main" id="{A2B8BBD8-B05B-45D7-9E0A-728328CA9EA2}"/>
                </a:ext>
              </a:extLst>
            </p:cNvPr>
            <p:cNvSpPr/>
            <p:nvPr/>
          </p:nvSpPr>
          <p:spPr>
            <a:xfrm rot="5400000">
              <a:off x="5686426" y="3702440"/>
              <a:ext cx="819150" cy="1637197"/>
            </a:xfrm>
            <a:prstGeom prst="chevron">
              <a:avLst>
                <a:gd name="adj" fmla="val 56202"/>
              </a:avLst>
            </a:prstGeom>
            <a:gradFill>
              <a:gsLst>
                <a:gs pos="20000">
                  <a:schemeClr val="accent2">
                    <a:alpha val="0"/>
                  </a:schemeClr>
                </a:gs>
                <a:gs pos="100000">
                  <a:schemeClr val="accent2">
                    <a:alpha val="27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solidFill>
                  <a:schemeClr val="tx1"/>
                </a:solidFill>
              </a:endParaRPr>
            </a:p>
          </p:txBody>
        </p:sp>
      </p:grpSp>
      <p:pic>
        <p:nvPicPr>
          <p:cNvPr id="6" name="图片占位符 5" descr="图片包含 场景&#10;&#10;描述已自动生成">
            <a:extLst>
              <a:ext uri="{FF2B5EF4-FFF2-40B4-BE49-F238E27FC236}">
                <a16:creationId xmlns:a16="http://schemas.microsoft.com/office/drawing/2014/main" id="{57CD7F87-33BC-4222-BD3C-0D88CF9463F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
        <p:nvSpPr>
          <p:cNvPr id="7" name="矩形: 圆角 6">
            <a:extLst>
              <a:ext uri="{FF2B5EF4-FFF2-40B4-BE49-F238E27FC236}">
                <a16:creationId xmlns:a16="http://schemas.microsoft.com/office/drawing/2014/main" id="{A87179B9-80E8-4AF4-884B-7CA7D4966D0A}"/>
              </a:ext>
            </a:extLst>
          </p:cNvPr>
          <p:cNvSpPr/>
          <p:nvPr/>
        </p:nvSpPr>
        <p:spPr>
          <a:xfrm>
            <a:off x="172936" y="176464"/>
            <a:ext cx="11846128" cy="4395536"/>
          </a:xfrm>
          <a:prstGeom prst="roundRect">
            <a:avLst>
              <a:gd name="adj" fmla="val 1227"/>
            </a:avLst>
          </a:prstGeom>
          <a:solidFill>
            <a:schemeClr val="accent1">
              <a:alpha val="86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 name="文本占位符 2">
            <a:extLst>
              <a:ext uri="{FF2B5EF4-FFF2-40B4-BE49-F238E27FC236}">
                <a16:creationId xmlns:a16="http://schemas.microsoft.com/office/drawing/2014/main" id="{AEC15551-991F-4186-B2B9-C0F1098630A9}"/>
              </a:ext>
            </a:extLst>
          </p:cNvPr>
          <p:cNvSpPr>
            <a:spLocks noGrp="1"/>
          </p:cNvSpPr>
          <p:nvPr>
            <p:ph type="body" sz="quarter" idx="11"/>
          </p:nvPr>
        </p:nvSpPr>
        <p:spPr/>
        <p:txBody>
          <a:bodyPr>
            <a:spAutoFit/>
          </a:bodyPr>
          <a:lstStyle/>
          <a:p>
            <a:pPr lvl="0">
              <a:lnSpc>
                <a:spcPct val="100000"/>
              </a:lnSpc>
              <a:spcBef>
                <a:spcPts val="0"/>
              </a:spcBef>
            </a:pPr>
            <a:r>
              <a:rPr lang="zh-CN" altLang="en-US" spc="600" dirty="0">
                <a:solidFill>
                  <a:prstClr val="white"/>
                </a:solidFill>
              </a:rPr>
              <a:t xml:space="preserve">人工智能大模型发展历史研究</a:t>
            </a:r>
          </a:p>
        </p:txBody>
      </p:sp>
      <p:sp>
        <p:nvSpPr>
          <p:cNvPr id="4" name="文本占位符 3">
            <a:extLst>
              <a:ext uri="{FF2B5EF4-FFF2-40B4-BE49-F238E27FC236}">
                <a16:creationId xmlns:a16="http://schemas.microsoft.com/office/drawing/2014/main" id="{27790488-EA54-4CF1-824A-F85681DCB148}"/>
              </a:ext>
            </a:extLst>
          </p:cNvPr>
          <p:cNvSpPr>
            <a:spLocks noGrp="1"/>
          </p:cNvSpPr>
          <p:nvPr>
            <p:ph type="body" sz="quarter" idx="12"/>
          </p:nvPr>
        </p:nvSpPr>
        <p:spPr/>
        <p:txBody>
          <a:bodyPr>
            <a:spAutoFit/>
          </a:bodyPr>
          <a:lstStyle/>
          <a:p>
            <a:pPr lvl="0">
              <a:lnSpc>
                <a:spcPct val="100000"/>
              </a:lnSpc>
              <a:spcBef>
                <a:spcPts val="0"/>
              </a:spcBef>
            </a:pPr>
            <a:r>
              <a:rPr lang="en-US" altLang="zh-CN" spc="590" dirty="0">
                <a:solidFill>
                  <a:schemeClr val="accent3">
                    <a:lumMod val="40000"/>
                    <a:lumOff val="60000"/>
                  </a:schemeClr>
                </a:solidFill>
              </a:rPr>
              <a:t xml:space="preserve">A Historical Study of Large AI Models</a:t>
            </a:r>
          </a:p>
        </p:txBody>
      </p:sp>
      <p:pic>
        <p:nvPicPr>
          <p:cNvPr id="8" name="图片 7">
            <a:extLst>
              <a:ext uri="{FF2B5EF4-FFF2-40B4-BE49-F238E27FC236}">
                <a16:creationId xmlns:a16="http://schemas.microsoft.com/office/drawing/2014/main" id="{A9697CBE-EA41-4120-90CD-299BA3D3423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638675" y="1450342"/>
            <a:ext cx="2914650" cy="759938"/>
          </a:xfrm>
          <a:prstGeom prst="rect">
            <a:avLst/>
          </a:prstGeom>
        </p:spPr>
      </p:pic>
      <p:cxnSp>
        <p:nvCxnSpPr>
          <p:cNvPr id="9" name="直接连接符 8">
            <a:extLst>
              <a:ext uri="{FF2B5EF4-FFF2-40B4-BE49-F238E27FC236}">
                <a16:creationId xmlns:a16="http://schemas.microsoft.com/office/drawing/2014/main" id="{6947BC6A-EF29-4607-8AC3-8F6DCF02C248}"/>
              </a:ext>
            </a:extLst>
          </p:cNvPr>
          <p:cNvCxnSpPr>
            <a:cxnSpLocks/>
          </p:cNvCxnSpPr>
          <p:nvPr/>
        </p:nvCxnSpPr>
        <p:spPr>
          <a:xfrm>
            <a:off x="2507702" y="2470245"/>
            <a:ext cx="7136361" cy="0"/>
          </a:xfrm>
          <a:prstGeom prst="line">
            <a:avLst/>
          </a:prstGeom>
          <a:ln w="12700">
            <a:gradFill>
              <a:gsLst>
                <a:gs pos="0">
                  <a:schemeClr val="bg1">
                    <a:alpha val="0"/>
                  </a:schemeClr>
                </a:gs>
                <a:gs pos="49600">
                  <a:srgbClr val="FFFFFF">
                    <a:alpha val="40000"/>
                  </a:srgb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6310FC45-F3BC-4EF3-83DA-46ADCB10A1BA}"/>
              </a:ext>
            </a:extLst>
          </p:cNvPr>
          <p:cNvCxnSpPr>
            <a:cxnSpLocks/>
          </p:cNvCxnSpPr>
          <p:nvPr/>
        </p:nvCxnSpPr>
        <p:spPr>
          <a:xfrm>
            <a:off x="2507702" y="3916908"/>
            <a:ext cx="7136361" cy="0"/>
          </a:xfrm>
          <a:prstGeom prst="line">
            <a:avLst/>
          </a:prstGeom>
          <a:ln w="12700">
            <a:gradFill>
              <a:gsLst>
                <a:gs pos="0">
                  <a:schemeClr val="bg1">
                    <a:alpha val="0"/>
                  </a:schemeClr>
                </a:gs>
                <a:gs pos="49600">
                  <a:srgbClr val="FFFFFF">
                    <a:alpha val="40000"/>
                  </a:srgb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4" name="矩形: 圆角 13">
            <a:extLst>
              <a:ext uri="{FF2B5EF4-FFF2-40B4-BE49-F238E27FC236}">
                <a16:creationId xmlns:a16="http://schemas.microsoft.com/office/drawing/2014/main" id="{31692EE5-6D38-43D7-81B4-9063A64131B3}"/>
              </a:ext>
            </a:extLst>
          </p:cNvPr>
          <p:cNvSpPr/>
          <p:nvPr/>
        </p:nvSpPr>
        <p:spPr>
          <a:xfrm>
            <a:off x="6879018" y="5312417"/>
            <a:ext cx="1856062" cy="466724"/>
          </a:xfrm>
          <a:prstGeom prst="roundRect">
            <a:avLst>
              <a:gd name="adj" fmla="val 50000"/>
            </a:avLst>
          </a:prstGeom>
          <a:gradFill>
            <a:gsLst>
              <a:gs pos="0">
                <a:schemeClr val="accent1">
                  <a:alpha val="58000"/>
                </a:schemeClr>
              </a:gs>
              <a:gs pos="100000">
                <a:schemeClr val="accent1"/>
              </a:gs>
            </a:gsLst>
            <a:lin ang="0" scaled="0"/>
          </a:gradFill>
          <a:ln>
            <a:noFill/>
          </a:ln>
          <a:effectLst>
            <a:outerShdw blurRad="152400" sx="102000" sy="102000" algn="ct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sz="1400" dirty="0">
                <a:solidFill>
                  <a:prstClr val="white"/>
                </a:solidFill>
                <a:latin typeface="+mn-ea"/>
              </a:rPr>
              <a:t xml:space="preserve">指导老师：XXX</a:t>
            </a:r>
          </a:p>
        </p:txBody>
      </p:sp>
      <p:sp>
        <p:nvSpPr>
          <p:cNvPr id="15" name="矩形: 圆角 14">
            <a:extLst>
              <a:ext uri="{FF2B5EF4-FFF2-40B4-BE49-F238E27FC236}">
                <a16:creationId xmlns:a16="http://schemas.microsoft.com/office/drawing/2014/main" id="{25BD9AF2-8C1E-4D2C-BE57-1C0AC5C3810A}"/>
              </a:ext>
            </a:extLst>
          </p:cNvPr>
          <p:cNvSpPr/>
          <p:nvPr/>
        </p:nvSpPr>
        <p:spPr>
          <a:xfrm>
            <a:off x="3456920" y="5312417"/>
            <a:ext cx="1856062" cy="466724"/>
          </a:xfrm>
          <a:prstGeom prst="roundRect">
            <a:avLst>
              <a:gd name="adj" fmla="val 50000"/>
            </a:avLst>
          </a:prstGeom>
          <a:gradFill>
            <a:gsLst>
              <a:gs pos="0">
                <a:schemeClr val="accent1">
                  <a:alpha val="58000"/>
                </a:schemeClr>
              </a:gs>
              <a:gs pos="100000">
                <a:schemeClr val="accent1"/>
              </a:gs>
            </a:gsLst>
            <a:lin ang="0" scaled="0"/>
          </a:gradFill>
          <a:ln>
            <a:noFill/>
          </a:ln>
          <a:effectLst>
            <a:outerShdw blurRad="152400" sx="102000" sy="102000" algn="ct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sz="1400" dirty="0">
                <a:solidFill>
                  <a:prstClr val="white"/>
                </a:solidFill>
                <a:latin typeface="+mn-ea"/>
              </a:rPr>
              <a:t xml:space="preserve">答辩人：XXX</a:t>
            </a:r>
          </a:p>
        </p:txBody>
      </p:sp>
      <p:grpSp>
        <p:nvGrpSpPr>
          <p:cNvPr id="11" name="组合 10">
            <a:extLst>
              <a:ext uri="{FF2B5EF4-FFF2-40B4-BE49-F238E27FC236}">
                <a16:creationId xmlns:a16="http://schemas.microsoft.com/office/drawing/2014/main" id="{A477B09A-D525-439D-AF52-893982EC6546}"/>
              </a:ext>
            </a:extLst>
          </p:cNvPr>
          <p:cNvGrpSpPr/>
          <p:nvPr/>
        </p:nvGrpSpPr>
        <p:grpSpPr>
          <a:xfrm>
            <a:off x="5998232" y="5448011"/>
            <a:ext cx="195536" cy="195536"/>
            <a:chOff x="5998232" y="5448011"/>
            <a:chExt cx="195536" cy="195536"/>
          </a:xfrm>
        </p:grpSpPr>
        <p:sp>
          <p:nvSpPr>
            <p:cNvPr id="48" name="矩形 47">
              <a:extLst>
                <a:ext uri="{FF2B5EF4-FFF2-40B4-BE49-F238E27FC236}">
                  <a16:creationId xmlns:a16="http://schemas.microsoft.com/office/drawing/2014/main" id="{3D6B2338-46DC-47F6-8CCD-B7933D9AE48C}"/>
                </a:ext>
              </a:extLst>
            </p:cNvPr>
            <p:cNvSpPr/>
            <p:nvPr/>
          </p:nvSpPr>
          <p:spPr>
            <a:xfrm rot="2700000">
              <a:off x="6057917" y="5507698"/>
              <a:ext cx="76164" cy="76164"/>
            </a:xfrm>
            <a:prstGeom prst="rect">
              <a:avLst/>
            </a:prstGeom>
            <a:noFill/>
            <a:ln w="6350">
              <a:solidFill>
                <a:schemeClr val="accent3">
                  <a:alpha val="8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9" name="矩形 48">
              <a:extLst>
                <a:ext uri="{FF2B5EF4-FFF2-40B4-BE49-F238E27FC236}">
                  <a16:creationId xmlns:a16="http://schemas.microsoft.com/office/drawing/2014/main" id="{0C9651AE-CC13-4741-BC4C-033FAF550832}"/>
                </a:ext>
              </a:extLst>
            </p:cNvPr>
            <p:cNvSpPr/>
            <p:nvPr/>
          </p:nvSpPr>
          <p:spPr>
            <a:xfrm rot="2700000">
              <a:off x="6029325" y="5479104"/>
              <a:ext cx="133350" cy="133350"/>
            </a:xfrm>
            <a:prstGeom prst="rect">
              <a:avLst/>
            </a:prstGeom>
            <a:noFill/>
            <a:ln w="6350">
              <a:solidFill>
                <a:schemeClr val="accent3">
                  <a:alpha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7" name="矩形 16">
              <a:extLst>
                <a:ext uri="{FF2B5EF4-FFF2-40B4-BE49-F238E27FC236}">
                  <a16:creationId xmlns:a16="http://schemas.microsoft.com/office/drawing/2014/main" id="{77969246-E200-490F-851B-0C04678056B7}"/>
                </a:ext>
              </a:extLst>
            </p:cNvPr>
            <p:cNvSpPr/>
            <p:nvPr/>
          </p:nvSpPr>
          <p:spPr>
            <a:xfrm rot="2700000">
              <a:off x="5998232" y="5448011"/>
              <a:ext cx="195536" cy="195536"/>
            </a:xfrm>
            <a:prstGeom prst="rect">
              <a:avLst/>
            </a:prstGeom>
            <a:noFill/>
            <a:ln w="6350">
              <a:solidFill>
                <a:schemeClr val="accent3">
                  <a:alpha val="2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Tree>
    <p:extLst>
      <p:ext uri="{BB962C8B-B14F-4D97-AF65-F5344CB8AC3E}">
        <p14:creationId xmlns:p14="http://schemas.microsoft.com/office/powerpoint/2010/main" val="4188027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a:extLst>
              <a:ext uri="{FF2B5EF4-FFF2-40B4-BE49-F238E27FC236}">
                <a16:creationId xmlns:a16="http://schemas.microsoft.com/office/drawing/2014/main" id="{51BD69E8-8BD9-423D-913D-F9959887E3DE}"/>
              </a:ext>
            </a:extLst>
          </p:cNvPr>
          <p:cNvSpPr txBox="1"/>
          <p:nvPr/>
        </p:nvSpPr>
        <p:spPr>
          <a:xfrm>
            <a:off x="1096884" y="365431"/>
            <a:ext cx="9998232" cy="1200329"/>
          </a:xfrm>
          <a:prstGeom prst="rect">
            <a:avLst/>
          </a:prstGeom>
          <a:noFill/>
        </p:spPr>
        <p:txBody>
          <a:bodyPr wrap="square" rtlCol="0">
            <a:spAutoFit/>
          </a:bodyPr>
          <a:lstStyle/>
          <a:p>
            <a:pPr algn="ctr"/>
            <a:r>
              <a:rPr lang="en-US" altLang="zh-CN" sz="7200" b="1" i="1" dirty="0">
                <a:gradFill>
                  <a:gsLst>
                    <a:gs pos="33000">
                      <a:schemeClr val="accent1">
                        <a:alpha val="8000"/>
                      </a:schemeClr>
                    </a:gs>
                    <a:gs pos="80000">
                      <a:schemeClr val="accent1">
                        <a:alpha val="0"/>
                      </a:schemeClr>
                    </a:gs>
                  </a:gsLst>
                  <a:lin ang="5400000" scaled="0"/>
                </a:gradFill>
              </a:rPr>
              <a:t>CONTENT</a:t>
            </a:r>
            <a:endParaRPr lang="zh-CN" altLang="en-US" sz="7200" b="1" i="1" dirty="0">
              <a:gradFill>
                <a:gsLst>
                  <a:gs pos="33000">
                    <a:schemeClr val="accent1">
                      <a:alpha val="8000"/>
                    </a:schemeClr>
                  </a:gs>
                  <a:gs pos="80000">
                    <a:schemeClr val="accent1">
                      <a:alpha val="0"/>
                    </a:schemeClr>
                  </a:gs>
                </a:gsLst>
                <a:lin ang="5400000" scaled="0"/>
              </a:gradFill>
            </a:endParaRPr>
          </a:p>
        </p:txBody>
      </p:sp>
      <p:sp>
        <p:nvSpPr>
          <p:cNvPr id="25" name="文本框 24">
            <a:extLst>
              <a:ext uri="{FF2B5EF4-FFF2-40B4-BE49-F238E27FC236}">
                <a16:creationId xmlns:a16="http://schemas.microsoft.com/office/drawing/2014/main" id="{0230E2FD-5B56-4764-9B7C-DED713B0F1A2}"/>
              </a:ext>
            </a:extLst>
          </p:cNvPr>
          <p:cNvSpPr txBox="1"/>
          <p:nvPr/>
        </p:nvSpPr>
        <p:spPr>
          <a:xfrm>
            <a:off x="5188790" y="991439"/>
            <a:ext cx="1814420" cy="769441"/>
          </a:xfrm>
          <a:prstGeom prst="rect">
            <a:avLst/>
          </a:prstGeom>
          <a:noFill/>
        </p:spPr>
        <p:txBody>
          <a:bodyPr wrap="square" rtlCol="0">
            <a:spAutoFit/>
          </a:bodyPr>
          <a:lstStyle/>
          <a:p>
            <a:pPr algn="ctr"/>
            <a:r>
              <a:rPr lang="zh-CN" altLang="en-US" sz="4400" b="1" spc="600" dirty="0">
                <a:gradFill>
                  <a:gsLst>
                    <a:gs pos="0">
                      <a:schemeClr val="accent2"/>
                    </a:gs>
                    <a:gs pos="100000">
                      <a:schemeClr val="accent2">
                        <a:alpha val="0"/>
                      </a:schemeClr>
                    </a:gs>
                  </a:gsLst>
                  <a:lin ang="5400000" scaled="0"/>
                </a:gradFill>
                <a:latin typeface="+mj-ea"/>
                <a:ea typeface="+mj-ea"/>
              </a:rPr>
              <a:t>目录</a:t>
            </a:r>
          </a:p>
        </p:txBody>
      </p:sp>
      <p:sp>
        <p:nvSpPr>
          <p:cNvPr id="35" name="矩形 34">
            <a:extLst>
              <a:ext uri="{FF2B5EF4-FFF2-40B4-BE49-F238E27FC236}">
                <a16:creationId xmlns:a16="http://schemas.microsoft.com/office/drawing/2014/main" id="{D46BB93B-7DD0-4E03-A449-C840C0FF11AA}"/>
              </a:ext>
            </a:extLst>
          </p:cNvPr>
          <p:cNvSpPr/>
          <p:nvPr/>
        </p:nvSpPr>
        <p:spPr>
          <a:xfrm>
            <a:off x="3282088" y="2717700"/>
            <a:ext cx="2845049" cy="215444"/>
          </a:xfrm>
          <a:prstGeom prst="rect">
            <a:avLst/>
          </a:prstGeom>
        </p:spPr>
        <p:txBody>
          <a:bodyPr wrap="square" lIns="0" tIns="0" rIns="0" bIns="0">
            <a:spAutoFit/>
          </a:bodyPr>
          <a:lstStyle/>
          <a:p>
            <a:r>
              <a:rPr lang="zh-CN" altLang="en-US" sz="1400" spc="30" dirty="0">
                <a:solidFill>
                  <a:schemeClr val="bg1">
                    <a:lumMod val="65000"/>
                  </a:schemeClr>
                </a:solidFill>
              </a:rPr>
              <a:t xml:space="preserve">Origins</a:t>
            </a:r>
          </a:p>
        </p:txBody>
      </p:sp>
      <p:sp>
        <p:nvSpPr>
          <p:cNvPr id="42" name="矩形 41">
            <a:extLst>
              <a:ext uri="{FF2B5EF4-FFF2-40B4-BE49-F238E27FC236}">
                <a16:creationId xmlns:a16="http://schemas.microsoft.com/office/drawing/2014/main" id="{11DC7712-51B0-4900-A741-0E783323252D}"/>
              </a:ext>
            </a:extLst>
          </p:cNvPr>
          <p:cNvSpPr/>
          <p:nvPr/>
        </p:nvSpPr>
        <p:spPr>
          <a:xfrm>
            <a:off x="8281204" y="2717700"/>
            <a:ext cx="2845049" cy="215444"/>
          </a:xfrm>
          <a:prstGeom prst="rect">
            <a:avLst/>
          </a:prstGeom>
        </p:spPr>
        <p:txBody>
          <a:bodyPr wrap="square" lIns="0" tIns="0" rIns="0" bIns="0">
            <a:spAutoFit/>
          </a:bodyPr>
          <a:lstStyle/>
          <a:p>
            <a:r>
              <a:rPr lang="en-US" altLang="zh-CN" sz="1400" spc="30" dirty="0">
                <a:solidFill>
                  <a:schemeClr val="bg1">
                    <a:lumMod val="65000"/>
                  </a:schemeClr>
                </a:solidFill>
              </a:rPr>
              <a:t xml:space="preserve">Deep Learning</a:t>
            </a:r>
          </a:p>
        </p:txBody>
      </p:sp>
      <p:sp>
        <p:nvSpPr>
          <p:cNvPr id="68" name="矩形 67">
            <a:extLst>
              <a:ext uri="{FF2B5EF4-FFF2-40B4-BE49-F238E27FC236}">
                <a16:creationId xmlns:a16="http://schemas.microsoft.com/office/drawing/2014/main" id="{E4DD7DE2-A765-46BF-89F9-387193A26CA5}"/>
              </a:ext>
            </a:extLst>
          </p:cNvPr>
          <p:cNvSpPr/>
          <p:nvPr/>
        </p:nvSpPr>
        <p:spPr>
          <a:xfrm>
            <a:off x="3282088" y="4026997"/>
            <a:ext cx="2845049" cy="215444"/>
          </a:xfrm>
          <a:prstGeom prst="rect">
            <a:avLst/>
          </a:prstGeom>
        </p:spPr>
        <p:txBody>
          <a:bodyPr wrap="square" lIns="0" tIns="0" rIns="0" bIns="0">
            <a:spAutoFit/>
          </a:bodyPr>
          <a:lstStyle/>
          <a:p>
            <a:r>
              <a:rPr lang="en-US" altLang="zh-CN" sz="1400" dirty="0">
                <a:solidFill>
                  <a:schemeClr val="bg1">
                    <a:lumMod val="65000"/>
                  </a:schemeClr>
                </a:solidFill>
              </a:rPr>
              <a:t xml:space="preserve">Pretraining</a:t>
            </a:r>
          </a:p>
        </p:txBody>
      </p:sp>
      <p:sp>
        <p:nvSpPr>
          <p:cNvPr id="73" name="矩形 72">
            <a:extLst>
              <a:ext uri="{FF2B5EF4-FFF2-40B4-BE49-F238E27FC236}">
                <a16:creationId xmlns:a16="http://schemas.microsoft.com/office/drawing/2014/main" id="{B19DD28B-3CBD-45FF-8615-A4ACEA84DE37}"/>
              </a:ext>
            </a:extLst>
          </p:cNvPr>
          <p:cNvSpPr/>
          <p:nvPr/>
        </p:nvSpPr>
        <p:spPr>
          <a:xfrm>
            <a:off x="8281204" y="4026997"/>
            <a:ext cx="2845049" cy="215444"/>
          </a:xfrm>
          <a:prstGeom prst="rect">
            <a:avLst/>
          </a:prstGeom>
        </p:spPr>
        <p:txBody>
          <a:bodyPr wrap="square" lIns="0" tIns="0" rIns="0" bIns="0">
            <a:spAutoFit/>
          </a:bodyPr>
          <a:lstStyle/>
          <a:p>
            <a:r>
              <a:rPr lang="en-US" altLang="zh-CN" sz="1400" spc="30" dirty="0">
                <a:solidFill>
                  <a:schemeClr val="bg1">
                    <a:lumMod val="65000"/>
                  </a:schemeClr>
                </a:solidFill>
              </a:rPr>
              <a:t xml:space="preserve">Generative AI</a:t>
            </a:r>
          </a:p>
        </p:txBody>
      </p:sp>
      <p:sp>
        <p:nvSpPr>
          <p:cNvPr id="78" name="矩形 77">
            <a:extLst>
              <a:ext uri="{FF2B5EF4-FFF2-40B4-BE49-F238E27FC236}">
                <a16:creationId xmlns:a16="http://schemas.microsoft.com/office/drawing/2014/main" id="{283B23ED-1F4A-4983-B0DD-14668B1F2CEA}"/>
              </a:ext>
            </a:extLst>
          </p:cNvPr>
          <p:cNvSpPr/>
          <p:nvPr/>
        </p:nvSpPr>
        <p:spPr>
          <a:xfrm>
            <a:off x="3282088" y="5336295"/>
            <a:ext cx="2845049" cy="215444"/>
          </a:xfrm>
          <a:prstGeom prst="rect">
            <a:avLst/>
          </a:prstGeom>
        </p:spPr>
        <p:txBody>
          <a:bodyPr wrap="square" lIns="0" tIns="0" rIns="0" bIns="0">
            <a:spAutoFit/>
          </a:bodyPr>
          <a:lstStyle/>
          <a:p>
            <a:r>
              <a:rPr lang="en-US" altLang="zh-CN" sz="1400" spc="30" dirty="0">
                <a:solidFill>
                  <a:schemeClr val="bg1">
                    <a:lumMod val="65000"/>
                  </a:schemeClr>
                </a:solidFill>
              </a:rPr>
              <a:t xml:space="preserve">Laws &amp; Risks</a:t>
            </a:r>
          </a:p>
        </p:txBody>
      </p:sp>
      <p:sp>
        <p:nvSpPr>
          <p:cNvPr id="13" name="椭圆 12">
            <a:extLst>
              <a:ext uri="{FF2B5EF4-FFF2-40B4-BE49-F238E27FC236}">
                <a16:creationId xmlns:a16="http://schemas.microsoft.com/office/drawing/2014/main" id="{D9931BFF-6334-4EAE-867F-D5568F39EEBD}"/>
              </a:ext>
            </a:extLst>
          </p:cNvPr>
          <p:cNvSpPr/>
          <p:nvPr/>
        </p:nvSpPr>
        <p:spPr>
          <a:xfrm>
            <a:off x="2513792" y="2186442"/>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4" name="文本框 13">
            <a:extLst>
              <a:ext uri="{FF2B5EF4-FFF2-40B4-BE49-F238E27FC236}">
                <a16:creationId xmlns:a16="http://schemas.microsoft.com/office/drawing/2014/main" id="{96F42803-1EDB-442B-9734-2ABC35C53061}"/>
              </a:ext>
            </a:extLst>
          </p:cNvPr>
          <p:cNvSpPr txBox="1"/>
          <p:nvPr/>
        </p:nvSpPr>
        <p:spPr>
          <a:xfrm>
            <a:off x="2613805" y="2281947"/>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01</a:t>
            </a:r>
            <a:endParaRPr lang="zh-CN" altLang="en-US" sz="2400" b="1" dirty="0">
              <a:solidFill>
                <a:schemeClr val="tx1">
                  <a:lumMod val="75000"/>
                  <a:lumOff val="25000"/>
                </a:schemeClr>
              </a:solidFill>
              <a:latin typeface="+mn-ea"/>
            </a:endParaRPr>
          </a:p>
        </p:txBody>
      </p:sp>
      <p:sp>
        <p:nvSpPr>
          <p:cNvPr id="16" name="矩形 15">
            <a:extLst>
              <a:ext uri="{FF2B5EF4-FFF2-40B4-BE49-F238E27FC236}">
                <a16:creationId xmlns:a16="http://schemas.microsoft.com/office/drawing/2014/main" id="{F3E021DC-B823-43F5-8F7F-8404DA3C7C7C}"/>
              </a:ext>
            </a:extLst>
          </p:cNvPr>
          <p:cNvSpPr/>
          <p:nvPr/>
        </p:nvSpPr>
        <p:spPr>
          <a:xfrm>
            <a:off x="3282088" y="2328113"/>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萌芽与积淀</a:t>
            </a:r>
          </a:p>
        </p:txBody>
      </p:sp>
      <p:sp>
        <p:nvSpPr>
          <p:cNvPr id="38" name="椭圆 37">
            <a:extLst>
              <a:ext uri="{FF2B5EF4-FFF2-40B4-BE49-F238E27FC236}">
                <a16:creationId xmlns:a16="http://schemas.microsoft.com/office/drawing/2014/main" id="{25EBB815-8F51-4001-B7C0-DD0B25BF278B}"/>
              </a:ext>
            </a:extLst>
          </p:cNvPr>
          <p:cNvSpPr/>
          <p:nvPr/>
        </p:nvSpPr>
        <p:spPr>
          <a:xfrm>
            <a:off x="7512908" y="2186442"/>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0" name="文本框 39">
            <a:extLst>
              <a:ext uri="{FF2B5EF4-FFF2-40B4-BE49-F238E27FC236}">
                <a16:creationId xmlns:a16="http://schemas.microsoft.com/office/drawing/2014/main" id="{22F2A4FD-EA39-45B5-892B-4D948A799CF5}"/>
              </a:ext>
            </a:extLst>
          </p:cNvPr>
          <p:cNvSpPr txBox="1"/>
          <p:nvPr/>
        </p:nvSpPr>
        <p:spPr>
          <a:xfrm>
            <a:off x="7612921" y="2281947"/>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02</a:t>
            </a:r>
            <a:endParaRPr lang="zh-CN" altLang="en-US" sz="2400" b="1" dirty="0">
              <a:solidFill>
                <a:schemeClr val="tx1">
                  <a:lumMod val="75000"/>
                  <a:lumOff val="25000"/>
                </a:schemeClr>
              </a:solidFill>
              <a:latin typeface="+mn-ea"/>
            </a:endParaRPr>
          </a:p>
        </p:txBody>
      </p:sp>
      <p:sp>
        <p:nvSpPr>
          <p:cNvPr id="41" name="矩形 40">
            <a:extLst>
              <a:ext uri="{FF2B5EF4-FFF2-40B4-BE49-F238E27FC236}">
                <a16:creationId xmlns:a16="http://schemas.microsoft.com/office/drawing/2014/main" id="{C6BC8812-49F5-453C-AA3E-2E197BAC72EF}"/>
              </a:ext>
            </a:extLst>
          </p:cNvPr>
          <p:cNvSpPr/>
          <p:nvPr/>
        </p:nvSpPr>
        <p:spPr>
          <a:xfrm>
            <a:off x="8281204" y="2328113"/>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深度学习革命</a:t>
            </a:r>
          </a:p>
        </p:txBody>
      </p:sp>
      <p:sp>
        <p:nvSpPr>
          <p:cNvPr id="65" name="椭圆 64">
            <a:extLst>
              <a:ext uri="{FF2B5EF4-FFF2-40B4-BE49-F238E27FC236}">
                <a16:creationId xmlns:a16="http://schemas.microsoft.com/office/drawing/2014/main" id="{CAA5261E-6AB9-4A2A-97E0-98E87B7FEB35}"/>
              </a:ext>
            </a:extLst>
          </p:cNvPr>
          <p:cNvSpPr/>
          <p:nvPr/>
        </p:nvSpPr>
        <p:spPr>
          <a:xfrm>
            <a:off x="2513792" y="3495739"/>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66" name="文本框 65">
            <a:extLst>
              <a:ext uri="{FF2B5EF4-FFF2-40B4-BE49-F238E27FC236}">
                <a16:creationId xmlns:a16="http://schemas.microsoft.com/office/drawing/2014/main" id="{51EB7754-A6BE-4025-B793-7FF4402046D1}"/>
              </a:ext>
            </a:extLst>
          </p:cNvPr>
          <p:cNvSpPr txBox="1"/>
          <p:nvPr/>
        </p:nvSpPr>
        <p:spPr>
          <a:xfrm>
            <a:off x="2613805" y="3591244"/>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03</a:t>
            </a:r>
            <a:endParaRPr lang="zh-CN" altLang="en-US" sz="2400" b="1" dirty="0">
              <a:solidFill>
                <a:schemeClr val="tx1">
                  <a:lumMod val="75000"/>
                  <a:lumOff val="25000"/>
                </a:schemeClr>
              </a:solidFill>
              <a:latin typeface="+mn-ea"/>
            </a:endParaRPr>
          </a:p>
        </p:txBody>
      </p:sp>
      <p:sp>
        <p:nvSpPr>
          <p:cNvPr id="67" name="矩形 66">
            <a:extLst>
              <a:ext uri="{FF2B5EF4-FFF2-40B4-BE49-F238E27FC236}">
                <a16:creationId xmlns:a16="http://schemas.microsoft.com/office/drawing/2014/main" id="{BB12B793-E379-4697-84AD-D52CD6AB4187}"/>
              </a:ext>
            </a:extLst>
          </p:cNvPr>
          <p:cNvSpPr/>
          <p:nvPr/>
        </p:nvSpPr>
        <p:spPr>
          <a:xfrm>
            <a:off x="3282088" y="3637410"/>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预训练时代</a:t>
            </a:r>
          </a:p>
        </p:txBody>
      </p:sp>
      <p:sp>
        <p:nvSpPr>
          <p:cNvPr id="70" name="椭圆 69">
            <a:extLst>
              <a:ext uri="{FF2B5EF4-FFF2-40B4-BE49-F238E27FC236}">
                <a16:creationId xmlns:a16="http://schemas.microsoft.com/office/drawing/2014/main" id="{D22311AA-9EE4-4046-9B04-249F52328D5D}"/>
              </a:ext>
            </a:extLst>
          </p:cNvPr>
          <p:cNvSpPr/>
          <p:nvPr/>
        </p:nvSpPr>
        <p:spPr>
          <a:xfrm>
            <a:off x="7512908" y="3495739"/>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71" name="文本框 70">
            <a:extLst>
              <a:ext uri="{FF2B5EF4-FFF2-40B4-BE49-F238E27FC236}">
                <a16:creationId xmlns:a16="http://schemas.microsoft.com/office/drawing/2014/main" id="{6F4C37A8-E438-412E-A4F5-18FA7B5D9A96}"/>
              </a:ext>
            </a:extLst>
          </p:cNvPr>
          <p:cNvSpPr txBox="1"/>
          <p:nvPr/>
        </p:nvSpPr>
        <p:spPr>
          <a:xfrm>
            <a:off x="7612921" y="3591244"/>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04</a:t>
            </a:r>
            <a:endParaRPr lang="zh-CN" altLang="en-US" sz="2400" b="1" dirty="0">
              <a:solidFill>
                <a:schemeClr val="tx1">
                  <a:lumMod val="75000"/>
                  <a:lumOff val="25000"/>
                </a:schemeClr>
              </a:solidFill>
              <a:latin typeface="+mn-ea"/>
            </a:endParaRPr>
          </a:p>
        </p:txBody>
      </p:sp>
      <p:sp>
        <p:nvSpPr>
          <p:cNvPr id="72" name="矩形 71">
            <a:extLst>
              <a:ext uri="{FF2B5EF4-FFF2-40B4-BE49-F238E27FC236}">
                <a16:creationId xmlns:a16="http://schemas.microsoft.com/office/drawing/2014/main" id="{386C7FCC-D752-4134-8880-C63DE0B54FB7}"/>
              </a:ext>
            </a:extLst>
          </p:cNvPr>
          <p:cNvSpPr/>
          <p:nvPr/>
        </p:nvSpPr>
        <p:spPr>
          <a:xfrm>
            <a:off x="8281204" y="3637410"/>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生成式AI时代</a:t>
            </a:r>
          </a:p>
        </p:txBody>
      </p:sp>
      <p:sp>
        <p:nvSpPr>
          <p:cNvPr id="75" name="椭圆 74">
            <a:extLst>
              <a:ext uri="{FF2B5EF4-FFF2-40B4-BE49-F238E27FC236}">
                <a16:creationId xmlns:a16="http://schemas.microsoft.com/office/drawing/2014/main" id="{8DB2E9A7-D7D3-4CCF-A8B2-F19F99D59DDD}"/>
              </a:ext>
            </a:extLst>
          </p:cNvPr>
          <p:cNvSpPr/>
          <p:nvPr/>
        </p:nvSpPr>
        <p:spPr>
          <a:xfrm>
            <a:off x="2513792" y="4805037"/>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76" name="文本框 75">
            <a:extLst>
              <a:ext uri="{FF2B5EF4-FFF2-40B4-BE49-F238E27FC236}">
                <a16:creationId xmlns:a16="http://schemas.microsoft.com/office/drawing/2014/main" id="{61CB5615-3860-4FD5-9FD7-B73FDB873C12}"/>
              </a:ext>
            </a:extLst>
          </p:cNvPr>
          <p:cNvSpPr txBox="1"/>
          <p:nvPr/>
        </p:nvSpPr>
        <p:spPr>
          <a:xfrm>
            <a:off x="2613805" y="4900542"/>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05</a:t>
            </a:r>
            <a:endParaRPr lang="zh-CN" altLang="en-US" sz="2400" b="1" dirty="0">
              <a:solidFill>
                <a:schemeClr val="tx1">
                  <a:lumMod val="75000"/>
                  <a:lumOff val="25000"/>
                </a:schemeClr>
              </a:solidFill>
              <a:latin typeface="+mn-ea"/>
            </a:endParaRPr>
          </a:p>
        </p:txBody>
      </p:sp>
      <p:sp>
        <p:nvSpPr>
          <p:cNvPr id="77" name="矩形 76">
            <a:extLst>
              <a:ext uri="{FF2B5EF4-FFF2-40B4-BE49-F238E27FC236}">
                <a16:creationId xmlns:a16="http://schemas.microsoft.com/office/drawing/2014/main" id="{42703394-4A33-43C2-AAC4-9D101D7DB115}"/>
              </a:ext>
            </a:extLst>
          </p:cNvPr>
          <p:cNvSpPr/>
          <p:nvPr/>
        </p:nvSpPr>
        <p:spPr>
          <a:xfrm>
            <a:off x="3282088" y="4946708"/>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规律与挑战</a:t>
            </a:r>
          </a:p>
        </p:txBody>
      </p:sp>
      <p:sp>
        <p:nvSpPr>
          <p:cNvPr id="80" name="椭圆 79">
            <a:extLst>
              <a:ext uri="{FF2B5EF4-FFF2-40B4-BE49-F238E27FC236}">
                <a16:creationId xmlns:a16="http://schemas.microsoft.com/office/drawing/2014/main" id="{6F256F19-9EB1-489A-8B66-37DBCF4E9953}"/>
              </a:ext>
            </a:extLst>
          </p:cNvPr>
          <p:cNvSpPr/>
          <p:nvPr/>
        </p:nvSpPr>
        <p:spPr>
          <a:xfrm>
            <a:off x="7512908" y="4805037"/>
            <a:ext cx="516878" cy="516875"/>
          </a:xfrm>
          <a:prstGeom prst="ellipse">
            <a:avLst/>
          </a:prstGeom>
          <a:gradFill>
            <a:gsLst>
              <a:gs pos="0">
                <a:schemeClr val="accent2">
                  <a:alpha val="94000"/>
                </a:schemeClr>
              </a:gs>
              <a:gs pos="83000">
                <a:schemeClr val="accent2">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1" name="文本框 80">
            <a:extLst>
              <a:ext uri="{FF2B5EF4-FFF2-40B4-BE49-F238E27FC236}">
                <a16:creationId xmlns:a16="http://schemas.microsoft.com/office/drawing/2014/main" id="{1BC2353E-09A8-48F0-873B-BDBF18FFCDC5}"/>
              </a:ext>
            </a:extLst>
          </p:cNvPr>
          <p:cNvSpPr txBox="1"/>
          <p:nvPr/>
        </p:nvSpPr>
        <p:spPr>
          <a:xfrm>
            <a:off x="7612921" y="4900542"/>
            <a:ext cx="579504" cy="461665"/>
          </a:xfrm>
          <a:prstGeom prst="rect">
            <a:avLst/>
          </a:prstGeom>
          <a:noFill/>
        </p:spPr>
        <p:txBody>
          <a:bodyPr wrap="square" rtlCol="0">
            <a:spAutoFit/>
          </a:bodyPr>
          <a:lstStyle/>
          <a:p>
            <a:r>
              <a:rPr lang="en-US" altLang="zh-CN" sz="2400" b="1" dirty="0">
                <a:solidFill>
                  <a:schemeClr val="tx1">
                    <a:lumMod val="75000"/>
                    <a:lumOff val="25000"/>
                  </a:schemeClr>
                </a:solidFill>
                <a:latin typeface="+mn-ea"/>
              </a:rPr>
              <a:t>06</a:t>
            </a:r>
            <a:endParaRPr lang="zh-CN" altLang="en-US" sz="2400" b="1" dirty="0">
              <a:solidFill>
                <a:schemeClr val="tx1">
                  <a:lumMod val="75000"/>
                  <a:lumOff val="25000"/>
                </a:schemeClr>
              </a:solidFill>
              <a:latin typeface="+mn-ea"/>
            </a:endParaRPr>
          </a:p>
        </p:txBody>
      </p:sp>
      <p:sp>
        <p:nvSpPr>
          <p:cNvPr id="82" name="矩形 81">
            <a:extLst>
              <a:ext uri="{FF2B5EF4-FFF2-40B4-BE49-F238E27FC236}">
                <a16:creationId xmlns:a16="http://schemas.microsoft.com/office/drawing/2014/main" id="{E88AD7DD-34D4-4DC8-8716-410EE9E6F2EB}"/>
              </a:ext>
            </a:extLst>
          </p:cNvPr>
          <p:cNvSpPr/>
          <p:nvPr/>
        </p:nvSpPr>
        <p:spPr>
          <a:xfrm>
            <a:off x="8281204" y="4946708"/>
            <a:ext cx="2265545" cy="369332"/>
          </a:xfrm>
          <a:prstGeom prst="rect">
            <a:avLst/>
          </a:prstGeom>
        </p:spPr>
        <p:txBody>
          <a:bodyPr wrap="square" lIns="0" tIns="0" rIns="0" bIns="0">
            <a:spAutoFit/>
          </a:bodyPr>
          <a:lstStyle/>
          <a:p>
            <a:r>
              <a:rPr lang="zh-CN" altLang="en-US" sz="2400" b="1" spc="300" dirty="0">
                <a:solidFill>
                  <a:schemeClr val="tx1">
                    <a:lumMod val="75000"/>
                    <a:lumOff val="25000"/>
                  </a:schemeClr>
                </a:solidFill>
                <a:latin typeface="+mn-ea"/>
              </a:rPr>
              <a:t xml:space="preserve"/>
            </a:r>
          </a:p>
        </p:txBody>
      </p:sp>
      <p:sp>
        <p:nvSpPr>
          <p:cNvPr id="83" name="矩形 82">
            <a:extLst>
              <a:ext uri="{FF2B5EF4-FFF2-40B4-BE49-F238E27FC236}">
                <a16:creationId xmlns:a16="http://schemas.microsoft.com/office/drawing/2014/main" id="{4E74778C-37BB-41D4-A81F-79EF7D227E67}"/>
              </a:ext>
            </a:extLst>
          </p:cNvPr>
          <p:cNvSpPr/>
          <p:nvPr/>
        </p:nvSpPr>
        <p:spPr>
          <a:xfrm>
            <a:off x="8281204" y="5336295"/>
            <a:ext cx="2845049" cy="215444"/>
          </a:xfrm>
          <a:prstGeom prst="rect">
            <a:avLst/>
          </a:prstGeom>
        </p:spPr>
        <p:txBody>
          <a:bodyPr wrap="square" lIns="0" tIns="0" rIns="0" bIns="0">
            <a:spAutoFit/>
          </a:bodyPr>
          <a:lstStyle/>
          <a:p>
            <a:r>
              <a:rPr lang="en-US" altLang="zh-CN" sz="1400" spc="30" dirty="0">
                <a:solidFill>
                  <a:schemeClr val="bg1">
                    <a:lumMod val="65000"/>
                  </a:schemeClr>
                </a:solidFill>
              </a:rPr>
              <a:t xml:space="preserve"/>
            </a:r>
          </a:p>
        </p:txBody>
      </p:sp>
      <p:sp>
        <p:nvSpPr>
          <p:cNvPr id="2" name="椭圆 1">
            <a:extLst>
              <a:ext uri="{FF2B5EF4-FFF2-40B4-BE49-F238E27FC236}">
                <a16:creationId xmlns:a16="http://schemas.microsoft.com/office/drawing/2014/main" id="{AB2C81A3-D30A-448C-B5F4-C4A2A077A9FE}"/>
              </a:ext>
            </a:extLst>
          </p:cNvPr>
          <p:cNvSpPr/>
          <p:nvPr/>
        </p:nvSpPr>
        <p:spPr>
          <a:xfrm>
            <a:off x="5305834" y="1521051"/>
            <a:ext cx="1580332" cy="246221"/>
          </a:xfrm>
          <a:prstGeom prst="ellipse">
            <a:avLst/>
          </a:prstGeom>
          <a:noFill/>
          <a:ln w="12700">
            <a:gradFill>
              <a:gsLst>
                <a:gs pos="19000">
                  <a:schemeClr val="accent1">
                    <a:alpha val="0"/>
                  </a:schemeClr>
                </a:gs>
                <a:gs pos="100000">
                  <a:schemeClr val="accent1">
                    <a:alpha val="2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endParaRPr lang="zh-CN" altLang="en-US"/>
          </a:p>
        </p:txBody>
      </p:sp>
      <p:grpSp>
        <p:nvGrpSpPr>
          <p:cNvPr id="19" name="组合 18">
            <a:extLst>
              <a:ext uri="{FF2B5EF4-FFF2-40B4-BE49-F238E27FC236}">
                <a16:creationId xmlns:a16="http://schemas.microsoft.com/office/drawing/2014/main" id="{AD9F8AAF-B806-4786-ADC5-5BD364B76A12}"/>
              </a:ext>
            </a:extLst>
          </p:cNvPr>
          <p:cNvGrpSpPr/>
          <p:nvPr/>
        </p:nvGrpSpPr>
        <p:grpSpPr>
          <a:xfrm>
            <a:off x="4075080" y="1363109"/>
            <a:ext cx="4041841" cy="87652"/>
            <a:chOff x="4208226" y="1363109"/>
            <a:chExt cx="4041841" cy="87652"/>
          </a:xfrm>
        </p:grpSpPr>
        <p:grpSp>
          <p:nvGrpSpPr>
            <p:cNvPr id="15" name="组合 14">
              <a:extLst>
                <a:ext uri="{FF2B5EF4-FFF2-40B4-BE49-F238E27FC236}">
                  <a16:creationId xmlns:a16="http://schemas.microsoft.com/office/drawing/2014/main" id="{DFE177AF-541F-4409-9CB2-590BA796B203}"/>
                </a:ext>
              </a:extLst>
            </p:cNvPr>
            <p:cNvGrpSpPr/>
            <p:nvPr/>
          </p:nvGrpSpPr>
          <p:grpSpPr>
            <a:xfrm>
              <a:off x="4208226" y="1363109"/>
              <a:ext cx="962523" cy="87652"/>
              <a:chOff x="4228602" y="1363109"/>
              <a:chExt cx="962523" cy="87652"/>
            </a:xfrm>
          </p:grpSpPr>
          <p:cxnSp>
            <p:nvCxnSpPr>
              <p:cNvPr id="7" name="直接连接符 6">
                <a:extLst>
                  <a:ext uri="{FF2B5EF4-FFF2-40B4-BE49-F238E27FC236}">
                    <a16:creationId xmlns:a16="http://schemas.microsoft.com/office/drawing/2014/main" id="{5C0C2C2C-1E6E-42E5-B676-71BBB8BFA2D8}"/>
                  </a:ext>
                </a:extLst>
              </p:cNvPr>
              <p:cNvCxnSpPr/>
              <p:nvPr/>
            </p:nvCxnSpPr>
            <p:spPr>
              <a:xfrm>
                <a:off x="4228602" y="1406937"/>
                <a:ext cx="856343" cy="0"/>
              </a:xfrm>
              <a:prstGeom prst="line">
                <a:avLst/>
              </a:prstGeom>
              <a:ln w="22225" cap="rnd">
                <a:gradFill>
                  <a:gsLst>
                    <a:gs pos="0">
                      <a:schemeClr val="accent3">
                        <a:alpha val="0"/>
                      </a:schemeClr>
                    </a:gs>
                    <a:gs pos="100000">
                      <a:schemeClr val="accent3">
                        <a:alpha val="76000"/>
                      </a:schemeClr>
                    </a:gs>
                  </a:gsLst>
                  <a:lin ang="0" scaled="0"/>
                </a:gradFill>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5C978D50-C507-411D-ADA3-C64C1D47E1C3}"/>
                  </a:ext>
                </a:extLst>
              </p:cNvPr>
              <p:cNvGrpSpPr/>
              <p:nvPr/>
            </p:nvGrpSpPr>
            <p:grpSpPr>
              <a:xfrm>
                <a:off x="5103473" y="1363109"/>
                <a:ext cx="87652" cy="87652"/>
                <a:chOff x="5103473" y="1363109"/>
                <a:chExt cx="87652" cy="87652"/>
              </a:xfrm>
            </p:grpSpPr>
            <p:sp>
              <p:nvSpPr>
                <p:cNvPr id="34" name="矩形 33">
                  <a:extLst>
                    <a:ext uri="{FF2B5EF4-FFF2-40B4-BE49-F238E27FC236}">
                      <a16:creationId xmlns:a16="http://schemas.microsoft.com/office/drawing/2014/main" id="{62A8DBC3-BA7C-42A5-BEBE-99AF7577AA5C}"/>
                    </a:ext>
                  </a:extLst>
                </p:cNvPr>
                <p:cNvSpPr/>
                <p:nvPr/>
              </p:nvSpPr>
              <p:spPr>
                <a:xfrm rot="2700000">
                  <a:off x="5122267" y="1381904"/>
                  <a:ext cx="50063" cy="50063"/>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6" name="矩形 35">
                  <a:extLst>
                    <a:ext uri="{FF2B5EF4-FFF2-40B4-BE49-F238E27FC236}">
                      <a16:creationId xmlns:a16="http://schemas.microsoft.com/office/drawing/2014/main" id="{775235A2-923A-4B8A-88FB-1C294842622C}"/>
                    </a:ext>
                  </a:extLst>
                </p:cNvPr>
                <p:cNvSpPr/>
                <p:nvPr/>
              </p:nvSpPr>
              <p:spPr>
                <a:xfrm rot="2700000">
                  <a:off x="5103473" y="1363109"/>
                  <a:ext cx="87652" cy="87652"/>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grpSp>
          <p:nvGrpSpPr>
            <p:cNvPr id="48" name="组合 47">
              <a:extLst>
                <a:ext uri="{FF2B5EF4-FFF2-40B4-BE49-F238E27FC236}">
                  <a16:creationId xmlns:a16="http://schemas.microsoft.com/office/drawing/2014/main" id="{F432F25D-4369-44EF-AD25-9C4F138AF8DC}"/>
                </a:ext>
              </a:extLst>
            </p:cNvPr>
            <p:cNvGrpSpPr/>
            <p:nvPr/>
          </p:nvGrpSpPr>
          <p:grpSpPr>
            <a:xfrm flipH="1">
              <a:off x="7287544" y="1363109"/>
              <a:ext cx="962523" cy="87652"/>
              <a:chOff x="4228602" y="1363109"/>
              <a:chExt cx="962523" cy="87652"/>
            </a:xfrm>
          </p:grpSpPr>
          <p:cxnSp>
            <p:nvCxnSpPr>
              <p:cNvPr id="49" name="直接连接符 48">
                <a:extLst>
                  <a:ext uri="{FF2B5EF4-FFF2-40B4-BE49-F238E27FC236}">
                    <a16:creationId xmlns:a16="http://schemas.microsoft.com/office/drawing/2014/main" id="{2475AE83-F118-4DF8-A93B-4668D1C05562}"/>
                  </a:ext>
                </a:extLst>
              </p:cNvPr>
              <p:cNvCxnSpPr/>
              <p:nvPr/>
            </p:nvCxnSpPr>
            <p:spPr>
              <a:xfrm>
                <a:off x="4228602" y="1406937"/>
                <a:ext cx="856343" cy="0"/>
              </a:xfrm>
              <a:prstGeom prst="line">
                <a:avLst/>
              </a:prstGeom>
              <a:ln w="22225" cap="rnd">
                <a:gradFill>
                  <a:gsLst>
                    <a:gs pos="0">
                      <a:schemeClr val="accent3">
                        <a:alpha val="0"/>
                      </a:schemeClr>
                    </a:gs>
                    <a:gs pos="100000">
                      <a:schemeClr val="accent3">
                        <a:alpha val="76000"/>
                      </a:schemeClr>
                    </a:gs>
                  </a:gsLst>
                  <a:lin ang="0" scaled="0"/>
                </a:gradFill>
                <a:tailEnd type="none" w="med" len="med"/>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5F11735F-5B76-48DD-94E1-860F87DBB6A8}"/>
                  </a:ext>
                </a:extLst>
              </p:cNvPr>
              <p:cNvGrpSpPr/>
              <p:nvPr/>
            </p:nvGrpSpPr>
            <p:grpSpPr>
              <a:xfrm>
                <a:off x="5103473" y="1363109"/>
                <a:ext cx="87652" cy="87652"/>
                <a:chOff x="5103473" y="1363109"/>
                <a:chExt cx="87652" cy="87652"/>
              </a:xfrm>
            </p:grpSpPr>
            <p:sp>
              <p:nvSpPr>
                <p:cNvPr id="51" name="矩形 50">
                  <a:extLst>
                    <a:ext uri="{FF2B5EF4-FFF2-40B4-BE49-F238E27FC236}">
                      <a16:creationId xmlns:a16="http://schemas.microsoft.com/office/drawing/2014/main" id="{6B356FEE-9AA3-462E-950A-ECF128545E3B}"/>
                    </a:ext>
                  </a:extLst>
                </p:cNvPr>
                <p:cNvSpPr/>
                <p:nvPr/>
              </p:nvSpPr>
              <p:spPr>
                <a:xfrm rot="2700000">
                  <a:off x="5122267" y="1381904"/>
                  <a:ext cx="50063" cy="50063"/>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52" name="矩形 51">
                  <a:extLst>
                    <a:ext uri="{FF2B5EF4-FFF2-40B4-BE49-F238E27FC236}">
                      <a16:creationId xmlns:a16="http://schemas.microsoft.com/office/drawing/2014/main" id="{033F66D8-3245-45E3-B897-27D27141EDFE}"/>
                    </a:ext>
                  </a:extLst>
                </p:cNvPr>
                <p:cNvSpPr/>
                <p:nvPr/>
              </p:nvSpPr>
              <p:spPr>
                <a:xfrm rot="2700000">
                  <a:off x="5103473" y="1363109"/>
                  <a:ext cx="87652" cy="87652"/>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grpSp>
    </p:spTree>
    <p:extLst>
      <p:ext uri="{BB962C8B-B14F-4D97-AF65-F5344CB8AC3E}">
        <p14:creationId xmlns:p14="http://schemas.microsoft.com/office/powerpoint/2010/main" val="1473223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171EDCD-8DDF-4F04-B956-24EBBA53C12C}"/>
              </a:ext>
            </a:extLst>
          </p:cNvPr>
          <p:cNvSpPr>
            <a:spLocks noGrp="1"/>
          </p:cNvSpPr>
          <p:nvPr>
            <p:ph type="body" sz="quarter" idx="10"/>
          </p:nvPr>
        </p:nvSpPr>
        <p:spPr/>
        <p:txBody>
          <a:bodyPr>
            <a:spAutoFit/>
          </a:bodyPr>
          <a:lstStyle/>
          <a:p>
            <a:r>
              <a:rPr lang="en-US" altLang="zh-CN" dirty="0"/>
              <a:t xml:space="preserve">01</a:t>
            </a:r>
          </a:p>
        </p:txBody>
      </p:sp>
      <p:sp>
        <p:nvSpPr>
          <p:cNvPr id="4" name="文本占位符 3">
            <a:extLst>
              <a:ext uri="{FF2B5EF4-FFF2-40B4-BE49-F238E27FC236}">
                <a16:creationId xmlns:a16="http://schemas.microsoft.com/office/drawing/2014/main" id="{75430996-678D-4517-8DEF-CCA6DB990153}"/>
              </a:ext>
            </a:extLst>
          </p:cNvPr>
          <p:cNvSpPr>
            <a:spLocks noGrp="1"/>
          </p:cNvSpPr>
          <p:nvPr>
            <p:ph type="body" sz="quarter" idx="11"/>
          </p:nvPr>
        </p:nvSpPr>
        <p:spPr>
          <a:xfrm>
            <a:off x="5524211" y="2266904"/>
            <a:ext cx="5867608" cy="830997"/>
          </a:xfrm>
        </p:spPr>
        <p:txBody>
          <a:bodyPr>
            <a:spAutoFit/>
          </a:bodyPr>
          <a:lstStyle/>
          <a:p>
            <a:pPr lvl="0">
              <a:lnSpc>
                <a:spcPct val="100000"/>
              </a:lnSpc>
              <a:spcBef>
                <a:spcPts val="0"/>
              </a:spcBef>
            </a:pPr>
            <a:r>
              <a:rPr lang="zh-CN" altLang="en-US" dirty="0">
                <a:solidFill>
                  <a:srgbClr val="006871"/>
                </a:solidFill>
              </a:rPr>
              <a:t xml:space="preserve">萌芽与积淀</a:t>
            </a:r>
          </a:p>
        </p:txBody>
      </p:sp>
      <p:sp>
        <p:nvSpPr>
          <p:cNvPr id="5" name="文本占位符 4">
            <a:extLst>
              <a:ext uri="{FF2B5EF4-FFF2-40B4-BE49-F238E27FC236}">
                <a16:creationId xmlns:a16="http://schemas.microsoft.com/office/drawing/2014/main" id="{8E45D747-ABDF-4942-9346-C81D39148924}"/>
              </a:ext>
            </a:extLst>
          </p:cNvPr>
          <p:cNvSpPr>
            <a:spLocks noGrp="1"/>
          </p:cNvSpPr>
          <p:nvPr>
            <p:ph type="body" sz="quarter" idx="12"/>
          </p:nvPr>
        </p:nvSpPr>
        <p:spPr>
          <a:xfrm>
            <a:off x="5524211" y="3132779"/>
            <a:ext cx="5867608" cy="249299"/>
          </a:xfrm>
        </p:spPr>
        <p:txBody>
          <a:bodyPr>
            <a:spAutoFit/>
          </a:bodyPr>
          <a:lstStyle/>
          <a:p>
            <a:r>
              <a:rPr lang="zh-CN" altLang="en-US" dirty="0"/>
              <a:t xml:space="preserve">Origins (1943—2005)</a:t>
            </a:r>
          </a:p>
        </p:txBody>
      </p:sp>
      <p:sp>
        <p:nvSpPr>
          <p:cNvPr id="6" name="文本占位符 5">
            <a:extLst>
              <a:ext uri="{FF2B5EF4-FFF2-40B4-BE49-F238E27FC236}">
                <a16:creationId xmlns:a16="http://schemas.microsoft.com/office/drawing/2014/main" id="{69177E69-52BB-4C86-A925-3F0C2D388E9C}"/>
              </a:ext>
            </a:extLst>
          </p:cNvPr>
          <p:cNvSpPr>
            <a:spLocks noGrp="1"/>
          </p:cNvSpPr>
          <p:nvPr>
            <p:ph type="body" sz="quarter" idx="13"/>
          </p:nvPr>
        </p:nvSpPr>
        <p:spPr>
          <a:xfrm>
            <a:off x="5524211" y="3757038"/>
            <a:ext cx="3518189" cy="707373"/>
          </a:xfrm>
        </p:spPr>
        <p:txBody>
          <a:bodyPr>
            <a:spAutoFit/>
          </a:bodyPr>
          <a:lstStyle/>
          <a:p>
            <a:pPr lvl="0"/>
            <a:r>
              <a:rPr lang="zh-CN" altLang="en-US" dirty="0">
                <a:solidFill>
                  <a:prstClr val="black">
                    <a:lumMod val="50000"/>
                    <a:lumOff val="50000"/>
                  </a:prstClr>
                </a:solidFill>
              </a:rPr>
              <a:t xml:space="preserve">连接主义的确立与两次 AI 寒冬</a:t>
            </a:r>
          </a:p>
        </p:txBody>
      </p:sp>
    </p:spTree>
    <p:extLst>
      <p:ext uri="{BB962C8B-B14F-4D97-AF65-F5344CB8AC3E}">
        <p14:creationId xmlns:p14="http://schemas.microsoft.com/office/powerpoint/2010/main" val="1431073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6595E5E-7412-4B81-B2B8-E865B73210B1}"/>
              </a:ext>
            </a:extLst>
          </p:cNvPr>
          <p:cNvSpPr/>
          <p:nvPr/>
        </p:nvSpPr>
        <p:spPr>
          <a:xfrm>
            <a:off x="1172628"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4" name="矩形 43">
            <a:extLst>
              <a:ext uri="{FF2B5EF4-FFF2-40B4-BE49-F238E27FC236}">
                <a16:creationId xmlns:a16="http://schemas.microsoft.com/office/drawing/2014/main" id="{546C4C66-7592-4C81-AB50-3DAA2EA67C52}"/>
              </a:ext>
            </a:extLst>
          </p:cNvPr>
          <p:cNvSpPr/>
          <p:nvPr/>
        </p:nvSpPr>
        <p:spPr>
          <a:xfrm>
            <a:off x="1280376"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公众惊叹</a:t>
            </a:r>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2240649"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08745FD-5E00-495C-BFCE-85659094E49E}"/>
              </a:ext>
            </a:extLst>
          </p:cNvPr>
          <p:cNvSpPr/>
          <p:nvPr/>
        </p:nvSpPr>
        <p:spPr>
          <a:xfrm>
            <a:off x="1458208"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ChatGPT 两月破亿引惊叹，公众误认 AI 突降，实为长期积累。</a:t>
            </a:r>
          </a:p>
        </p:txBody>
      </p:sp>
      <p:grpSp>
        <p:nvGrpSpPr>
          <p:cNvPr id="23" name="组合 22">
            <a:extLst>
              <a:ext uri="{FF2B5EF4-FFF2-40B4-BE49-F238E27FC236}">
                <a16:creationId xmlns:a16="http://schemas.microsoft.com/office/drawing/2014/main" id="{F35EE6F1-D64B-4442-8493-5A65DEB7D6D7}"/>
              </a:ext>
            </a:extLst>
          </p:cNvPr>
          <p:cNvGrpSpPr/>
          <p:nvPr/>
        </p:nvGrpSpPr>
        <p:grpSpPr>
          <a:xfrm>
            <a:off x="2317074" y="5164269"/>
            <a:ext cx="259309" cy="45720"/>
            <a:chOff x="2174965" y="5307240"/>
            <a:chExt cx="259309" cy="45720"/>
          </a:xfrm>
        </p:grpSpPr>
        <p:sp>
          <p:nvSpPr>
            <p:cNvPr id="24" name="椭圆 23">
              <a:extLst>
                <a:ext uri="{FF2B5EF4-FFF2-40B4-BE49-F238E27FC236}">
                  <a16:creationId xmlns:a16="http://schemas.microsoft.com/office/drawing/2014/main" id="{752C2F79-0767-4B29-8A5E-834DEED8F3DB}"/>
                </a:ext>
              </a:extLst>
            </p:cNvPr>
            <p:cNvSpPr/>
            <p:nvPr/>
          </p:nvSpPr>
          <p:spPr>
            <a:xfrm>
              <a:off x="2174965" y="5307240"/>
              <a:ext cx="45720" cy="457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6" name="椭圆 25">
              <a:extLst>
                <a:ext uri="{FF2B5EF4-FFF2-40B4-BE49-F238E27FC236}">
                  <a16:creationId xmlns:a16="http://schemas.microsoft.com/office/drawing/2014/main" id="{A0075F0E-CD96-4B3A-BF78-82B91ABA0A82}"/>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8" name="椭圆 27">
              <a:extLst>
                <a:ext uri="{FF2B5EF4-FFF2-40B4-BE49-F238E27FC236}">
                  <a16:creationId xmlns:a16="http://schemas.microsoft.com/office/drawing/2014/main" id="{0C136C17-8FB4-4EDE-8B26-C97D4E75EDA1}"/>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5" name="矩形: 折角 24">
            <a:extLst>
              <a:ext uri="{FF2B5EF4-FFF2-40B4-BE49-F238E27FC236}">
                <a16:creationId xmlns:a16="http://schemas.microsoft.com/office/drawing/2014/main" id="{119BD873-94D6-41D3-9DFF-1C1860249934}"/>
              </a:ext>
            </a:extLst>
          </p:cNvPr>
          <p:cNvSpPr/>
          <p:nvPr/>
        </p:nvSpPr>
        <p:spPr>
          <a:xfrm>
            <a:off x="4821900" y="1672302"/>
            <a:ext cx="2548200" cy="3653795"/>
          </a:xfrm>
          <a:prstGeom prst="foldedCorner">
            <a:avLst>
              <a:gd name="adj" fmla="val 12182"/>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a:extLst>
              <a:ext uri="{FF2B5EF4-FFF2-40B4-BE49-F238E27FC236}">
                <a16:creationId xmlns:a16="http://schemas.microsoft.com/office/drawing/2014/main" id="{F5D272BD-50CC-4678-8038-D81CED9D6A0D}"/>
              </a:ext>
            </a:extLst>
          </p:cNvPr>
          <p:cNvSpPr/>
          <p:nvPr/>
        </p:nvSpPr>
        <p:spPr>
          <a:xfrm>
            <a:off x="4929648"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技术史实</a:t>
            </a:r>
          </a:p>
        </p:txBody>
      </p:sp>
      <p:cxnSp>
        <p:nvCxnSpPr>
          <p:cNvPr id="30" name="直接连接符 29">
            <a:extLst>
              <a:ext uri="{FF2B5EF4-FFF2-40B4-BE49-F238E27FC236}">
                <a16:creationId xmlns:a16="http://schemas.microsoft.com/office/drawing/2014/main" id="{22A70707-D392-473B-87F7-C03AEA08FF67}"/>
              </a:ext>
            </a:extLst>
          </p:cNvPr>
          <p:cNvCxnSpPr>
            <a:cxnSpLocks/>
          </p:cNvCxnSpPr>
          <p:nvPr/>
        </p:nvCxnSpPr>
        <p:spPr>
          <a:xfrm>
            <a:off x="5889921"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AF1FEF86-440C-448B-904B-EF5D52A9E317}"/>
              </a:ext>
            </a:extLst>
          </p:cNvPr>
          <p:cNvSpPr/>
          <p:nvPr/>
        </p:nvSpPr>
        <p:spPr>
          <a:xfrm>
            <a:off x="5107480"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从技术史看，大模型是算力数据算法六十年协同积累的必然。</a:t>
            </a:r>
          </a:p>
        </p:txBody>
      </p:sp>
      <p:grpSp>
        <p:nvGrpSpPr>
          <p:cNvPr id="29" name="组合 28">
            <a:extLst>
              <a:ext uri="{FF2B5EF4-FFF2-40B4-BE49-F238E27FC236}">
                <a16:creationId xmlns:a16="http://schemas.microsoft.com/office/drawing/2014/main" id="{5C00CDEF-BAF1-4726-B12F-9412D019B464}"/>
              </a:ext>
            </a:extLst>
          </p:cNvPr>
          <p:cNvGrpSpPr/>
          <p:nvPr/>
        </p:nvGrpSpPr>
        <p:grpSpPr>
          <a:xfrm>
            <a:off x="5966346" y="5164269"/>
            <a:ext cx="259309" cy="45720"/>
            <a:chOff x="2174965" y="5307240"/>
            <a:chExt cx="259309" cy="45720"/>
          </a:xfrm>
        </p:grpSpPr>
        <p:sp>
          <p:nvSpPr>
            <p:cNvPr id="32" name="椭圆 31">
              <a:extLst>
                <a:ext uri="{FF2B5EF4-FFF2-40B4-BE49-F238E27FC236}">
                  <a16:creationId xmlns:a16="http://schemas.microsoft.com/office/drawing/2014/main" id="{595032D7-F09B-43F6-87BF-BC0FB163B87B}"/>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37" name="椭圆 36">
              <a:extLst>
                <a:ext uri="{FF2B5EF4-FFF2-40B4-BE49-F238E27FC236}">
                  <a16:creationId xmlns:a16="http://schemas.microsoft.com/office/drawing/2014/main" id="{CE829A2C-DC46-4451-918A-057058D759B6}"/>
                </a:ext>
              </a:extLst>
            </p:cNvPr>
            <p:cNvSpPr/>
            <p:nvPr/>
          </p:nvSpPr>
          <p:spPr>
            <a:xfrm>
              <a:off x="2278728"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2DE247BB-1354-427B-8FFE-2B3A669DA314}"/>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3" name="矩形: 圆角 32">
            <a:extLst>
              <a:ext uri="{FF2B5EF4-FFF2-40B4-BE49-F238E27FC236}">
                <a16:creationId xmlns:a16="http://schemas.microsoft.com/office/drawing/2014/main" id="{FAC004C3-57B0-4B98-B8D7-F3382A8BD161}"/>
              </a:ext>
            </a:extLst>
          </p:cNvPr>
          <p:cNvSpPr/>
          <p:nvPr/>
        </p:nvSpPr>
        <p:spPr>
          <a:xfrm>
            <a:off x="8471172"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矩形 33">
            <a:extLst>
              <a:ext uri="{FF2B5EF4-FFF2-40B4-BE49-F238E27FC236}">
                <a16:creationId xmlns:a16="http://schemas.microsoft.com/office/drawing/2014/main" id="{8017DDFB-C372-41F1-924E-06CE471AC517}"/>
              </a:ext>
            </a:extLst>
          </p:cNvPr>
          <p:cNvSpPr/>
          <p:nvPr/>
        </p:nvSpPr>
        <p:spPr>
          <a:xfrm>
            <a:off x="8578920"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研究分期</a:t>
            </a:r>
          </a:p>
        </p:txBody>
      </p:sp>
      <p:cxnSp>
        <p:nvCxnSpPr>
          <p:cNvPr id="35" name="直接连接符 34">
            <a:extLst>
              <a:ext uri="{FF2B5EF4-FFF2-40B4-BE49-F238E27FC236}">
                <a16:creationId xmlns:a16="http://schemas.microsoft.com/office/drawing/2014/main" id="{0B6D003E-FAA9-4439-887C-6A890DFAD0E3}"/>
              </a:ext>
            </a:extLst>
          </p:cNvPr>
          <p:cNvCxnSpPr>
            <a:cxnSpLocks/>
          </p:cNvCxnSpPr>
          <p:nvPr/>
        </p:nvCxnSpPr>
        <p:spPr>
          <a:xfrm>
            <a:off x="9539193"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F797F89-3860-4E04-8892-933C2ACF94D6}"/>
              </a:ext>
            </a:extLst>
          </p:cNvPr>
          <p:cNvSpPr/>
          <p:nvPr/>
        </p:nvSpPr>
        <p:spPr>
          <a:xfrm>
            <a:off x="8756752"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本文划为四阶段梳理演进逻辑，提供可参照的历史坐标。</a:t>
            </a:r>
          </a:p>
        </p:txBody>
      </p:sp>
      <p:grpSp>
        <p:nvGrpSpPr>
          <p:cNvPr id="43" name="组合 42">
            <a:extLst>
              <a:ext uri="{FF2B5EF4-FFF2-40B4-BE49-F238E27FC236}">
                <a16:creationId xmlns:a16="http://schemas.microsoft.com/office/drawing/2014/main" id="{927A192B-054D-4556-BE10-2EE8A008246D}"/>
              </a:ext>
            </a:extLst>
          </p:cNvPr>
          <p:cNvGrpSpPr/>
          <p:nvPr/>
        </p:nvGrpSpPr>
        <p:grpSpPr>
          <a:xfrm>
            <a:off x="9615618" y="5164269"/>
            <a:ext cx="259309" cy="45720"/>
            <a:chOff x="2174965" y="5307240"/>
            <a:chExt cx="259309" cy="45720"/>
          </a:xfrm>
        </p:grpSpPr>
        <p:sp>
          <p:nvSpPr>
            <p:cNvPr id="46" name="椭圆 45">
              <a:extLst>
                <a:ext uri="{FF2B5EF4-FFF2-40B4-BE49-F238E27FC236}">
                  <a16:creationId xmlns:a16="http://schemas.microsoft.com/office/drawing/2014/main" id="{A7CD82F4-3BF6-40C2-ACDF-D96717513E9D}"/>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7" name="椭圆 46">
              <a:extLst>
                <a:ext uri="{FF2B5EF4-FFF2-40B4-BE49-F238E27FC236}">
                  <a16:creationId xmlns:a16="http://schemas.microsoft.com/office/drawing/2014/main" id="{2D004D5F-6526-4330-82E0-8C6748E2E5C7}"/>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9" name="椭圆 48">
              <a:extLst>
                <a:ext uri="{FF2B5EF4-FFF2-40B4-BE49-F238E27FC236}">
                  <a16:creationId xmlns:a16="http://schemas.microsoft.com/office/drawing/2014/main" id="{3CAF9271-F626-417F-A6A2-5C8FEEEACBB2}"/>
                </a:ext>
              </a:extLst>
            </p:cNvPr>
            <p:cNvSpPr/>
            <p:nvPr/>
          </p:nvSpPr>
          <p:spPr>
            <a:xfrm>
              <a:off x="2388554"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占位符 10">
            <a:extLst>
              <a:ext uri="{FF2B5EF4-FFF2-40B4-BE49-F238E27FC236}">
                <a16:creationId xmlns:a16="http://schemas.microsoft.com/office/drawing/2014/main" id="{A5A452D6-AFBF-4A65-80EF-B451BD8974E9}"/>
              </a:ext>
            </a:extLst>
          </p:cNvPr>
          <p:cNvSpPr>
            <a:spLocks noGrp="1"/>
          </p:cNvSpPr>
          <p:nvPr>
            <p:ph type="body" sz="quarter" idx="10"/>
          </p:nvPr>
        </p:nvSpPr>
        <p:spPr>
          <a:xfrm>
            <a:off x="843917" y="371998"/>
            <a:ext cx="5252083" cy="360099"/>
          </a:xfrm>
        </p:spPr>
        <p:txBody>
          <a:bodyPr>
            <a:spAutoFit/>
          </a:bodyPr>
          <a:lstStyle/>
          <a:p>
            <a:r>
              <a:rPr lang="zh-CN" altLang="en-US" dirty="0"/>
              <a:t xml:space="preserve">大模型并非突变</a:t>
            </a:r>
          </a:p>
        </p:txBody>
      </p:sp>
    </p:spTree>
    <p:extLst>
      <p:ext uri="{BB962C8B-B14F-4D97-AF65-F5344CB8AC3E}">
        <p14:creationId xmlns:p14="http://schemas.microsoft.com/office/powerpoint/2010/main" val="4080946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任意多边形: 形状 8">
            <a:extLst>
              <a:ext uri="{FF2B5EF4-FFF2-40B4-BE49-F238E27FC236}">
                <a16:creationId xmlns:a16="http://schemas.microsoft.com/office/drawing/2014/main" id="{BA1F25A0-3116-4B35-A14B-DB2D89036DA1}"/>
              </a:ext>
            </a:extLst>
          </p:cNvPr>
          <p:cNvSpPr/>
          <p:nvPr/>
        </p:nvSpPr>
        <p:spPr>
          <a:xfrm>
            <a:off x="-501650" y="2780206"/>
            <a:ext cx="13195300" cy="2883310"/>
          </a:xfrm>
          <a:custGeom>
            <a:avLst/>
            <a:gdLst>
              <a:gd name="connsiteX0" fmla="*/ 0 w 7975600"/>
              <a:gd name="connsiteY0" fmla="*/ 3111500 h 3111500"/>
              <a:gd name="connsiteX1" fmla="*/ 4953000 w 7975600"/>
              <a:gd name="connsiteY1" fmla="*/ 2235200 h 3111500"/>
              <a:gd name="connsiteX2" fmla="*/ 7975600 w 7975600"/>
              <a:gd name="connsiteY2" fmla="*/ 0 h 3111500"/>
            </a:gdLst>
            <a:ahLst/>
            <a:cxnLst>
              <a:cxn ang="0">
                <a:pos x="connsiteX0" y="connsiteY0"/>
              </a:cxn>
              <a:cxn ang="0">
                <a:pos x="connsiteX1" y="connsiteY1"/>
              </a:cxn>
              <a:cxn ang="0">
                <a:pos x="connsiteX2" y="connsiteY2"/>
              </a:cxn>
            </a:cxnLst>
            <a:rect l="l" t="t" r="r" b="b"/>
            <a:pathLst>
              <a:path w="7975600" h="3111500">
                <a:moveTo>
                  <a:pt x="0" y="3111500"/>
                </a:moveTo>
                <a:cubicBezTo>
                  <a:pt x="1811866" y="2932641"/>
                  <a:pt x="3623733" y="2753783"/>
                  <a:pt x="4953000" y="2235200"/>
                </a:cubicBezTo>
                <a:cubicBezTo>
                  <a:pt x="6282267" y="1716617"/>
                  <a:pt x="7128933" y="858308"/>
                  <a:pt x="7975600" y="0"/>
                </a:cubicBez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椭圆 9">
            <a:extLst>
              <a:ext uri="{FF2B5EF4-FFF2-40B4-BE49-F238E27FC236}">
                <a16:creationId xmlns:a16="http://schemas.microsoft.com/office/drawing/2014/main" id="{31B2DBED-9728-4706-AEB3-10EF6496679D}"/>
              </a:ext>
            </a:extLst>
          </p:cNvPr>
          <p:cNvSpPr/>
          <p:nvPr/>
        </p:nvSpPr>
        <p:spPr>
          <a:xfrm>
            <a:off x="1341875" y="5469868"/>
            <a:ext cx="162232" cy="162232"/>
          </a:xfrm>
          <a:prstGeom prst="ellipse">
            <a:avLst/>
          </a:prstGeom>
          <a:solidFill>
            <a:schemeClr val="accent5"/>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1" name="文本框 10">
            <a:extLst>
              <a:ext uri="{FF2B5EF4-FFF2-40B4-BE49-F238E27FC236}">
                <a16:creationId xmlns:a16="http://schemas.microsoft.com/office/drawing/2014/main" id="{4A751006-1053-4250-858A-F139D85F34EA}"/>
              </a:ext>
            </a:extLst>
          </p:cNvPr>
          <p:cNvSpPr txBox="1"/>
          <p:nvPr/>
        </p:nvSpPr>
        <p:spPr>
          <a:xfrm>
            <a:off x="940391" y="5665011"/>
            <a:ext cx="965200" cy="369332"/>
          </a:xfrm>
          <a:prstGeom prst="rect">
            <a:avLst/>
          </a:prstGeom>
          <a:noFill/>
        </p:spPr>
        <p:txBody>
          <a:bodyPr wrap="square" rtlCol="0">
            <a:spAutoFit/>
          </a:bodyPr>
          <a:lstStyle/>
          <a:p>
            <a:pPr algn="ctr"/>
            <a:r>
              <a:rPr lang="en-US" altLang="zh-CN" b="1" dirty="0">
                <a:solidFill>
                  <a:schemeClr val="accent1"/>
                </a:solidFill>
                <a:latin typeface="+mn-ea"/>
              </a:rPr>
              <a:t xml:space="preserve">1943</a:t>
            </a:r>
          </a:p>
        </p:txBody>
      </p:sp>
      <p:cxnSp>
        <p:nvCxnSpPr>
          <p:cNvPr id="13" name="直接连接符 12">
            <a:extLst>
              <a:ext uri="{FF2B5EF4-FFF2-40B4-BE49-F238E27FC236}">
                <a16:creationId xmlns:a16="http://schemas.microsoft.com/office/drawing/2014/main" id="{CDFE298C-4C33-4AC8-A9ED-A67D578A0F34}"/>
              </a:ext>
            </a:extLst>
          </p:cNvPr>
          <p:cNvCxnSpPr>
            <a:cxnSpLocks/>
          </p:cNvCxnSpPr>
          <p:nvPr/>
        </p:nvCxnSpPr>
        <p:spPr>
          <a:xfrm>
            <a:off x="1422991" y="3363820"/>
            <a:ext cx="0" cy="2184976"/>
          </a:xfrm>
          <a:prstGeom prst="line">
            <a:avLst/>
          </a:prstGeom>
          <a:ln w="19050" cap="rnd">
            <a:gradFill>
              <a:gsLst>
                <a:gs pos="0">
                  <a:schemeClr val="accent5"/>
                </a:gs>
                <a:gs pos="100000">
                  <a:schemeClr val="accent5">
                    <a:alpha val="0"/>
                  </a:schemeClr>
                </a:gs>
              </a:gsLst>
              <a:lin ang="5400000" scaled="1"/>
            </a:gradFill>
            <a:headEnd type="diamond"/>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1B81328F-4E62-43B6-8B2B-CCBCE28E5496}"/>
              </a:ext>
            </a:extLst>
          </p:cNvPr>
          <p:cNvSpPr txBox="1"/>
          <p:nvPr/>
        </p:nvSpPr>
        <p:spPr>
          <a:xfrm>
            <a:off x="1606323" y="3306553"/>
            <a:ext cx="1118342" cy="307777"/>
          </a:xfrm>
          <a:prstGeom prst="rect">
            <a:avLst/>
          </a:prstGeom>
          <a:noFill/>
        </p:spPr>
        <p:txBody>
          <a:bodyPr wrap="square" lIns="0" tIns="0" rIns="0" bIns="0" rtlCol="0">
            <a:spAutoFit/>
          </a:bodyPr>
          <a:lstStyle/>
          <a:p>
            <a:r>
              <a:rPr lang="zh-CN" altLang="en-US" sz="2000" b="1" dirty="0">
                <a:solidFill>
                  <a:schemeClr val="accent1"/>
                </a:solidFill>
                <a:latin typeface="+mj-ea"/>
                <a:ea typeface="+mj-ea"/>
              </a:rPr>
              <a:t xml:space="preserve">神经元模型</a:t>
            </a:r>
          </a:p>
        </p:txBody>
      </p:sp>
      <p:sp>
        <p:nvSpPr>
          <p:cNvPr id="35" name="文本框 34">
            <a:extLst>
              <a:ext uri="{FF2B5EF4-FFF2-40B4-BE49-F238E27FC236}">
                <a16:creationId xmlns:a16="http://schemas.microsoft.com/office/drawing/2014/main" id="{90BA4238-A1A7-469D-B8E4-09461CADFB3A}"/>
              </a:ext>
            </a:extLst>
          </p:cNvPr>
          <p:cNvSpPr txBox="1"/>
          <p:nvPr/>
        </p:nvSpPr>
        <p:spPr>
          <a:xfrm>
            <a:off x="1606323" y="3647893"/>
            <a:ext cx="1475068" cy="1433854"/>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McCulloch 与 Pitts 提出神经元模型，奠定连接主义基础。</a:t>
            </a:r>
          </a:p>
        </p:txBody>
      </p:sp>
      <p:sp>
        <p:nvSpPr>
          <p:cNvPr id="20" name="椭圆 19">
            <a:extLst>
              <a:ext uri="{FF2B5EF4-FFF2-40B4-BE49-F238E27FC236}">
                <a16:creationId xmlns:a16="http://schemas.microsoft.com/office/drawing/2014/main" id="{3EB03417-0273-45B6-A1E2-050D62C019D0}"/>
              </a:ext>
            </a:extLst>
          </p:cNvPr>
          <p:cNvSpPr/>
          <p:nvPr/>
        </p:nvSpPr>
        <p:spPr>
          <a:xfrm>
            <a:off x="4027356" y="5263447"/>
            <a:ext cx="162232" cy="162232"/>
          </a:xfrm>
          <a:prstGeom prst="ellipse">
            <a:avLst/>
          </a:prstGeom>
          <a:solidFill>
            <a:schemeClr val="accent5"/>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3" name="文本框 22">
            <a:extLst>
              <a:ext uri="{FF2B5EF4-FFF2-40B4-BE49-F238E27FC236}">
                <a16:creationId xmlns:a16="http://schemas.microsoft.com/office/drawing/2014/main" id="{AC4283CF-A1A4-40B7-8C74-E479F6A3F8E0}"/>
              </a:ext>
            </a:extLst>
          </p:cNvPr>
          <p:cNvSpPr txBox="1"/>
          <p:nvPr/>
        </p:nvSpPr>
        <p:spPr>
          <a:xfrm>
            <a:off x="3625872" y="5499655"/>
            <a:ext cx="965200" cy="369332"/>
          </a:xfrm>
          <a:prstGeom prst="rect">
            <a:avLst/>
          </a:prstGeom>
          <a:noFill/>
        </p:spPr>
        <p:txBody>
          <a:bodyPr wrap="square" rtlCol="0">
            <a:spAutoFit/>
          </a:bodyPr>
          <a:lstStyle/>
          <a:p>
            <a:pPr algn="ctr"/>
            <a:r>
              <a:rPr lang="en-US" altLang="zh-CN" b="1" dirty="0">
                <a:solidFill>
                  <a:schemeClr val="accent1"/>
                </a:solidFill>
                <a:latin typeface="+mn-ea"/>
              </a:rPr>
              <a:t xml:space="preserve">1956</a:t>
            </a:r>
          </a:p>
        </p:txBody>
      </p:sp>
      <p:cxnSp>
        <p:nvCxnSpPr>
          <p:cNvPr id="40" name="直接连接符 39">
            <a:extLst>
              <a:ext uri="{FF2B5EF4-FFF2-40B4-BE49-F238E27FC236}">
                <a16:creationId xmlns:a16="http://schemas.microsoft.com/office/drawing/2014/main" id="{659951F7-3280-4ECB-B556-C432A655C085}"/>
              </a:ext>
            </a:extLst>
          </p:cNvPr>
          <p:cNvCxnSpPr>
            <a:cxnSpLocks/>
          </p:cNvCxnSpPr>
          <p:nvPr/>
        </p:nvCxnSpPr>
        <p:spPr>
          <a:xfrm>
            <a:off x="4108287" y="2942252"/>
            <a:ext cx="0" cy="2404051"/>
          </a:xfrm>
          <a:prstGeom prst="line">
            <a:avLst/>
          </a:prstGeom>
          <a:ln w="19050" cap="rnd">
            <a:gradFill>
              <a:gsLst>
                <a:gs pos="0">
                  <a:schemeClr val="accent5"/>
                </a:gs>
                <a:gs pos="100000">
                  <a:schemeClr val="accent5">
                    <a:alpha val="0"/>
                  </a:schemeClr>
                </a:gs>
              </a:gsLst>
              <a:lin ang="5400000" scaled="1"/>
            </a:gradFill>
            <a:headEnd type="diamond"/>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1020EEEF-4ACB-453B-AA28-2BDAA057EF7B}"/>
              </a:ext>
            </a:extLst>
          </p:cNvPr>
          <p:cNvSpPr txBox="1"/>
          <p:nvPr/>
        </p:nvSpPr>
        <p:spPr>
          <a:xfrm>
            <a:off x="4291619" y="2881897"/>
            <a:ext cx="1118342" cy="307777"/>
          </a:xfrm>
          <a:prstGeom prst="rect">
            <a:avLst/>
          </a:prstGeom>
          <a:noFill/>
        </p:spPr>
        <p:txBody>
          <a:bodyPr wrap="square" lIns="0" tIns="0" rIns="0" bIns="0" rtlCol="0">
            <a:spAutoFit/>
          </a:bodyPr>
          <a:lstStyle/>
          <a:p>
            <a:r>
              <a:rPr lang="zh-CN" altLang="en-US" sz="2000" b="1" dirty="0">
                <a:solidFill>
                  <a:schemeClr val="accent1"/>
                </a:solidFill>
                <a:latin typeface="+mj-ea"/>
                <a:ea typeface="+mj-ea"/>
              </a:rPr>
              <a:t xml:space="preserve">学科确立</a:t>
            </a:r>
          </a:p>
        </p:txBody>
      </p:sp>
      <p:sp>
        <p:nvSpPr>
          <p:cNvPr id="42" name="文本框 41">
            <a:extLst>
              <a:ext uri="{FF2B5EF4-FFF2-40B4-BE49-F238E27FC236}">
                <a16:creationId xmlns:a16="http://schemas.microsoft.com/office/drawing/2014/main" id="{F6A6184A-745B-42E0-9E09-DDF7F6180F97}"/>
              </a:ext>
            </a:extLst>
          </p:cNvPr>
          <p:cNvSpPr txBox="1"/>
          <p:nvPr/>
        </p:nvSpPr>
        <p:spPr>
          <a:xfrm>
            <a:off x="4291619" y="3223237"/>
            <a:ext cx="1475068" cy="1433854"/>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达特茅斯会议正式命名人工智能，连接主义路线获认可。</a:t>
            </a:r>
          </a:p>
        </p:txBody>
      </p:sp>
      <p:sp>
        <p:nvSpPr>
          <p:cNvPr id="21" name="椭圆 20">
            <a:extLst>
              <a:ext uri="{FF2B5EF4-FFF2-40B4-BE49-F238E27FC236}">
                <a16:creationId xmlns:a16="http://schemas.microsoft.com/office/drawing/2014/main" id="{25BD924F-F25C-48E3-BD0E-47AA82AF0C65}"/>
              </a:ext>
            </a:extLst>
          </p:cNvPr>
          <p:cNvSpPr/>
          <p:nvPr/>
        </p:nvSpPr>
        <p:spPr>
          <a:xfrm>
            <a:off x="6712837" y="4930791"/>
            <a:ext cx="162232" cy="162232"/>
          </a:xfrm>
          <a:prstGeom prst="ellipse">
            <a:avLst/>
          </a:prstGeom>
          <a:solidFill>
            <a:schemeClr val="accent5"/>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4" name="文本框 23">
            <a:extLst>
              <a:ext uri="{FF2B5EF4-FFF2-40B4-BE49-F238E27FC236}">
                <a16:creationId xmlns:a16="http://schemas.microsoft.com/office/drawing/2014/main" id="{EE5F24BF-4BC7-4D42-9B87-1326D90CABF5}"/>
              </a:ext>
            </a:extLst>
          </p:cNvPr>
          <p:cNvSpPr txBox="1"/>
          <p:nvPr/>
        </p:nvSpPr>
        <p:spPr>
          <a:xfrm>
            <a:off x="6311353" y="5122579"/>
            <a:ext cx="965200" cy="369332"/>
          </a:xfrm>
          <a:prstGeom prst="rect">
            <a:avLst/>
          </a:prstGeom>
          <a:noFill/>
        </p:spPr>
        <p:txBody>
          <a:bodyPr wrap="square" rtlCol="0">
            <a:spAutoFit/>
          </a:bodyPr>
          <a:lstStyle/>
          <a:p>
            <a:pPr algn="ctr"/>
            <a:r>
              <a:rPr lang="en-US" altLang="zh-CN" b="1" dirty="0">
                <a:solidFill>
                  <a:schemeClr val="accent1"/>
                </a:solidFill>
                <a:latin typeface="+mn-ea"/>
              </a:rPr>
              <a:t xml:space="preserve">1958</a:t>
            </a:r>
          </a:p>
        </p:txBody>
      </p:sp>
      <p:cxnSp>
        <p:nvCxnSpPr>
          <p:cNvPr id="43" name="直接连接符 42">
            <a:extLst>
              <a:ext uri="{FF2B5EF4-FFF2-40B4-BE49-F238E27FC236}">
                <a16:creationId xmlns:a16="http://schemas.microsoft.com/office/drawing/2014/main" id="{E4CBB3FF-1F43-4C63-9FB4-275A12D3B84C}"/>
              </a:ext>
            </a:extLst>
          </p:cNvPr>
          <p:cNvCxnSpPr>
            <a:cxnSpLocks/>
          </p:cNvCxnSpPr>
          <p:nvPr/>
        </p:nvCxnSpPr>
        <p:spPr>
          <a:xfrm>
            <a:off x="6797234" y="2393154"/>
            <a:ext cx="0" cy="2622523"/>
          </a:xfrm>
          <a:prstGeom prst="line">
            <a:avLst/>
          </a:prstGeom>
          <a:ln w="19050" cap="rnd">
            <a:gradFill>
              <a:gsLst>
                <a:gs pos="0">
                  <a:schemeClr val="accent5"/>
                </a:gs>
                <a:gs pos="100000">
                  <a:schemeClr val="accent5">
                    <a:alpha val="0"/>
                  </a:schemeClr>
                </a:gs>
              </a:gsLst>
              <a:lin ang="5400000" scaled="1"/>
            </a:gradFill>
            <a:headEnd type="diamond"/>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B52BC167-707B-486A-A78F-E86CEB778449}"/>
              </a:ext>
            </a:extLst>
          </p:cNvPr>
          <p:cNvSpPr txBox="1"/>
          <p:nvPr/>
        </p:nvSpPr>
        <p:spPr>
          <a:xfrm>
            <a:off x="6980566" y="2345531"/>
            <a:ext cx="1118342" cy="307777"/>
          </a:xfrm>
          <a:prstGeom prst="rect">
            <a:avLst/>
          </a:prstGeom>
          <a:noFill/>
        </p:spPr>
        <p:txBody>
          <a:bodyPr wrap="square" lIns="0" tIns="0" rIns="0" bIns="0" rtlCol="0">
            <a:spAutoFit/>
          </a:bodyPr>
          <a:lstStyle/>
          <a:p>
            <a:r>
              <a:rPr lang="zh-CN" altLang="en-US" sz="2000" b="1" dirty="0">
                <a:solidFill>
                  <a:schemeClr val="accent1"/>
                </a:solidFill>
                <a:latin typeface="+mj-ea"/>
                <a:ea typeface="+mj-ea"/>
              </a:rPr>
              <a:t xml:space="preserve">感知机热潮</a:t>
            </a:r>
          </a:p>
        </p:txBody>
      </p:sp>
      <p:sp>
        <p:nvSpPr>
          <p:cNvPr id="45" name="文本框 44">
            <a:extLst>
              <a:ext uri="{FF2B5EF4-FFF2-40B4-BE49-F238E27FC236}">
                <a16:creationId xmlns:a16="http://schemas.microsoft.com/office/drawing/2014/main" id="{F81C1521-32A2-40F2-B92D-36A07204C2C2}"/>
              </a:ext>
            </a:extLst>
          </p:cNvPr>
          <p:cNvSpPr txBox="1"/>
          <p:nvPr/>
        </p:nvSpPr>
        <p:spPr>
          <a:xfrm>
            <a:off x="6980566" y="2686871"/>
            <a:ext cx="1475068" cy="1433854"/>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Rosenblatt 感知机掀首波热潮，1969 寒冬因异或瓶颈降临。</a:t>
            </a:r>
          </a:p>
        </p:txBody>
      </p:sp>
      <p:sp>
        <p:nvSpPr>
          <p:cNvPr id="22" name="椭圆 21">
            <a:extLst>
              <a:ext uri="{FF2B5EF4-FFF2-40B4-BE49-F238E27FC236}">
                <a16:creationId xmlns:a16="http://schemas.microsoft.com/office/drawing/2014/main" id="{86A25615-6725-43C2-B149-F6C02F6E3F2E}"/>
              </a:ext>
            </a:extLst>
          </p:cNvPr>
          <p:cNvSpPr/>
          <p:nvPr/>
        </p:nvSpPr>
        <p:spPr>
          <a:xfrm>
            <a:off x="9398317" y="4259773"/>
            <a:ext cx="162232" cy="162232"/>
          </a:xfrm>
          <a:prstGeom prst="ellipse">
            <a:avLst/>
          </a:prstGeom>
          <a:solidFill>
            <a:schemeClr val="accent5"/>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5" name="文本框 24">
            <a:extLst>
              <a:ext uri="{FF2B5EF4-FFF2-40B4-BE49-F238E27FC236}">
                <a16:creationId xmlns:a16="http://schemas.microsoft.com/office/drawing/2014/main" id="{AF422928-F33B-4B8F-87D4-1E36C1FA7609}"/>
              </a:ext>
            </a:extLst>
          </p:cNvPr>
          <p:cNvSpPr txBox="1"/>
          <p:nvPr/>
        </p:nvSpPr>
        <p:spPr>
          <a:xfrm>
            <a:off x="8996833" y="4492908"/>
            <a:ext cx="965200" cy="369332"/>
          </a:xfrm>
          <a:prstGeom prst="rect">
            <a:avLst/>
          </a:prstGeom>
          <a:noFill/>
        </p:spPr>
        <p:txBody>
          <a:bodyPr wrap="square" rtlCol="0">
            <a:spAutoFit/>
          </a:bodyPr>
          <a:lstStyle/>
          <a:p>
            <a:pPr algn="ctr"/>
            <a:r>
              <a:rPr lang="en-US" altLang="zh-CN" b="1" dirty="0">
                <a:solidFill>
                  <a:schemeClr val="accent1"/>
                </a:solidFill>
                <a:latin typeface="+mn-ea"/>
              </a:rPr>
              <a:t xml:space="preserve">1986</a:t>
            </a:r>
          </a:p>
        </p:txBody>
      </p:sp>
      <p:cxnSp>
        <p:nvCxnSpPr>
          <p:cNvPr id="46" name="直接连接符 45">
            <a:extLst>
              <a:ext uri="{FF2B5EF4-FFF2-40B4-BE49-F238E27FC236}">
                <a16:creationId xmlns:a16="http://schemas.microsoft.com/office/drawing/2014/main" id="{8A2107B1-3F46-4B0B-8C3F-C7E0507A5608}"/>
              </a:ext>
            </a:extLst>
          </p:cNvPr>
          <p:cNvCxnSpPr>
            <a:cxnSpLocks/>
          </p:cNvCxnSpPr>
          <p:nvPr/>
        </p:nvCxnSpPr>
        <p:spPr>
          <a:xfrm>
            <a:off x="9479356" y="1771462"/>
            <a:ext cx="0" cy="2572881"/>
          </a:xfrm>
          <a:prstGeom prst="line">
            <a:avLst/>
          </a:prstGeom>
          <a:ln w="19050" cap="rnd">
            <a:gradFill>
              <a:gsLst>
                <a:gs pos="0">
                  <a:schemeClr val="accent5"/>
                </a:gs>
                <a:gs pos="100000">
                  <a:schemeClr val="accent5">
                    <a:alpha val="0"/>
                  </a:schemeClr>
                </a:gs>
              </a:gsLst>
              <a:lin ang="5400000" scaled="1"/>
            </a:gradFill>
            <a:headEnd type="diamond"/>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32E6B225-8523-4743-B3EA-721711273D3B}"/>
              </a:ext>
            </a:extLst>
          </p:cNvPr>
          <p:cNvSpPr txBox="1"/>
          <p:nvPr/>
        </p:nvSpPr>
        <p:spPr>
          <a:xfrm>
            <a:off x="9662688" y="1714837"/>
            <a:ext cx="1118342" cy="307777"/>
          </a:xfrm>
          <a:prstGeom prst="rect">
            <a:avLst/>
          </a:prstGeom>
          <a:noFill/>
        </p:spPr>
        <p:txBody>
          <a:bodyPr wrap="square" lIns="0" tIns="0" rIns="0" bIns="0" rtlCol="0">
            <a:spAutoFit/>
          </a:bodyPr>
          <a:lstStyle/>
          <a:p>
            <a:r>
              <a:rPr lang="zh-CN" altLang="en-US" sz="2000" b="1" dirty="0">
                <a:solidFill>
                  <a:schemeClr val="accent1"/>
                </a:solidFill>
                <a:latin typeface="+mj-ea"/>
                <a:ea typeface="+mj-ea"/>
              </a:rPr>
              <a:t xml:space="preserve">反向传播</a:t>
            </a:r>
          </a:p>
        </p:txBody>
      </p:sp>
      <p:sp>
        <p:nvSpPr>
          <p:cNvPr id="48" name="文本框 47">
            <a:extLst>
              <a:ext uri="{FF2B5EF4-FFF2-40B4-BE49-F238E27FC236}">
                <a16:creationId xmlns:a16="http://schemas.microsoft.com/office/drawing/2014/main" id="{F2AFC223-5FE6-4226-96DD-AED3F4AC66FC}"/>
              </a:ext>
            </a:extLst>
          </p:cNvPr>
          <p:cNvSpPr txBox="1"/>
          <p:nvPr/>
        </p:nvSpPr>
        <p:spPr>
          <a:xfrm>
            <a:off x="9662688" y="2056177"/>
            <a:ext cx="1475068" cy="1433854"/>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反向传播突破单层瓶颈，专家系统落地后再因成本低谷。</a:t>
            </a:r>
          </a:p>
        </p:txBody>
      </p:sp>
      <p:sp>
        <p:nvSpPr>
          <p:cNvPr id="4" name="文本占位符 3">
            <a:extLst>
              <a:ext uri="{FF2B5EF4-FFF2-40B4-BE49-F238E27FC236}">
                <a16:creationId xmlns:a16="http://schemas.microsoft.com/office/drawing/2014/main" id="{FC4D3820-2CD6-4DB8-82C1-356557B8A0B8}"/>
              </a:ext>
            </a:extLst>
          </p:cNvPr>
          <p:cNvSpPr>
            <a:spLocks noGrp="1"/>
          </p:cNvSpPr>
          <p:nvPr>
            <p:ph type="body" sz="quarter" idx="10"/>
          </p:nvPr>
        </p:nvSpPr>
        <p:spPr>
          <a:xfrm>
            <a:off x="843917" y="371998"/>
            <a:ext cx="5252083" cy="360099"/>
          </a:xfrm>
        </p:spPr>
        <p:txBody>
          <a:bodyPr>
            <a:spAutoFit/>
          </a:bodyPr>
          <a:lstStyle/>
          <a:p>
            <a:r>
              <a:rPr lang="zh-CN" altLang="en-US" dirty="0"/>
              <a:t xml:space="preserve">萌芽与积淀（1943—2005）</a:t>
            </a:r>
          </a:p>
        </p:txBody>
      </p:sp>
    </p:spTree>
    <p:extLst>
      <p:ext uri="{BB962C8B-B14F-4D97-AF65-F5344CB8AC3E}">
        <p14:creationId xmlns:p14="http://schemas.microsoft.com/office/powerpoint/2010/main" val="3384162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171EDCD-8DDF-4F04-B956-24EBBA53C12C}"/>
              </a:ext>
            </a:extLst>
          </p:cNvPr>
          <p:cNvSpPr>
            <a:spLocks noGrp="1"/>
          </p:cNvSpPr>
          <p:nvPr>
            <p:ph type="body" sz="quarter" idx="10"/>
          </p:nvPr>
        </p:nvSpPr>
        <p:spPr/>
        <p:txBody>
          <a:bodyPr>
            <a:spAutoFit/>
          </a:bodyPr>
          <a:lstStyle/>
          <a:p>
            <a:r>
              <a:rPr lang="en-US" altLang="zh-CN" dirty="0"/>
              <a:t xml:space="preserve">02</a:t>
            </a:r>
          </a:p>
        </p:txBody>
      </p:sp>
      <p:sp>
        <p:nvSpPr>
          <p:cNvPr id="4" name="文本占位符 3">
            <a:extLst>
              <a:ext uri="{FF2B5EF4-FFF2-40B4-BE49-F238E27FC236}">
                <a16:creationId xmlns:a16="http://schemas.microsoft.com/office/drawing/2014/main" id="{75430996-678D-4517-8DEF-CCA6DB990153}"/>
              </a:ext>
            </a:extLst>
          </p:cNvPr>
          <p:cNvSpPr>
            <a:spLocks noGrp="1"/>
          </p:cNvSpPr>
          <p:nvPr>
            <p:ph type="body" sz="quarter" idx="11"/>
          </p:nvPr>
        </p:nvSpPr>
        <p:spPr>
          <a:xfrm>
            <a:off x="5524211" y="2266904"/>
            <a:ext cx="5867608" cy="830997"/>
          </a:xfrm>
        </p:spPr>
        <p:txBody>
          <a:bodyPr>
            <a:spAutoFit/>
          </a:bodyPr>
          <a:lstStyle/>
          <a:p>
            <a:pPr lvl="0">
              <a:lnSpc>
                <a:spcPct val="100000"/>
              </a:lnSpc>
              <a:spcBef>
                <a:spcPts val="0"/>
              </a:spcBef>
            </a:pPr>
            <a:r>
              <a:rPr lang="zh-CN" altLang="en-US" dirty="0">
                <a:solidFill>
                  <a:srgbClr val="006871"/>
                </a:solidFill>
              </a:rPr>
              <a:t xml:space="preserve">深度学习革命</a:t>
            </a:r>
          </a:p>
        </p:txBody>
      </p:sp>
      <p:sp>
        <p:nvSpPr>
          <p:cNvPr id="5" name="文本占位符 4">
            <a:extLst>
              <a:ext uri="{FF2B5EF4-FFF2-40B4-BE49-F238E27FC236}">
                <a16:creationId xmlns:a16="http://schemas.microsoft.com/office/drawing/2014/main" id="{8E45D747-ABDF-4942-9346-C81D39148924}"/>
              </a:ext>
            </a:extLst>
          </p:cNvPr>
          <p:cNvSpPr>
            <a:spLocks noGrp="1"/>
          </p:cNvSpPr>
          <p:nvPr>
            <p:ph type="body" sz="quarter" idx="12"/>
          </p:nvPr>
        </p:nvSpPr>
        <p:spPr>
          <a:xfrm>
            <a:off x="5524211" y="3132779"/>
            <a:ext cx="5867608" cy="249299"/>
          </a:xfrm>
        </p:spPr>
        <p:txBody>
          <a:bodyPr>
            <a:spAutoFit/>
          </a:bodyPr>
          <a:lstStyle/>
          <a:p>
            <a:r>
              <a:rPr lang="zh-CN" altLang="en-US" dirty="0"/>
              <a:t xml:space="preserve">Deep Learning (2006—2016)</a:t>
            </a:r>
          </a:p>
        </p:txBody>
      </p:sp>
      <p:sp>
        <p:nvSpPr>
          <p:cNvPr id="6" name="文本占位符 5">
            <a:extLst>
              <a:ext uri="{FF2B5EF4-FFF2-40B4-BE49-F238E27FC236}">
                <a16:creationId xmlns:a16="http://schemas.microsoft.com/office/drawing/2014/main" id="{69177E69-52BB-4C86-A925-3F0C2D388E9C}"/>
              </a:ext>
            </a:extLst>
          </p:cNvPr>
          <p:cNvSpPr>
            <a:spLocks noGrp="1"/>
          </p:cNvSpPr>
          <p:nvPr>
            <p:ph type="body" sz="quarter" idx="13"/>
          </p:nvPr>
        </p:nvSpPr>
        <p:spPr>
          <a:xfrm>
            <a:off x="5524211" y="3757038"/>
            <a:ext cx="3518189" cy="707373"/>
          </a:xfrm>
        </p:spPr>
        <p:txBody>
          <a:bodyPr>
            <a:spAutoFit/>
          </a:bodyPr>
          <a:lstStyle/>
          <a:p>
            <a:pPr lvl="0"/>
            <a:r>
              <a:rPr lang="zh-CN" altLang="en-US" dirty="0">
                <a:solidFill>
                  <a:prstClr val="black">
                    <a:lumMod val="50000"/>
                    <a:lumOff val="50000"/>
                  </a:prstClr>
                </a:solidFill>
              </a:rPr>
              <a:t xml:space="preserve">数据、算力与算法的初步共振</a:t>
            </a:r>
          </a:p>
        </p:txBody>
      </p:sp>
    </p:spTree>
    <p:extLst>
      <p:ext uri="{BB962C8B-B14F-4D97-AF65-F5344CB8AC3E}">
        <p14:creationId xmlns:p14="http://schemas.microsoft.com/office/powerpoint/2010/main" val="1431073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6595E5E-7412-4B81-B2B8-E865B73210B1}"/>
              </a:ext>
            </a:extLst>
          </p:cNvPr>
          <p:cNvSpPr/>
          <p:nvPr/>
        </p:nvSpPr>
        <p:spPr>
          <a:xfrm>
            <a:off x="1172628"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4" name="矩形 43">
            <a:extLst>
              <a:ext uri="{FF2B5EF4-FFF2-40B4-BE49-F238E27FC236}">
                <a16:creationId xmlns:a16="http://schemas.microsoft.com/office/drawing/2014/main" id="{546C4C66-7592-4C81-AB50-3DAA2EA67C52}"/>
              </a:ext>
            </a:extLst>
          </p:cNvPr>
          <p:cNvSpPr/>
          <p:nvPr/>
        </p:nvSpPr>
        <p:spPr>
          <a:xfrm>
            <a:off x="1280376"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逐层预训练</a:t>
            </a:r>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2240649"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08745FD-5E00-495C-BFCE-85659094E49E}"/>
              </a:ext>
            </a:extLst>
          </p:cNvPr>
          <p:cNvSpPr/>
          <p:nvPr/>
        </p:nvSpPr>
        <p:spPr>
          <a:xfrm>
            <a:off x="1458208"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2006 年 Hinton 逐层预训练深层网络，重燃深度网络研究。</a:t>
            </a:r>
          </a:p>
        </p:txBody>
      </p:sp>
      <p:grpSp>
        <p:nvGrpSpPr>
          <p:cNvPr id="23" name="组合 22">
            <a:extLst>
              <a:ext uri="{FF2B5EF4-FFF2-40B4-BE49-F238E27FC236}">
                <a16:creationId xmlns:a16="http://schemas.microsoft.com/office/drawing/2014/main" id="{F35EE6F1-D64B-4442-8493-5A65DEB7D6D7}"/>
              </a:ext>
            </a:extLst>
          </p:cNvPr>
          <p:cNvGrpSpPr/>
          <p:nvPr/>
        </p:nvGrpSpPr>
        <p:grpSpPr>
          <a:xfrm>
            <a:off x="2317074" y="5164269"/>
            <a:ext cx="259309" cy="45720"/>
            <a:chOff x="2174965" y="5307240"/>
            <a:chExt cx="259309" cy="45720"/>
          </a:xfrm>
        </p:grpSpPr>
        <p:sp>
          <p:nvSpPr>
            <p:cNvPr id="24" name="椭圆 23">
              <a:extLst>
                <a:ext uri="{FF2B5EF4-FFF2-40B4-BE49-F238E27FC236}">
                  <a16:creationId xmlns:a16="http://schemas.microsoft.com/office/drawing/2014/main" id="{752C2F79-0767-4B29-8A5E-834DEED8F3DB}"/>
                </a:ext>
              </a:extLst>
            </p:cNvPr>
            <p:cNvSpPr/>
            <p:nvPr/>
          </p:nvSpPr>
          <p:spPr>
            <a:xfrm>
              <a:off x="2174965" y="5307240"/>
              <a:ext cx="45720" cy="457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6" name="椭圆 25">
              <a:extLst>
                <a:ext uri="{FF2B5EF4-FFF2-40B4-BE49-F238E27FC236}">
                  <a16:creationId xmlns:a16="http://schemas.microsoft.com/office/drawing/2014/main" id="{A0075F0E-CD96-4B3A-BF78-82B91ABA0A82}"/>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8" name="椭圆 27">
              <a:extLst>
                <a:ext uri="{FF2B5EF4-FFF2-40B4-BE49-F238E27FC236}">
                  <a16:creationId xmlns:a16="http://schemas.microsoft.com/office/drawing/2014/main" id="{0C136C17-8FB4-4EDE-8B26-C97D4E75EDA1}"/>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5" name="矩形: 折角 24">
            <a:extLst>
              <a:ext uri="{FF2B5EF4-FFF2-40B4-BE49-F238E27FC236}">
                <a16:creationId xmlns:a16="http://schemas.microsoft.com/office/drawing/2014/main" id="{119BD873-94D6-41D3-9DFF-1C1860249934}"/>
              </a:ext>
            </a:extLst>
          </p:cNvPr>
          <p:cNvSpPr/>
          <p:nvPr/>
        </p:nvSpPr>
        <p:spPr>
          <a:xfrm>
            <a:off x="4821900" y="1672302"/>
            <a:ext cx="2548200" cy="3653795"/>
          </a:xfrm>
          <a:prstGeom prst="foldedCorner">
            <a:avLst>
              <a:gd name="adj" fmla="val 12182"/>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a:extLst>
              <a:ext uri="{FF2B5EF4-FFF2-40B4-BE49-F238E27FC236}">
                <a16:creationId xmlns:a16="http://schemas.microsoft.com/office/drawing/2014/main" id="{F5D272BD-50CC-4678-8038-D81CED9D6A0D}"/>
              </a:ext>
            </a:extLst>
          </p:cNvPr>
          <p:cNvSpPr/>
          <p:nvPr/>
        </p:nvSpPr>
        <p:spPr>
          <a:xfrm>
            <a:off x="4929648"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数据燃料</a:t>
            </a:r>
          </a:p>
        </p:txBody>
      </p:sp>
      <p:cxnSp>
        <p:nvCxnSpPr>
          <p:cNvPr id="30" name="直接连接符 29">
            <a:extLst>
              <a:ext uri="{FF2B5EF4-FFF2-40B4-BE49-F238E27FC236}">
                <a16:creationId xmlns:a16="http://schemas.microsoft.com/office/drawing/2014/main" id="{22A70707-D392-473B-87F7-C03AEA08FF67}"/>
              </a:ext>
            </a:extLst>
          </p:cNvPr>
          <p:cNvCxnSpPr>
            <a:cxnSpLocks/>
          </p:cNvCxnSpPr>
          <p:nvPr/>
        </p:nvCxnSpPr>
        <p:spPr>
          <a:xfrm>
            <a:off x="5889921"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AF1FEF86-440C-448B-904B-EF5D52A9E317}"/>
              </a:ext>
            </a:extLst>
          </p:cNvPr>
          <p:cNvSpPr/>
          <p:nvPr/>
        </p:nvSpPr>
        <p:spPr>
          <a:xfrm>
            <a:off x="5107480"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2009 年 ImageNet 发布，为视觉模型提供统一燃料与标尺。</a:t>
            </a:r>
          </a:p>
        </p:txBody>
      </p:sp>
      <p:grpSp>
        <p:nvGrpSpPr>
          <p:cNvPr id="29" name="组合 28">
            <a:extLst>
              <a:ext uri="{FF2B5EF4-FFF2-40B4-BE49-F238E27FC236}">
                <a16:creationId xmlns:a16="http://schemas.microsoft.com/office/drawing/2014/main" id="{5C00CDEF-BAF1-4726-B12F-9412D019B464}"/>
              </a:ext>
            </a:extLst>
          </p:cNvPr>
          <p:cNvGrpSpPr/>
          <p:nvPr/>
        </p:nvGrpSpPr>
        <p:grpSpPr>
          <a:xfrm>
            <a:off x="5966346" y="5164269"/>
            <a:ext cx="259309" cy="45720"/>
            <a:chOff x="2174965" y="5307240"/>
            <a:chExt cx="259309" cy="45720"/>
          </a:xfrm>
        </p:grpSpPr>
        <p:sp>
          <p:nvSpPr>
            <p:cNvPr id="32" name="椭圆 31">
              <a:extLst>
                <a:ext uri="{FF2B5EF4-FFF2-40B4-BE49-F238E27FC236}">
                  <a16:creationId xmlns:a16="http://schemas.microsoft.com/office/drawing/2014/main" id="{595032D7-F09B-43F6-87BF-BC0FB163B87B}"/>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37" name="椭圆 36">
              <a:extLst>
                <a:ext uri="{FF2B5EF4-FFF2-40B4-BE49-F238E27FC236}">
                  <a16:creationId xmlns:a16="http://schemas.microsoft.com/office/drawing/2014/main" id="{CE829A2C-DC46-4451-918A-057058D759B6}"/>
                </a:ext>
              </a:extLst>
            </p:cNvPr>
            <p:cNvSpPr/>
            <p:nvPr/>
          </p:nvSpPr>
          <p:spPr>
            <a:xfrm>
              <a:off x="2278728"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2DE247BB-1354-427B-8FFE-2B3A669DA314}"/>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3" name="矩形: 圆角 32">
            <a:extLst>
              <a:ext uri="{FF2B5EF4-FFF2-40B4-BE49-F238E27FC236}">
                <a16:creationId xmlns:a16="http://schemas.microsoft.com/office/drawing/2014/main" id="{FAC004C3-57B0-4B98-B8D7-F3382A8BD161}"/>
              </a:ext>
            </a:extLst>
          </p:cNvPr>
          <p:cNvSpPr/>
          <p:nvPr/>
        </p:nvSpPr>
        <p:spPr>
          <a:xfrm>
            <a:off x="8471172"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矩形 33">
            <a:extLst>
              <a:ext uri="{FF2B5EF4-FFF2-40B4-BE49-F238E27FC236}">
                <a16:creationId xmlns:a16="http://schemas.microsoft.com/office/drawing/2014/main" id="{8017DDFB-C372-41F1-924E-06CE471AC517}"/>
              </a:ext>
            </a:extLst>
          </p:cNvPr>
          <p:cNvSpPr/>
          <p:nvPr/>
        </p:nvSpPr>
        <p:spPr>
          <a:xfrm>
            <a:off x="8578920"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技术外溢</a:t>
            </a:r>
          </a:p>
        </p:txBody>
      </p:sp>
      <p:cxnSp>
        <p:nvCxnSpPr>
          <p:cNvPr id="35" name="直接连接符 34">
            <a:extLst>
              <a:ext uri="{FF2B5EF4-FFF2-40B4-BE49-F238E27FC236}">
                <a16:creationId xmlns:a16="http://schemas.microsoft.com/office/drawing/2014/main" id="{0B6D003E-FAA9-4439-887C-6A890DFAD0E3}"/>
              </a:ext>
            </a:extLst>
          </p:cNvPr>
          <p:cNvCxnSpPr>
            <a:cxnSpLocks/>
          </p:cNvCxnSpPr>
          <p:nvPr/>
        </p:nvCxnSpPr>
        <p:spPr>
          <a:xfrm>
            <a:off x="9539193"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F797F89-3860-4E04-8892-933C2ACF94D6}"/>
              </a:ext>
            </a:extLst>
          </p:cNvPr>
          <p:cNvSpPr/>
          <p:nvPr/>
        </p:nvSpPr>
        <p:spPr>
          <a:xfrm>
            <a:off x="8756752"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word2vec、GAN 与深度强化学习提出，深度学习超越传统。</a:t>
            </a:r>
          </a:p>
        </p:txBody>
      </p:sp>
      <p:grpSp>
        <p:nvGrpSpPr>
          <p:cNvPr id="43" name="组合 42">
            <a:extLst>
              <a:ext uri="{FF2B5EF4-FFF2-40B4-BE49-F238E27FC236}">
                <a16:creationId xmlns:a16="http://schemas.microsoft.com/office/drawing/2014/main" id="{927A192B-054D-4556-BE10-2EE8A008246D}"/>
              </a:ext>
            </a:extLst>
          </p:cNvPr>
          <p:cNvGrpSpPr/>
          <p:nvPr/>
        </p:nvGrpSpPr>
        <p:grpSpPr>
          <a:xfrm>
            <a:off x="9615618" y="5164269"/>
            <a:ext cx="259309" cy="45720"/>
            <a:chOff x="2174965" y="5307240"/>
            <a:chExt cx="259309" cy="45720"/>
          </a:xfrm>
        </p:grpSpPr>
        <p:sp>
          <p:nvSpPr>
            <p:cNvPr id="46" name="椭圆 45">
              <a:extLst>
                <a:ext uri="{FF2B5EF4-FFF2-40B4-BE49-F238E27FC236}">
                  <a16:creationId xmlns:a16="http://schemas.microsoft.com/office/drawing/2014/main" id="{A7CD82F4-3BF6-40C2-ACDF-D96717513E9D}"/>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7" name="椭圆 46">
              <a:extLst>
                <a:ext uri="{FF2B5EF4-FFF2-40B4-BE49-F238E27FC236}">
                  <a16:creationId xmlns:a16="http://schemas.microsoft.com/office/drawing/2014/main" id="{2D004D5F-6526-4330-82E0-8C6748E2E5C7}"/>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9" name="椭圆 48">
              <a:extLst>
                <a:ext uri="{FF2B5EF4-FFF2-40B4-BE49-F238E27FC236}">
                  <a16:creationId xmlns:a16="http://schemas.microsoft.com/office/drawing/2014/main" id="{3CAF9271-F626-417F-A6A2-5C8FEEEACBB2}"/>
                </a:ext>
              </a:extLst>
            </p:cNvPr>
            <p:cNvSpPr/>
            <p:nvPr/>
          </p:nvSpPr>
          <p:spPr>
            <a:xfrm>
              <a:off x="2388554"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占位符 10">
            <a:extLst>
              <a:ext uri="{FF2B5EF4-FFF2-40B4-BE49-F238E27FC236}">
                <a16:creationId xmlns:a16="http://schemas.microsoft.com/office/drawing/2014/main" id="{A5A452D6-AFBF-4A65-80EF-B451BD8974E9}"/>
              </a:ext>
            </a:extLst>
          </p:cNvPr>
          <p:cNvSpPr>
            <a:spLocks noGrp="1"/>
          </p:cNvSpPr>
          <p:nvPr>
            <p:ph type="body" sz="quarter" idx="10"/>
          </p:nvPr>
        </p:nvSpPr>
        <p:spPr>
          <a:xfrm>
            <a:off x="843917" y="371998"/>
            <a:ext cx="5252083" cy="360099"/>
          </a:xfrm>
        </p:spPr>
        <p:txBody>
          <a:bodyPr>
            <a:spAutoFit/>
          </a:bodyPr>
          <a:lstStyle/>
          <a:p>
            <a:r>
              <a:rPr lang="zh-CN" altLang="en-US" dirty="0"/>
              <a:t xml:space="preserve">深度学习革命</a:t>
            </a:r>
          </a:p>
        </p:txBody>
      </p:sp>
    </p:spTree>
    <p:extLst>
      <p:ext uri="{BB962C8B-B14F-4D97-AF65-F5344CB8AC3E}">
        <p14:creationId xmlns:p14="http://schemas.microsoft.com/office/powerpoint/2010/main" val="4080946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6595E5E-7412-4B81-B2B8-E865B73210B1}"/>
              </a:ext>
            </a:extLst>
          </p:cNvPr>
          <p:cNvSpPr/>
          <p:nvPr/>
        </p:nvSpPr>
        <p:spPr>
          <a:xfrm>
            <a:off x="1172628"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4" name="矩形 43">
            <a:extLst>
              <a:ext uri="{FF2B5EF4-FFF2-40B4-BE49-F238E27FC236}">
                <a16:creationId xmlns:a16="http://schemas.microsoft.com/office/drawing/2014/main" id="{546C4C66-7592-4C81-AB50-3DAA2EA67C52}"/>
              </a:ext>
            </a:extLst>
          </p:cNvPr>
          <p:cNvSpPr/>
          <p:nvPr/>
        </p:nvSpPr>
        <p:spPr>
          <a:xfrm>
            <a:off x="1280376"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竞赛拐点</a:t>
            </a:r>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2240649"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08745FD-5E00-495C-BFCE-85659094E49E}"/>
              </a:ext>
            </a:extLst>
          </p:cNvPr>
          <p:cNvSpPr/>
          <p:nvPr/>
        </p:nvSpPr>
        <p:spPr>
          <a:xfrm>
            <a:off x="1458208"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2012 年 AlexNet 凭 GPU 训练 ImageNet 领先。</a:t>
            </a:r>
          </a:p>
        </p:txBody>
      </p:sp>
      <p:grpSp>
        <p:nvGrpSpPr>
          <p:cNvPr id="23" name="组合 22">
            <a:extLst>
              <a:ext uri="{FF2B5EF4-FFF2-40B4-BE49-F238E27FC236}">
                <a16:creationId xmlns:a16="http://schemas.microsoft.com/office/drawing/2014/main" id="{F35EE6F1-D64B-4442-8493-5A65DEB7D6D7}"/>
              </a:ext>
            </a:extLst>
          </p:cNvPr>
          <p:cNvGrpSpPr/>
          <p:nvPr/>
        </p:nvGrpSpPr>
        <p:grpSpPr>
          <a:xfrm>
            <a:off x="2317074" y="5164269"/>
            <a:ext cx="259309" cy="45720"/>
            <a:chOff x="2174965" y="5307240"/>
            <a:chExt cx="259309" cy="45720"/>
          </a:xfrm>
        </p:grpSpPr>
        <p:sp>
          <p:nvSpPr>
            <p:cNvPr id="24" name="椭圆 23">
              <a:extLst>
                <a:ext uri="{FF2B5EF4-FFF2-40B4-BE49-F238E27FC236}">
                  <a16:creationId xmlns:a16="http://schemas.microsoft.com/office/drawing/2014/main" id="{752C2F79-0767-4B29-8A5E-834DEED8F3DB}"/>
                </a:ext>
              </a:extLst>
            </p:cNvPr>
            <p:cNvSpPr/>
            <p:nvPr/>
          </p:nvSpPr>
          <p:spPr>
            <a:xfrm>
              <a:off x="2174965" y="5307240"/>
              <a:ext cx="45720" cy="457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6" name="椭圆 25">
              <a:extLst>
                <a:ext uri="{FF2B5EF4-FFF2-40B4-BE49-F238E27FC236}">
                  <a16:creationId xmlns:a16="http://schemas.microsoft.com/office/drawing/2014/main" id="{A0075F0E-CD96-4B3A-BF78-82B91ABA0A82}"/>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8" name="椭圆 27">
              <a:extLst>
                <a:ext uri="{FF2B5EF4-FFF2-40B4-BE49-F238E27FC236}">
                  <a16:creationId xmlns:a16="http://schemas.microsoft.com/office/drawing/2014/main" id="{0C136C17-8FB4-4EDE-8B26-C97D4E75EDA1}"/>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5" name="矩形: 折角 24">
            <a:extLst>
              <a:ext uri="{FF2B5EF4-FFF2-40B4-BE49-F238E27FC236}">
                <a16:creationId xmlns:a16="http://schemas.microsoft.com/office/drawing/2014/main" id="{119BD873-94D6-41D3-9DFF-1C1860249934}"/>
              </a:ext>
            </a:extLst>
          </p:cNvPr>
          <p:cNvSpPr/>
          <p:nvPr/>
        </p:nvSpPr>
        <p:spPr>
          <a:xfrm>
            <a:off x="4821900" y="1672302"/>
            <a:ext cx="2548200" cy="3653795"/>
          </a:xfrm>
          <a:prstGeom prst="foldedCorner">
            <a:avLst>
              <a:gd name="adj" fmla="val 12182"/>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a:extLst>
              <a:ext uri="{FF2B5EF4-FFF2-40B4-BE49-F238E27FC236}">
                <a16:creationId xmlns:a16="http://schemas.microsoft.com/office/drawing/2014/main" id="{F5D272BD-50CC-4678-8038-D81CED9D6A0D}"/>
              </a:ext>
            </a:extLst>
          </p:cNvPr>
          <p:cNvSpPr/>
          <p:nvPr/>
        </p:nvSpPr>
        <p:spPr>
          <a:xfrm>
            <a:off x="4929648"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算力结合</a:t>
            </a:r>
          </a:p>
        </p:txBody>
      </p:sp>
      <p:cxnSp>
        <p:nvCxnSpPr>
          <p:cNvPr id="30" name="直接连接符 29">
            <a:extLst>
              <a:ext uri="{FF2B5EF4-FFF2-40B4-BE49-F238E27FC236}">
                <a16:creationId xmlns:a16="http://schemas.microsoft.com/office/drawing/2014/main" id="{22A70707-D392-473B-87F7-C03AEA08FF67}"/>
              </a:ext>
            </a:extLst>
          </p:cNvPr>
          <p:cNvCxnSpPr>
            <a:cxnSpLocks/>
          </p:cNvCxnSpPr>
          <p:nvPr/>
        </p:nvCxnSpPr>
        <p:spPr>
          <a:xfrm>
            <a:off x="5889921"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AF1FEF86-440C-448B-904B-EF5D52A9E317}"/>
              </a:ext>
            </a:extLst>
          </p:cNvPr>
          <p:cNvSpPr/>
          <p:nvPr/>
        </p:nvSpPr>
        <p:spPr>
          <a:xfrm>
            <a:off x="5107480"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GPU 并行训练验证算力与算法乘数效应，标志革命起点。</a:t>
            </a:r>
          </a:p>
        </p:txBody>
      </p:sp>
      <p:grpSp>
        <p:nvGrpSpPr>
          <p:cNvPr id="29" name="组合 28">
            <a:extLst>
              <a:ext uri="{FF2B5EF4-FFF2-40B4-BE49-F238E27FC236}">
                <a16:creationId xmlns:a16="http://schemas.microsoft.com/office/drawing/2014/main" id="{5C00CDEF-BAF1-4726-B12F-9412D019B464}"/>
              </a:ext>
            </a:extLst>
          </p:cNvPr>
          <p:cNvGrpSpPr/>
          <p:nvPr/>
        </p:nvGrpSpPr>
        <p:grpSpPr>
          <a:xfrm>
            <a:off x="5966346" y="5164269"/>
            <a:ext cx="259309" cy="45720"/>
            <a:chOff x="2174965" y="5307240"/>
            <a:chExt cx="259309" cy="45720"/>
          </a:xfrm>
        </p:grpSpPr>
        <p:sp>
          <p:nvSpPr>
            <p:cNvPr id="32" name="椭圆 31">
              <a:extLst>
                <a:ext uri="{FF2B5EF4-FFF2-40B4-BE49-F238E27FC236}">
                  <a16:creationId xmlns:a16="http://schemas.microsoft.com/office/drawing/2014/main" id="{595032D7-F09B-43F6-87BF-BC0FB163B87B}"/>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37" name="椭圆 36">
              <a:extLst>
                <a:ext uri="{FF2B5EF4-FFF2-40B4-BE49-F238E27FC236}">
                  <a16:creationId xmlns:a16="http://schemas.microsoft.com/office/drawing/2014/main" id="{CE829A2C-DC46-4451-918A-057058D759B6}"/>
                </a:ext>
              </a:extLst>
            </p:cNvPr>
            <p:cNvSpPr/>
            <p:nvPr/>
          </p:nvSpPr>
          <p:spPr>
            <a:xfrm>
              <a:off x="2278728"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2DE247BB-1354-427B-8FFE-2B3A669DA314}"/>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3" name="矩形: 圆角 32">
            <a:extLst>
              <a:ext uri="{FF2B5EF4-FFF2-40B4-BE49-F238E27FC236}">
                <a16:creationId xmlns:a16="http://schemas.microsoft.com/office/drawing/2014/main" id="{FAC004C3-57B0-4B98-B8D7-F3382A8BD161}"/>
              </a:ext>
            </a:extLst>
          </p:cNvPr>
          <p:cNvSpPr/>
          <p:nvPr/>
        </p:nvSpPr>
        <p:spPr>
          <a:xfrm>
            <a:off x="8471172"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矩形 33">
            <a:extLst>
              <a:ext uri="{FF2B5EF4-FFF2-40B4-BE49-F238E27FC236}">
                <a16:creationId xmlns:a16="http://schemas.microsoft.com/office/drawing/2014/main" id="{8017DDFB-C372-41F1-924E-06CE471AC517}"/>
              </a:ext>
            </a:extLst>
          </p:cNvPr>
          <p:cNvSpPr/>
          <p:nvPr/>
        </p:nvSpPr>
        <p:spPr>
          <a:xfrm>
            <a:off x="8578920"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范式确立</a:t>
            </a:r>
          </a:p>
        </p:txBody>
      </p:sp>
      <p:cxnSp>
        <p:nvCxnSpPr>
          <p:cNvPr id="35" name="直接连接符 34">
            <a:extLst>
              <a:ext uri="{FF2B5EF4-FFF2-40B4-BE49-F238E27FC236}">
                <a16:creationId xmlns:a16="http://schemas.microsoft.com/office/drawing/2014/main" id="{0B6D003E-FAA9-4439-887C-6A890DFAD0E3}"/>
              </a:ext>
            </a:extLst>
          </p:cNvPr>
          <p:cNvCxnSpPr>
            <a:cxnSpLocks/>
          </p:cNvCxnSpPr>
          <p:nvPr/>
        </p:nvCxnSpPr>
        <p:spPr>
          <a:xfrm>
            <a:off x="9539193"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F797F89-3860-4E04-8892-933C2ACF94D6}"/>
              </a:ext>
            </a:extLst>
          </p:cNvPr>
          <p:cNvSpPr/>
          <p:nvPr/>
        </p:nvSpPr>
        <p:spPr>
          <a:xfrm>
            <a:off x="8756752"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此后技术快速外溢，2016 年深度学习在感知任务全面超越。</a:t>
            </a:r>
          </a:p>
        </p:txBody>
      </p:sp>
      <p:grpSp>
        <p:nvGrpSpPr>
          <p:cNvPr id="43" name="组合 42">
            <a:extLst>
              <a:ext uri="{FF2B5EF4-FFF2-40B4-BE49-F238E27FC236}">
                <a16:creationId xmlns:a16="http://schemas.microsoft.com/office/drawing/2014/main" id="{927A192B-054D-4556-BE10-2EE8A008246D}"/>
              </a:ext>
            </a:extLst>
          </p:cNvPr>
          <p:cNvGrpSpPr/>
          <p:nvPr/>
        </p:nvGrpSpPr>
        <p:grpSpPr>
          <a:xfrm>
            <a:off x="9615618" y="5164269"/>
            <a:ext cx="259309" cy="45720"/>
            <a:chOff x="2174965" y="5307240"/>
            <a:chExt cx="259309" cy="45720"/>
          </a:xfrm>
        </p:grpSpPr>
        <p:sp>
          <p:nvSpPr>
            <p:cNvPr id="46" name="椭圆 45">
              <a:extLst>
                <a:ext uri="{FF2B5EF4-FFF2-40B4-BE49-F238E27FC236}">
                  <a16:creationId xmlns:a16="http://schemas.microsoft.com/office/drawing/2014/main" id="{A7CD82F4-3BF6-40C2-ACDF-D96717513E9D}"/>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7" name="椭圆 46">
              <a:extLst>
                <a:ext uri="{FF2B5EF4-FFF2-40B4-BE49-F238E27FC236}">
                  <a16:creationId xmlns:a16="http://schemas.microsoft.com/office/drawing/2014/main" id="{2D004D5F-6526-4330-82E0-8C6748E2E5C7}"/>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9" name="椭圆 48">
              <a:extLst>
                <a:ext uri="{FF2B5EF4-FFF2-40B4-BE49-F238E27FC236}">
                  <a16:creationId xmlns:a16="http://schemas.microsoft.com/office/drawing/2014/main" id="{3CAF9271-F626-417F-A6A2-5C8FEEEACBB2}"/>
                </a:ext>
              </a:extLst>
            </p:cNvPr>
            <p:cNvSpPr/>
            <p:nvPr/>
          </p:nvSpPr>
          <p:spPr>
            <a:xfrm>
              <a:off x="2388554"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占位符 10">
            <a:extLst>
              <a:ext uri="{FF2B5EF4-FFF2-40B4-BE49-F238E27FC236}">
                <a16:creationId xmlns:a16="http://schemas.microsoft.com/office/drawing/2014/main" id="{A5A452D6-AFBF-4A65-80EF-B451BD8974E9}"/>
              </a:ext>
            </a:extLst>
          </p:cNvPr>
          <p:cNvSpPr>
            <a:spLocks noGrp="1"/>
          </p:cNvSpPr>
          <p:nvPr>
            <p:ph type="body" sz="quarter" idx="10"/>
          </p:nvPr>
        </p:nvSpPr>
        <p:spPr>
          <a:xfrm>
            <a:off x="843917" y="371998"/>
            <a:ext cx="5252083" cy="360099"/>
          </a:xfrm>
        </p:spPr>
        <p:txBody>
          <a:bodyPr>
            <a:spAutoFit/>
          </a:bodyPr>
          <a:lstStyle/>
          <a:p>
            <a:r>
              <a:rPr lang="zh-CN" altLang="en-US" dirty="0"/>
              <a:t xml:space="preserve">深度学习的起点</a:t>
            </a:r>
          </a:p>
        </p:txBody>
      </p:sp>
    </p:spTree>
    <p:extLst>
      <p:ext uri="{BB962C8B-B14F-4D97-AF65-F5344CB8AC3E}">
        <p14:creationId xmlns:p14="http://schemas.microsoft.com/office/powerpoint/2010/main" val="4080946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171EDCD-8DDF-4F04-B956-24EBBA53C12C}"/>
              </a:ext>
            </a:extLst>
          </p:cNvPr>
          <p:cNvSpPr>
            <a:spLocks noGrp="1"/>
          </p:cNvSpPr>
          <p:nvPr>
            <p:ph type="body" sz="quarter" idx="10"/>
          </p:nvPr>
        </p:nvSpPr>
        <p:spPr/>
        <p:txBody>
          <a:bodyPr>
            <a:spAutoFit/>
          </a:bodyPr>
          <a:lstStyle/>
          <a:p>
            <a:r>
              <a:rPr lang="en-US" altLang="zh-CN" dirty="0"/>
              <a:t xml:space="preserve">03</a:t>
            </a:r>
          </a:p>
        </p:txBody>
      </p:sp>
      <p:sp>
        <p:nvSpPr>
          <p:cNvPr id="4" name="文本占位符 3">
            <a:extLst>
              <a:ext uri="{FF2B5EF4-FFF2-40B4-BE49-F238E27FC236}">
                <a16:creationId xmlns:a16="http://schemas.microsoft.com/office/drawing/2014/main" id="{75430996-678D-4517-8DEF-CCA6DB990153}"/>
              </a:ext>
            </a:extLst>
          </p:cNvPr>
          <p:cNvSpPr>
            <a:spLocks noGrp="1"/>
          </p:cNvSpPr>
          <p:nvPr>
            <p:ph type="body" sz="quarter" idx="11"/>
          </p:nvPr>
        </p:nvSpPr>
        <p:spPr>
          <a:xfrm>
            <a:off x="5524211" y="2266904"/>
            <a:ext cx="5867608" cy="830997"/>
          </a:xfrm>
        </p:spPr>
        <p:txBody>
          <a:bodyPr>
            <a:spAutoFit/>
          </a:bodyPr>
          <a:lstStyle/>
          <a:p>
            <a:pPr lvl="0">
              <a:lnSpc>
                <a:spcPct val="100000"/>
              </a:lnSpc>
              <a:spcBef>
                <a:spcPts val="0"/>
              </a:spcBef>
            </a:pPr>
            <a:r>
              <a:rPr lang="zh-CN" altLang="en-US" dirty="0">
                <a:solidFill>
                  <a:srgbClr val="006871"/>
                </a:solidFill>
              </a:rPr>
              <a:t xml:space="preserve">预训练时代</a:t>
            </a:r>
          </a:p>
        </p:txBody>
      </p:sp>
      <p:sp>
        <p:nvSpPr>
          <p:cNvPr id="5" name="文本占位符 4">
            <a:extLst>
              <a:ext uri="{FF2B5EF4-FFF2-40B4-BE49-F238E27FC236}">
                <a16:creationId xmlns:a16="http://schemas.microsoft.com/office/drawing/2014/main" id="{8E45D747-ABDF-4942-9346-C81D39148924}"/>
              </a:ext>
            </a:extLst>
          </p:cNvPr>
          <p:cNvSpPr>
            <a:spLocks noGrp="1"/>
          </p:cNvSpPr>
          <p:nvPr>
            <p:ph type="body" sz="quarter" idx="12"/>
          </p:nvPr>
        </p:nvSpPr>
        <p:spPr>
          <a:xfrm>
            <a:off x="5524211" y="3132779"/>
            <a:ext cx="5867608" cy="249299"/>
          </a:xfrm>
        </p:spPr>
        <p:txBody>
          <a:bodyPr>
            <a:spAutoFit/>
          </a:bodyPr>
          <a:lstStyle/>
          <a:p>
            <a:r>
              <a:rPr lang="zh-CN" altLang="en-US" dirty="0"/>
              <a:t xml:space="preserve">Pretraining (2017—2021)</a:t>
            </a:r>
          </a:p>
        </p:txBody>
      </p:sp>
      <p:sp>
        <p:nvSpPr>
          <p:cNvPr id="6" name="文本占位符 5">
            <a:extLst>
              <a:ext uri="{FF2B5EF4-FFF2-40B4-BE49-F238E27FC236}">
                <a16:creationId xmlns:a16="http://schemas.microsoft.com/office/drawing/2014/main" id="{69177E69-52BB-4C86-A925-3F0C2D388E9C}"/>
              </a:ext>
            </a:extLst>
          </p:cNvPr>
          <p:cNvSpPr>
            <a:spLocks noGrp="1"/>
          </p:cNvSpPr>
          <p:nvPr>
            <p:ph type="body" sz="quarter" idx="13"/>
          </p:nvPr>
        </p:nvSpPr>
        <p:spPr>
          <a:xfrm>
            <a:off x="5524211" y="3757038"/>
            <a:ext cx="3518189" cy="707373"/>
          </a:xfrm>
        </p:spPr>
        <p:txBody>
          <a:bodyPr>
            <a:spAutoFit/>
          </a:bodyPr>
          <a:lstStyle/>
          <a:p>
            <a:pPr lvl="0"/>
            <a:r>
              <a:rPr lang="zh-CN" altLang="en-US" dirty="0">
                <a:solidFill>
                  <a:prstClr val="black">
                    <a:lumMod val="50000"/>
                    <a:lumOff val="50000"/>
                  </a:prstClr>
                </a:solidFill>
              </a:rPr>
              <a:t xml:space="preserve">架构基点与规模定律</a:t>
            </a:r>
          </a:p>
        </p:txBody>
      </p:sp>
    </p:spTree>
    <p:extLst>
      <p:ext uri="{BB962C8B-B14F-4D97-AF65-F5344CB8AC3E}">
        <p14:creationId xmlns:p14="http://schemas.microsoft.com/office/powerpoint/2010/main" val="1431073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6595E5E-7412-4B81-B2B8-E865B73210B1}"/>
              </a:ext>
            </a:extLst>
          </p:cNvPr>
          <p:cNvSpPr/>
          <p:nvPr/>
        </p:nvSpPr>
        <p:spPr>
          <a:xfrm>
            <a:off x="1172628"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4" name="矩形 43">
            <a:extLst>
              <a:ext uri="{FF2B5EF4-FFF2-40B4-BE49-F238E27FC236}">
                <a16:creationId xmlns:a16="http://schemas.microsoft.com/office/drawing/2014/main" id="{546C4C66-7592-4C81-AB50-3DAA2EA67C52}"/>
              </a:ext>
            </a:extLst>
          </p:cNvPr>
          <p:cNvSpPr/>
          <p:nvPr/>
        </p:nvSpPr>
        <p:spPr>
          <a:xfrm>
            <a:off x="1280376"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自注意力</a:t>
            </a:r>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2240649"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08745FD-5E00-495C-BFCE-85659094E49E}"/>
              </a:ext>
            </a:extLst>
          </p:cNvPr>
          <p:cNvSpPr/>
          <p:nvPr/>
        </p:nvSpPr>
        <p:spPr>
          <a:xfrm>
            <a:off x="1458208"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2017 年 Transformer 以自注意力取代循环，支持并行训练。</a:t>
            </a:r>
          </a:p>
        </p:txBody>
      </p:sp>
      <p:grpSp>
        <p:nvGrpSpPr>
          <p:cNvPr id="23" name="组合 22">
            <a:extLst>
              <a:ext uri="{FF2B5EF4-FFF2-40B4-BE49-F238E27FC236}">
                <a16:creationId xmlns:a16="http://schemas.microsoft.com/office/drawing/2014/main" id="{F35EE6F1-D64B-4442-8493-5A65DEB7D6D7}"/>
              </a:ext>
            </a:extLst>
          </p:cNvPr>
          <p:cNvGrpSpPr/>
          <p:nvPr/>
        </p:nvGrpSpPr>
        <p:grpSpPr>
          <a:xfrm>
            <a:off x="2317074" y="5164269"/>
            <a:ext cx="259309" cy="45720"/>
            <a:chOff x="2174965" y="5307240"/>
            <a:chExt cx="259309" cy="45720"/>
          </a:xfrm>
        </p:grpSpPr>
        <p:sp>
          <p:nvSpPr>
            <p:cNvPr id="24" name="椭圆 23">
              <a:extLst>
                <a:ext uri="{FF2B5EF4-FFF2-40B4-BE49-F238E27FC236}">
                  <a16:creationId xmlns:a16="http://schemas.microsoft.com/office/drawing/2014/main" id="{752C2F79-0767-4B29-8A5E-834DEED8F3DB}"/>
                </a:ext>
              </a:extLst>
            </p:cNvPr>
            <p:cNvSpPr/>
            <p:nvPr/>
          </p:nvSpPr>
          <p:spPr>
            <a:xfrm>
              <a:off x="2174965" y="5307240"/>
              <a:ext cx="45720" cy="457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6" name="椭圆 25">
              <a:extLst>
                <a:ext uri="{FF2B5EF4-FFF2-40B4-BE49-F238E27FC236}">
                  <a16:creationId xmlns:a16="http://schemas.microsoft.com/office/drawing/2014/main" id="{A0075F0E-CD96-4B3A-BF78-82B91ABA0A82}"/>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8" name="椭圆 27">
              <a:extLst>
                <a:ext uri="{FF2B5EF4-FFF2-40B4-BE49-F238E27FC236}">
                  <a16:creationId xmlns:a16="http://schemas.microsoft.com/office/drawing/2014/main" id="{0C136C17-8FB4-4EDE-8B26-C97D4E75EDA1}"/>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5" name="矩形: 折角 24">
            <a:extLst>
              <a:ext uri="{FF2B5EF4-FFF2-40B4-BE49-F238E27FC236}">
                <a16:creationId xmlns:a16="http://schemas.microsoft.com/office/drawing/2014/main" id="{119BD873-94D6-41D3-9DFF-1C1860249934}"/>
              </a:ext>
            </a:extLst>
          </p:cNvPr>
          <p:cNvSpPr/>
          <p:nvPr/>
        </p:nvSpPr>
        <p:spPr>
          <a:xfrm>
            <a:off x="4821900" y="1672302"/>
            <a:ext cx="2548200" cy="3653795"/>
          </a:xfrm>
          <a:prstGeom prst="foldedCorner">
            <a:avLst>
              <a:gd name="adj" fmla="val 12182"/>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a:extLst>
              <a:ext uri="{FF2B5EF4-FFF2-40B4-BE49-F238E27FC236}">
                <a16:creationId xmlns:a16="http://schemas.microsoft.com/office/drawing/2014/main" id="{F5D272BD-50CC-4678-8038-D81CED9D6A0D}"/>
              </a:ext>
            </a:extLst>
          </p:cNvPr>
          <p:cNvSpPr/>
          <p:nvPr/>
        </p:nvSpPr>
        <p:spPr>
          <a:xfrm>
            <a:off x="4929648"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架构解耦</a:t>
            </a:r>
          </a:p>
        </p:txBody>
      </p:sp>
      <p:cxnSp>
        <p:nvCxnSpPr>
          <p:cNvPr id="30" name="直接连接符 29">
            <a:extLst>
              <a:ext uri="{FF2B5EF4-FFF2-40B4-BE49-F238E27FC236}">
                <a16:creationId xmlns:a16="http://schemas.microsoft.com/office/drawing/2014/main" id="{22A70707-D392-473B-87F7-C03AEA08FF67}"/>
              </a:ext>
            </a:extLst>
          </p:cNvPr>
          <p:cNvCxnSpPr>
            <a:cxnSpLocks/>
          </p:cNvCxnSpPr>
          <p:nvPr/>
        </p:nvCxnSpPr>
        <p:spPr>
          <a:xfrm>
            <a:off x="5889921"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AF1FEF86-440C-448B-904B-EF5D52A9E317}"/>
              </a:ext>
            </a:extLst>
          </p:cNvPr>
          <p:cNvSpPr/>
          <p:nvPr/>
        </p:nvSpPr>
        <p:spPr>
          <a:xfrm>
            <a:off x="5107480"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序列依赖被打破后模型规模不再受限，训练效率大幅提升。</a:t>
            </a:r>
          </a:p>
        </p:txBody>
      </p:sp>
      <p:grpSp>
        <p:nvGrpSpPr>
          <p:cNvPr id="29" name="组合 28">
            <a:extLst>
              <a:ext uri="{FF2B5EF4-FFF2-40B4-BE49-F238E27FC236}">
                <a16:creationId xmlns:a16="http://schemas.microsoft.com/office/drawing/2014/main" id="{5C00CDEF-BAF1-4726-B12F-9412D019B464}"/>
              </a:ext>
            </a:extLst>
          </p:cNvPr>
          <p:cNvGrpSpPr/>
          <p:nvPr/>
        </p:nvGrpSpPr>
        <p:grpSpPr>
          <a:xfrm>
            <a:off x="5966346" y="5164269"/>
            <a:ext cx="259309" cy="45720"/>
            <a:chOff x="2174965" y="5307240"/>
            <a:chExt cx="259309" cy="45720"/>
          </a:xfrm>
        </p:grpSpPr>
        <p:sp>
          <p:nvSpPr>
            <p:cNvPr id="32" name="椭圆 31">
              <a:extLst>
                <a:ext uri="{FF2B5EF4-FFF2-40B4-BE49-F238E27FC236}">
                  <a16:creationId xmlns:a16="http://schemas.microsoft.com/office/drawing/2014/main" id="{595032D7-F09B-43F6-87BF-BC0FB163B87B}"/>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37" name="椭圆 36">
              <a:extLst>
                <a:ext uri="{FF2B5EF4-FFF2-40B4-BE49-F238E27FC236}">
                  <a16:creationId xmlns:a16="http://schemas.microsoft.com/office/drawing/2014/main" id="{CE829A2C-DC46-4451-918A-057058D759B6}"/>
                </a:ext>
              </a:extLst>
            </p:cNvPr>
            <p:cNvSpPr/>
            <p:nvPr/>
          </p:nvSpPr>
          <p:spPr>
            <a:xfrm>
              <a:off x="2278728"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2DE247BB-1354-427B-8FFE-2B3A669DA314}"/>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3" name="矩形: 圆角 32">
            <a:extLst>
              <a:ext uri="{FF2B5EF4-FFF2-40B4-BE49-F238E27FC236}">
                <a16:creationId xmlns:a16="http://schemas.microsoft.com/office/drawing/2014/main" id="{FAC004C3-57B0-4B98-B8D7-F3382A8BD161}"/>
              </a:ext>
            </a:extLst>
          </p:cNvPr>
          <p:cNvSpPr/>
          <p:nvPr/>
        </p:nvSpPr>
        <p:spPr>
          <a:xfrm>
            <a:off x="8471172"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矩形 33">
            <a:extLst>
              <a:ext uri="{FF2B5EF4-FFF2-40B4-BE49-F238E27FC236}">
                <a16:creationId xmlns:a16="http://schemas.microsoft.com/office/drawing/2014/main" id="{8017DDFB-C372-41F1-924E-06CE471AC517}"/>
              </a:ext>
            </a:extLst>
          </p:cNvPr>
          <p:cNvSpPr/>
          <p:nvPr/>
        </p:nvSpPr>
        <p:spPr>
          <a:xfrm>
            <a:off x="8578920"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时代基点</a:t>
            </a:r>
          </a:p>
        </p:txBody>
      </p:sp>
      <p:cxnSp>
        <p:nvCxnSpPr>
          <p:cNvPr id="35" name="直接连接符 34">
            <a:extLst>
              <a:ext uri="{FF2B5EF4-FFF2-40B4-BE49-F238E27FC236}">
                <a16:creationId xmlns:a16="http://schemas.microsoft.com/office/drawing/2014/main" id="{0B6D003E-FAA9-4439-887C-6A890DFAD0E3}"/>
              </a:ext>
            </a:extLst>
          </p:cNvPr>
          <p:cNvCxnSpPr>
            <a:cxnSpLocks/>
          </p:cNvCxnSpPr>
          <p:nvPr/>
        </p:nvCxnSpPr>
        <p:spPr>
          <a:xfrm>
            <a:off x="9539193"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F797F89-3860-4E04-8892-933C2ACF94D6}"/>
              </a:ext>
            </a:extLst>
          </p:cNvPr>
          <p:cNvSpPr/>
          <p:nvPr/>
        </p:nvSpPr>
        <p:spPr>
          <a:xfrm>
            <a:off x="8756752"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它成大模型架构基点，BERT 与 GPT 均在其上构建路线。</a:t>
            </a:r>
          </a:p>
        </p:txBody>
      </p:sp>
      <p:grpSp>
        <p:nvGrpSpPr>
          <p:cNvPr id="43" name="组合 42">
            <a:extLst>
              <a:ext uri="{FF2B5EF4-FFF2-40B4-BE49-F238E27FC236}">
                <a16:creationId xmlns:a16="http://schemas.microsoft.com/office/drawing/2014/main" id="{927A192B-054D-4556-BE10-2EE8A008246D}"/>
              </a:ext>
            </a:extLst>
          </p:cNvPr>
          <p:cNvGrpSpPr/>
          <p:nvPr/>
        </p:nvGrpSpPr>
        <p:grpSpPr>
          <a:xfrm>
            <a:off x="9615618" y="5164269"/>
            <a:ext cx="259309" cy="45720"/>
            <a:chOff x="2174965" y="5307240"/>
            <a:chExt cx="259309" cy="45720"/>
          </a:xfrm>
        </p:grpSpPr>
        <p:sp>
          <p:nvSpPr>
            <p:cNvPr id="46" name="椭圆 45">
              <a:extLst>
                <a:ext uri="{FF2B5EF4-FFF2-40B4-BE49-F238E27FC236}">
                  <a16:creationId xmlns:a16="http://schemas.microsoft.com/office/drawing/2014/main" id="{A7CD82F4-3BF6-40C2-ACDF-D96717513E9D}"/>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7" name="椭圆 46">
              <a:extLst>
                <a:ext uri="{FF2B5EF4-FFF2-40B4-BE49-F238E27FC236}">
                  <a16:creationId xmlns:a16="http://schemas.microsoft.com/office/drawing/2014/main" id="{2D004D5F-6526-4330-82E0-8C6748E2E5C7}"/>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9" name="椭圆 48">
              <a:extLst>
                <a:ext uri="{FF2B5EF4-FFF2-40B4-BE49-F238E27FC236}">
                  <a16:creationId xmlns:a16="http://schemas.microsoft.com/office/drawing/2014/main" id="{3CAF9271-F626-417F-A6A2-5C8FEEEACBB2}"/>
                </a:ext>
              </a:extLst>
            </p:cNvPr>
            <p:cNvSpPr/>
            <p:nvPr/>
          </p:nvSpPr>
          <p:spPr>
            <a:xfrm>
              <a:off x="2388554"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占位符 10">
            <a:extLst>
              <a:ext uri="{FF2B5EF4-FFF2-40B4-BE49-F238E27FC236}">
                <a16:creationId xmlns:a16="http://schemas.microsoft.com/office/drawing/2014/main" id="{A5A452D6-AFBF-4A65-80EF-B451BD8974E9}"/>
              </a:ext>
            </a:extLst>
          </p:cNvPr>
          <p:cNvSpPr>
            <a:spLocks noGrp="1"/>
          </p:cNvSpPr>
          <p:nvPr>
            <p:ph type="body" sz="quarter" idx="10"/>
          </p:nvPr>
        </p:nvSpPr>
        <p:spPr>
          <a:xfrm>
            <a:off x="843917" y="371998"/>
            <a:ext cx="5252083" cy="360099"/>
          </a:xfrm>
        </p:spPr>
        <p:txBody>
          <a:bodyPr>
            <a:spAutoFit/>
          </a:bodyPr>
          <a:lstStyle/>
          <a:p>
            <a:r>
              <a:rPr lang="zh-CN" altLang="en-US" dirty="0"/>
              <a:t xml:space="preserve">架构基点 Transformer</a:t>
            </a:r>
          </a:p>
        </p:txBody>
      </p:sp>
    </p:spTree>
    <p:extLst>
      <p:ext uri="{BB962C8B-B14F-4D97-AF65-F5344CB8AC3E}">
        <p14:creationId xmlns:p14="http://schemas.microsoft.com/office/powerpoint/2010/main" val="4080946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6595E5E-7412-4B81-B2B8-E865B73210B1}"/>
              </a:ext>
            </a:extLst>
          </p:cNvPr>
          <p:cNvSpPr/>
          <p:nvPr/>
        </p:nvSpPr>
        <p:spPr>
          <a:xfrm>
            <a:off x="1172628"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4" name="矩形 43">
            <a:extLst>
              <a:ext uri="{FF2B5EF4-FFF2-40B4-BE49-F238E27FC236}">
                <a16:creationId xmlns:a16="http://schemas.microsoft.com/office/drawing/2014/main" id="{546C4C66-7592-4C81-AB50-3DAA2EA67C52}"/>
              </a:ext>
            </a:extLst>
          </p:cNvPr>
          <p:cNvSpPr/>
          <p:nvPr/>
        </p:nvSpPr>
        <p:spPr>
          <a:xfrm>
            <a:off x="1280376"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能力涌现</a:t>
            </a:r>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2240649"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08745FD-5E00-495C-BFCE-85659094E49E}"/>
              </a:ext>
            </a:extLst>
          </p:cNvPr>
          <p:cNvSpPr/>
          <p:nvPr/>
        </p:nvSpPr>
        <p:spPr>
          <a:xfrm>
            <a:off x="1458208"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2020 年 GPT-3 涌现少样本学习，无需微调即完成新任务。</a:t>
            </a:r>
          </a:p>
        </p:txBody>
      </p:sp>
      <p:grpSp>
        <p:nvGrpSpPr>
          <p:cNvPr id="23" name="组合 22">
            <a:extLst>
              <a:ext uri="{FF2B5EF4-FFF2-40B4-BE49-F238E27FC236}">
                <a16:creationId xmlns:a16="http://schemas.microsoft.com/office/drawing/2014/main" id="{F35EE6F1-D64B-4442-8493-5A65DEB7D6D7}"/>
              </a:ext>
            </a:extLst>
          </p:cNvPr>
          <p:cNvGrpSpPr/>
          <p:nvPr/>
        </p:nvGrpSpPr>
        <p:grpSpPr>
          <a:xfrm>
            <a:off x="2317074" y="5164269"/>
            <a:ext cx="259309" cy="45720"/>
            <a:chOff x="2174965" y="5307240"/>
            <a:chExt cx="259309" cy="45720"/>
          </a:xfrm>
        </p:grpSpPr>
        <p:sp>
          <p:nvSpPr>
            <p:cNvPr id="24" name="椭圆 23">
              <a:extLst>
                <a:ext uri="{FF2B5EF4-FFF2-40B4-BE49-F238E27FC236}">
                  <a16:creationId xmlns:a16="http://schemas.microsoft.com/office/drawing/2014/main" id="{752C2F79-0767-4B29-8A5E-834DEED8F3DB}"/>
                </a:ext>
              </a:extLst>
            </p:cNvPr>
            <p:cNvSpPr/>
            <p:nvPr/>
          </p:nvSpPr>
          <p:spPr>
            <a:xfrm>
              <a:off x="2174965" y="5307240"/>
              <a:ext cx="45720" cy="457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6" name="椭圆 25">
              <a:extLst>
                <a:ext uri="{FF2B5EF4-FFF2-40B4-BE49-F238E27FC236}">
                  <a16:creationId xmlns:a16="http://schemas.microsoft.com/office/drawing/2014/main" id="{A0075F0E-CD96-4B3A-BF78-82B91ABA0A82}"/>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8" name="椭圆 27">
              <a:extLst>
                <a:ext uri="{FF2B5EF4-FFF2-40B4-BE49-F238E27FC236}">
                  <a16:creationId xmlns:a16="http://schemas.microsoft.com/office/drawing/2014/main" id="{0C136C17-8FB4-4EDE-8B26-C97D4E75EDA1}"/>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5" name="矩形: 折角 24">
            <a:extLst>
              <a:ext uri="{FF2B5EF4-FFF2-40B4-BE49-F238E27FC236}">
                <a16:creationId xmlns:a16="http://schemas.microsoft.com/office/drawing/2014/main" id="{119BD873-94D6-41D3-9DFF-1C1860249934}"/>
              </a:ext>
            </a:extLst>
          </p:cNvPr>
          <p:cNvSpPr/>
          <p:nvPr/>
        </p:nvSpPr>
        <p:spPr>
          <a:xfrm>
            <a:off x="4821900" y="1672302"/>
            <a:ext cx="2548200" cy="3653795"/>
          </a:xfrm>
          <a:prstGeom prst="foldedCorner">
            <a:avLst>
              <a:gd name="adj" fmla="val 12182"/>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a:extLst>
              <a:ext uri="{FF2B5EF4-FFF2-40B4-BE49-F238E27FC236}">
                <a16:creationId xmlns:a16="http://schemas.microsoft.com/office/drawing/2014/main" id="{F5D272BD-50CC-4678-8038-D81CED9D6A0D}"/>
              </a:ext>
            </a:extLst>
          </p:cNvPr>
          <p:cNvSpPr/>
          <p:nvPr/>
        </p:nvSpPr>
        <p:spPr>
          <a:xfrm>
            <a:off x="4929648"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幂律可测</a:t>
            </a:r>
          </a:p>
        </p:txBody>
      </p:sp>
      <p:cxnSp>
        <p:nvCxnSpPr>
          <p:cNvPr id="30" name="直接连接符 29">
            <a:extLst>
              <a:ext uri="{FF2B5EF4-FFF2-40B4-BE49-F238E27FC236}">
                <a16:creationId xmlns:a16="http://schemas.microsoft.com/office/drawing/2014/main" id="{22A70707-D392-473B-87F7-C03AEA08FF67}"/>
              </a:ext>
            </a:extLst>
          </p:cNvPr>
          <p:cNvCxnSpPr>
            <a:cxnSpLocks/>
          </p:cNvCxnSpPr>
          <p:nvPr/>
        </p:nvCxnSpPr>
        <p:spPr>
          <a:xfrm>
            <a:off x="5889921"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AF1FEF86-440C-448B-904B-EF5D52A9E317}"/>
              </a:ext>
            </a:extLst>
          </p:cNvPr>
          <p:cNvSpPr/>
          <p:nvPr/>
        </p:nvSpPr>
        <p:spPr>
          <a:xfrm>
            <a:off x="5107480"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Scaling Laws 将性能与参数算力刻为幂律，规模成纲领。</a:t>
            </a:r>
          </a:p>
        </p:txBody>
      </p:sp>
      <p:grpSp>
        <p:nvGrpSpPr>
          <p:cNvPr id="29" name="组合 28">
            <a:extLst>
              <a:ext uri="{FF2B5EF4-FFF2-40B4-BE49-F238E27FC236}">
                <a16:creationId xmlns:a16="http://schemas.microsoft.com/office/drawing/2014/main" id="{5C00CDEF-BAF1-4726-B12F-9412D019B464}"/>
              </a:ext>
            </a:extLst>
          </p:cNvPr>
          <p:cNvGrpSpPr/>
          <p:nvPr/>
        </p:nvGrpSpPr>
        <p:grpSpPr>
          <a:xfrm>
            <a:off x="5966346" y="5164269"/>
            <a:ext cx="259309" cy="45720"/>
            <a:chOff x="2174965" y="5307240"/>
            <a:chExt cx="259309" cy="45720"/>
          </a:xfrm>
        </p:grpSpPr>
        <p:sp>
          <p:nvSpPr>
            <p:cNvPr id="32" name="椭圆 31">
              <a:extLst>
                <a:ext uri="{FF2B5EF4-FFF2-40B4-BE49-F238E27FC236}">
                  <a16:creationId xmlns:a16="http://schemas.microsoft.com/office/drawing/2014/main" id="{595032D7-F09B-43F6-87BF-BC0FB163B87B}"/>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37" name="椭圆 36">
              <a:extLst>
                <a:ext uri="{FF2B5EF4-FFF2-40B4-BE49-F238E27FC236}">
                  <a16:creationId xmlns:a16="http://schemas.microsoft.com/office/drawing/2014/main" id="{CE829A2C-DC46-4451-918A-057058D759B6}"/>
                </a:ext>
              </a:extLst>
            </p:cNvPr>
            <p:cNvSpPr/>
            <p:nvPr/>
          </p:nvSpPr>
          <p:spPr>
            <a:xfrm>
              <a:off x="2278728"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2DE247BB-1354-427B-8FFE-2B3A669DA314}"/>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3" name="矩形: 圆角 32">
            <a:extLst>
              <a:ext uri="{FF2B5EF4-FFF2-40B4-BE49-F238E27FC236}">
                <a16:creationId xmlns:a16="http://schemas.microsoft.com/office/drawing/2014/main" id="{FAC004C3-57B0-4B98-B8D7-F3382A8BD161}"/>
              </a:ext>
            </a:extLst>
          </p:cNvPr>
          <p:cNvSpPr/>
          <p:nvPr/>
        </p:nvSpPr>
        <p:spPr>
          <a:xfrm>
            <a:off x="8471172"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矩形 33">
            <a:extLst>
              <a:ext uri="{FF2B5EF4-FFF2-40B4-BE49-F238E27FC236}">
                <a16:creationId xmlns:a16="http://schemas.microsoft.com/office/drawing/2014/main" id="{8017DDFB-C372-41F1-924E-06CE471AC517}"/>
              </a:ext>
            </a:extLst>
          </p:cNvPr>
          <p:cNvSpPr/>
          <p:nvPr/>
        </p:nvSpPr>
        <p:spPr>
          <a:xfrm>
            <a:off x="8578920"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配比修正</a:t>
            </a:r>
          </a:p>
        </p:txBody>
      </p:sp>
      <p:cxnSp>
        <p:nvCxnSpPr>
          <p:cNvPr id="35" name="直接连接符 34">
            <a:extLst>
              <a:ext uri="{FF2B5EF4-FFF2-40B4-BE49-F238E27FC236}">
                <a16:creationId xmlns:a16="http://schemas.microsoft.com/office/drawing/2014/main" id="{0B6D003E-FAA9-4439-887C-6A890DFAD0E3}"/>
              </a:ext>
            </a:extLst>
          </p:cNvPr>
          <p:cNvCxnSpPr>
            <a:cxnSpLocks/>
          </p:cNvCxnSpPr>
          <p:nvPr/>
        </p:nvCxnSpPr>
        <p:spPr>
          <a:xfrm>
            <a:off x="9539193"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F797F89-3860-4E04-8892-933C2ACF94D6}"/>
              </a:ext>
            </a:extLst>
          </p:cNvPr>
          <p:cNvSpPr/>
          <p:nvPr/>
        </p:nvSpPr>
        <p:spPr>
          <a:xfrm>
            <a:off x="8756752"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2022 年 Chinchilla 修正配比，行业从堆参数转向重数据。</a:t>
            </a:r>
          </a:p>
        </p:txBody>
      </p:sp>
      <p:grpSp>
        <p:nvGrpSpPr>
          <p:cNvPr id="43" name="组合 42">
            <a:extLst>
              <a:ext uri="{FF2B5EF4-FFF2-40B4-BE49-F238E27FC236}">
                <a16:creationId xmlns:a16="http://schemas.microsoft.com/office/drawing/2014/main" id="{927A192B-054D-4556-BE10-2EE8A008246D}"/>
              </a:ext>
            </a:extLst>
          </p:cNvPr>
          <p:cNvGrpSpPr/>
          <p:nvPr/>
        </p:nvGrpSpPr>
        <p:grpSpPr>
          <a:xfrm>
            <a:off x="9615618" y="5164269"/>
            <a:ext cx="259309" cy="45720"/>
            <a:chOff x="2174965" y="5307240"/>
            <a:chExt cx="259309" cy="45720"/>
          </a:xfrm>
        </p:grpSpPr>
        <p:sp>
          <p:nvSpPr>
            <p:cNvPr id="46" name="椭圆 45">
              <a:extLst>
                <a:ext uri="{FF2B5EF4-FFF2-40B4-BE49-F238E27FC236}">
                  <a16:creationId xmlns:a16="http://schemas.microsoft.com/office/drawing/2014/main" id="{A7CD82F4-3BF6-40C2-ACDF-D96717513E9D}"/>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7" name="椭圆 46">
              <a:extLst>
                <a:ext uri="{FF2B5EF4-FFF2-40B4-BE49-F238E27FC236}">
                  <a16:creationId xmlns:a16="http://schemas.microsoft.com/office/drawing/2014/main" id="{2D004D5F-6526-4330-82E0-8C6748E2E5C7}"/>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9" name="椭圆 48">
              <a:extLst>
                <a:ext uri="{FF2B5EF4-FFF2-40B4-BE49-F238E27FC236}">
                  <a16:creationId xmlns:a16="http://schemas.microsoft.com/office/drawing/2014/main" id="{3CAF9271-F626-417F-A6A2-5C8FEEEACBB2}"/>
                </a:ext>
              </a:extLst>
            </p:cNvPr>
            <p:cNvSpPr/>
            <p:nvPr/>
          </p:nvSpPr>
          <p:spPr>
            <a:xfrm>
              <a:off x="2388554"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占位符 10">
            <a:extLst>
              <a:ext uri="{FF2B5EF4-FFF2-40B4-BE49-F238E27FC236}">
                <a16:creationId xmlns:a16="http://schemas.microsoft.com/office/drawing/2014/main" id="{A5A452D6-AFBF-4A65-80EF-B451BD8974E9}"/>
              </a:ext>
            </a:extLst>
          </p:cNvPr>
          <p:cNvSpPr>
            <a:spLocks noGrp="1"/>
          </p:cNvSpPr>
          <p:nvPr>
            <p:ph type="body" sz="quarter" idx="10"/>
          </p:nvPr>
        </p:nvSpPr>
        <p:spPr>
          <a:xfrm>
            <a:off x="843917" y="371998"/>
            <a:ext cx="5252083" cy="360099"/>
          </a:xfrm>
        </p:spPr>
        <p:txBody>
          <a:bodyPr>
            <a:spAutoFit/>
          </a:bodyPr>
          <a:lstStyle/>
          <a:p>
            <a:r>
              <a:rPr lang="zh-CN" altLang="en-US" dirty="0"/>
              <a:t xml:space="preserve">规模扩展定律</a:t>
            </a:r>
          </a:p>
        </p:txBody>
      </p:sp>
    </p:spTree>
    <p:extLst>
      <p:ext uri="{BB962C8B-B14F-4D97-AF65-F5344CB8AC3E}">
        <p14:creationId xmlns:p14="http://schemas.microsoft.com/office/powerpoint/2010/main" val="4080946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171EDCD-8DDF-4F04-B956-24EBBA53C12C}"/>
              </a:ext>
            </a:extLst>
          </p:cNvPr>
          <p:cNvSpPr>
            <a:spLocks noGrp="1"/>
          </p:cNvSpPr>
          <p:nvPr>
            <p:ph type="body" sz="quarter" idx="10"/>
          </p:nvPr>
        </p:nvSpPr>
        <p:spPr/>
        <p:txBody>
          <a:bodyPr>
            <a:spAutoFit/>
          </a:bodyPr>
          <a:lstStyle/>
          <a:p>
            <a:r>
              <a:rPr lang="en-US" altLang="zh-CN" dirty="0"/>
              <a:t xml:space="preserve">04</a:t>
            </a:r>
          </a:p>
        </p:txBody>
      </p:sp>
      <p:sp>
        <p:nvSpPr>
          <p:cNvPr id="4" name="文本占位符 3">
            <a:extLst>
              <a:ext uri="{FF2B5EF4-FFF2-40B4-BE49-F238E27FC236}">
                <a16:creationId xmlns:a16="http://schemas.microsoft.com/office/drawing/2014/main" id="{75430996-678D-4517-8DEF-CCA6DB990153}"/>
              </a:ext>
            </a:extLst>
          </p:cNvPr>
          <p:cNvSpPr>
            <a:spLocks noGrp="1"/>
          </p:cNvSpPr>
          <p:nvPr>
            <p:ph type="body" sz="quarter" idx="11"/>
          </p:nvPr>
        </p:nvSpPr>
        <p:spPr>
          <a:xfrm>
            <a:off x="5524211" y="2266904"/>
            <a:ext cx="5867608" cy="830997"/>
          </a:xfrm>
        </p:spPr>
        <p:txBody>
          <a:bodyPr>
            <a:spAutoFit/>
          </a:bodyPr>
          <a:lstStyle/>
          <a:p>
            <a:pPr lvl="0">
              <a:lnSpc>
                <a:spcPct val="100000"/>
              </a:lnSpc>
              <a:spcBef>
                <a:spcPts val="0"/>
              </a:spcBef>
            </a:pPr>
            <a:r>
              <a:rPr lang="zh-CN" altLang="en-US" dirty="0">
                <a:solidFill>
                  <a:srgbClr val="006871"/>
                </a:solidFill>
              </a:rPr>
              <a:t xml:space="preserve">生成式AI时代</a:t>
            </a:r>
          </a:p>
        </p:txBody>
      </p:sp>
      <p:sp>
        <p:nvSpPr>
          <p:cNvPr id="5" name="文本占位符 4">
            <a:extLst>
              <a:ext uri="{FF2B5EF4-FFF2-40B4-BE49-F238E27FC236}">
                <a16:creationId xmlns:a16="http://schemas.microsoft.com/office/drawing/2014/main" id="{8E45D747-ABDF-4942-9346-C81D39148924}"/>
              </a:ext>
            </a:extLst>
          </p:cNvPr>
          <p:cNvSpPr>
            <a:spLocks noGrp="1"/>
          </p:cNvSpPr>
          <p:nvPr>
            <p:ph type="body" sz="quarter" idx="12"/>
          </p:nvPr>
        </p:nvSpPr>
        <p:spPr>
          <a:xfrm>
            <a:off x="5524211" y="3132779"/>
            <a:ext cx="5867608" cy="249299"/>
          </a:xfrm>
        </p:spPr>
        <p:txBody>
          <a:bodyPr>
            <a:spAutoFit/>
          </a:bodyPr>
          <a:lstStyle/>
          <a:p>
            <a:r>
              <a:rPr lang="zh-CN" altLang="en-US" dirty="0"/>
              <a:t xml:space="preserve">Generative AI (2022—至今)</a:t>
            </a:r>
          </a:p>
        </p:txBody>
      </p:sp>
      <p:sp>
        <p:nvSpPr>
          <p:cNvPr id="6" name="文本占位符 5">
            <a:extLst>
              <a:ext uri="{FF2B5EF4-FFF2-40B4-BE49-F238E27FC236}">
                <a16:creationId xmlns:a16="http://schemas.microsoft.com/office/drawing/2014/main" id="{69177E69-52BB-4C86-A925-3F0C2D388E9C}"/>
              </a:ext>
            </a:extLst>
          </p:cNvPr>
          <p:cNvSpPr>
            <a:spLocks noGrp="1"/>
          </p:cNvSpPr>
          <p:nvPr>
            <p:ph type="body" sz="quarter" idx="13"/>
          </p:nvPr>
        </p:nvSpPr>
        <p:spPr>
          <a:xfrm>
            <a:off x="5524211" y="3757038"/>
            <a:ext cx="3518189" cy="707373"/>
          </a:xfrm>
        </p:spPr>
        <p:txBody>
          <a:bodyPr>
            <a:spAutoFit/>
          </a:bodyPr>
          <a:lstStyle/>
          <a:p>
            <a:pPr lvl="0"/>
            <a:r>
              <a:rPr lang="zh-CN" altLang="en-US" dirty="0">
                <a:solidFill>
                  <a:prstClr val="black">
                    <a:lumMod val="50000"/>
                    <a:lumOff val="50000"/>
                  </a:prstClr>
                </a:solidFill>
              </a:rPr>
              <a:t xml:space="preserve">对齐技术与产业破圈</a:t>
            </a:r>
          </a:p>
        </p:txBody>
      </p:sp>
    </p:spTree>
    <p:extLst>
      <p:ext uri="{BB962C8B-B14F-4D97-AF65-F5344CB8AC3E}">
        <p14:creationId xmlns:p14="http://schemas.microsoft.com/office/powerpoint/2010/main" val="1431073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椭圆 30">
            <a:extLst>
              <a:ext uri="{FF2B5EF4-FFF2-40B4-BE49-F238E27FC236}">
                <a16:creationId xmlns:a16="http://schemas.microsoft.com/office/drawing/2014/main" id="{735E66CF-60D6-449D-8DF9-82C7CF106B7F}"/>
              </a:ext>
            </a:extLst>
          </p:cNvPr>
          <p:cNvSpPr/>
          <p:nvPr/>
        </p:nvSpPr>
        <p:spPr>
          <a:xfrm>
            <a:off x="3254622" y="1799933"/>
            <a:ext cx="3259394" cy="3259394"/>
          </a:xfrm>
          <a:prstGeom prst="ellipse">
            <a:avLst/>
          </a:prstGeom>
          <a:noFill/>
          <a:ln>
            <a:gradFill>
              <a:gsLst>
                <a:gs pos="0">
                  <a:schemeClr val="accent1">
                    <a:alpha val="28000"/>
                  </a:schemeClr>
                </a:gs>
                <a:gs pos="46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A5FF02ED-81F0-4C9E-B86E-F33100F40711}"/>
              </a:ext>
            </a:extLst>
          </p:cNvPr>
          <p:cNvSpPr/>
          <p:nvPr/>
        </p:nvSpPr>
        <p:spPr>
          <a:xfrm flipH="1">
            <a:off x="5677984" y="1798674"/>
            <a:ext cx="3259394" cy="3259394"/>
          </a:xfrm>
          <a:prstGeom prst="ellipse">
            <a:avLst/>
          </a:prstGeom>
          <a:noFill/>
          <a:ln>
            <a:gradFill>
              <a:gsLst>
                <a:gs pos="0">
                  <a:schemeClr val="accent1">
                    <a:alpha val="28000"/>
                  </a:schemeClr>
                </a:gs>
                <a:gs pos="46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grpSp>
        <p:nvGrpSpPr>
          <p:cNvPr id="6" name="组合 5">
            <a:extLst>
              <a:ext uri="{FF2B5EF4-FFF2-40B4-BE49-F238E27FC236}">
                <a16:creationId xmlns:a16="http://schemas.microsoft.com/office/drawing/2014/main" id="{111DDAFE-C85A-4E81-A372-823E5F2437FE}"/>
              </a:ext>
            </a:extLst>
          </p:cNvPr>
          <p:cNvGrpSpPr/>
          <p:nvPr/>
        </p:nvGrpSpPr>
        <p:grpSpPr>
          <a:xfrm>
            <a:off x="4287418" y="2832730"/>
            <a:ext cx="1193802" cy="1193800"/>
            <a:chOff x="11731621" y="4481261"/>
            <a:chExt cx="1696110" cy="1696108"/>
          </a:xfrm>
        </p:grpSpPr>
        <p:sp>
          <p:nvSpPr>
            <p:cNvPr id="4" name="椭圆 3">
              <a:extLst>
                <a:ext uri="{FF2B5EF4-FFF2-40B4-BE49-F238E27FC236}">
                  <a16:creationId xmlns:a16="http://schemas.microsoft.com/office/drawing/2014/main" id="{B8986608-420B-468B-9620-ABAACA3FF463}"/>
                </a:ext>
              </a:extLst>
            </p:cNvPr>
            <p:cNvSpPr/>
            <p:nvPr/>
          </p:nvSpPr>
          <p:spPr>
            <a:xfrm>
              <a:off x="11731621" y="4481261"/>
              <a:ext cx="1696110" cy="1696108"/>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2" name="任意多边形: 形状 21">
              <a:extLst>
                <a:ext uri="{FF2B5EF4-FFF2-40B4-BE49-F238E27FC236}">
                  <a16:creationId xmlns:a16="http://schemas.microsoft.com/office/drawing/2014/main" id="{07FB5954-B8A1-4D66-9293-32A5F3EF94F5}"/>
                </a:ext>
              </a:extLst>
            </p:cNvPr>
            <p:cNvSpPr>
              <a:spLocks noChangeAspect="1"/>
            </p:cNvSpPr>
            <p:nvPr/>
          </p:nvSpPr>
          <p:spPr bwMode="auto">
            <a:xfrm>
              <a:off x="12195128" y="4943560"/>
              <a:ext cx="769098" cy="767934"/>
            </a:xfrm>
            <a:custGeom>
              <a:avLst/>
              <a:gdLst>
                <a:gd name="T0" fmla="*/ 6827 w 6827"/>
                <a:gd name="T1" fmla="*/ 2901 h 6827"/>
                <a:gd name="T2" fmla="*/ 5973 w 6827"/>
                <a:gd name="T3" fmla="*/ 2048 h 6827"/>
                <a:gd name="T4" fmla="*/ 3663 w 6827"/>
                <a:gd name="T5" fmla="*/ 2048 h 6827"/>
                <a:gd name="T6" fmla="*/ 3436 w 6827"/>
                <a:gd name="T7" fmla="*/ 283 h 6827"/>
                <a:gd name="T8" fmla="*/ 2901 w 6827"/>
                <a:gd name="T9" fmla="*/ 0 h 6827"/>
                <a:gd name="T10" fmla="*/ 1925 w 6827"/>
                <a:gd name="T11" fmla="*/ 1247 h 6827"/>
                <a:gd name="T12" fmla="*/ 1494 w 6827"/>
                <a:gd name="T13" fmla="*/ 2415 h 6827"/>
                <a:gd name="T14" fmla="*/ 1365 w 6827"/>
                <a:gd name="T15" fmla="*/ 2389 h 6827"/>
                <a:gd name="T16" fmla="*/ 341 w 6827"/>
                <a:gd name="T17" fmla="*/ 2389 h 6827"/>
                <a:gd name="T18" fmla="*/ 0 w 6827"/>
                <a:gd name="T19" fmla="*/ 2731 h 6827"/>
                <a:gd name="T20" fmla="*/ 0 w 6827"/>
                <a:gd name="T21" fmla="*/ 6485 h 6827"/>
                <a:gd name="T22" fmla="*/ 341 w 6827"/>
                <a:gd name="T23" fmla="*/ 6827 h 6827"/>
                <a:gd name="T24" fmla="*/ 1365 w 6827"/>
                <a:gd name="T25" fmla="*/ 6827 h 6827"/>
                <a:gd name="T26" fmla="*/ 1664 w 6827"/>
                <a:gd name="T27" fmla="*/ 6642 h 6827"/>
                <a:gd name="T28" fmla="*/ 2219 w 6827"/>
                <a:gd name="T29" fmla="*/ 6827 h 6827"/>
                <a:gd name="T30" fmla="*/ 4949 w 6827"/>
                <a:gd name="T31" fmla="*/ 6827 h 6827"/>
                <a:gd name="T32" fmla="*/ 5792 w 6827"/>
                <a:gd name="T33" fmla="*/ 6324 h 6827"/>
                <a:gd name="T34" fmla="*/ 5807 w 6827"/>
                <a:gd name="T35" fmla="*/ 5675 h 6827"/>
                <a:gd name="T36" fmla="*/ 6133 w 6827"/>
                <a:gd name="T37" fmla="*/ 5300 h 6827"/>
                <a:gd name="T38" fmla="*/ 6149 w 6827"/>
                <a:gd name="T39" fmla="*/ 4651 h 6827"/>
                <a:gd name="T40" fmla="*/ 6474 w 6827"/>
                <a:gd name="T41" fmla="*/ 4276 h 6827"/>
                <a:gd name="T42" fmla="*/ 6480 w 6827"/>
                <a:gd name="T43" fmla="*/ 3598 h 6827"/>
                <a:gd name="T44" fmla="*/ 6827 w 6827"/>
                <a:gd name="T45" fmla="*/ 2901 h 6827"/>
                <a:gd name="T46" fmla="*/ 1365 w 6827"/>
                <a:gd name="T47" fmla="*/ 6144 h 6827"/>
                <a:gd name="T48" fmla="*/ 1365 w 6827"/>
                <a:gd name="T49" fmla="*/ 6485 h 6827"/>
                <a:gd name="T50" fmla="*/ 341 w 6827"/>
                <a:gd name="T51" fmla="*/ 6485 h 6827"/>
                <a:gd name="T52" fmla="*/ 341 w 6827"/>
                <a:gd name="T53" fmla="*/ 2731 h 6827"/>
                <a:gd name="T54" fmla="*/ 1365 w 6827"/>
                <a:gd name="T55" fmla="*/ 2731 h 6827"/>
                <a:gd name="T56" fmla="*/ 1365 w 6827"/>
                <a:gd name="T57" fmla="*/ 6144 h 6827"/>
                <a:gd name="T58" fmla="*/ 5973 w 6827"/>
                <a:gd name="T59" fmla="*/ 3413 h 6827"/>
                <a:gd name="T60" fmla="*/ 5632 w 6827"/>
                <a:gd name="T61" fmla="*/ 4437 h 6827"/>
                <a:gd name="T62" fmla="*/ 5291 w 6827"/>
                <a:gd name="T63" fmla="*/ 5461 h 6827"/>
                <a:gd name="T64" fmla="*/ 4949 w 6827"/>
                <a:gd name="T65" fmla="*/ 6485 h 6827"/>
                <a:gd name="T66" fmla="*/ 2219 w 6827"/>
                <a:gd name="T67" fmla="*/ 6485 h 6827"/>
                <a:gd name="T68" fmla="*/ 1707 w 6827"/>
                <a:gd name="T69" fmla="*/ 6144 h 6827"/>
                <a:gd name="T70" fmla="*/ 1707 w 6827"/>
                <a:gd name="T71" fmla="*/ 2731 h 6827"/>
                <a:gd name="T72" fmla="*/ 2901 w 6827"/>
                <a:gd name="T73" fmla="*/ 341 h 6827"/>
                <a:gd name="T74" fmla="*/ 3243 w 6827"/>
                <a:gd name="T75" fmla="*/ 2389 h 6827"/>
                <a:gd name="T76" fmla="*/ 5973 w 6827"/>
                <a:gd name="T77" fmla="*/ 2389 h 6827"/>
                <a:gd name="T78" fmla="*/ 5973 w 6827"/>
                <a:gd name="T79" fmla="*/ 341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827" h="6827">
                  <a:moveTo>
                    <a:pt x="6827" y="2901"/>
                  </a:moveTo>
                  <a:cubicBezTo>
                    <a:pt x="6827" y="2488"/>
                    <a:pt x="6528" y="2048"/>
                    <a:pt x="5973" y="2048"/>
                  </a:cubicBezTo>
                  <a:lnTo>
                    <a:pt x="3663" y="2048"/>
                  </a:lnTo>
                  <a:cubicBezTo>
                    <a:pt x="3794" y="1272"/>
                    <a:pt x="3716" y="643"/>
                    <a:pt x="3436" y="283"/>
                  </a:cubicBezTo>
                  <a:cubicBezTo>
                    <a:pt x="3293" y="101"/>
                    <a:pt x="3103" y="0"/>
                    <a:pt x="2901" y="0"/>
                  </a:cubicBezTo>
                  <a:cubicBezTo>
                    <a:pt x="2254" y="0"/>
                    <a:pt x="2087" y="634"/>
                    <a:pt x="1925" y="1247"/>
                  </a:cubicBezTo>
                  <a:cubicBezTo>
                    <a:pt x="1826" y="1624"/>
                    <a:pt x="1709" y="2043"/>
                    <a:pt x="1494" y="2415"/>
                  </a:cubicBezTo>
                  <a:cubicBezTo>
                    <a:pt x="1454" y="2399"/>
                    <a:pt x="1411" y="2389"/>
                    <a:pt x="1365" y="2389"/>
                  </a:cubicBezTo>
                  <a:lnTo>
                    <a:pt x="341" y="2389"/>
                  </a:lnTo>
                  <a:cubicBezTo>
                    <a:pt x="153" y="2389"/>
                    <a:pt x="0" y="2542"/>
                    <a:pt x="0" y="2731"/>
                  </a:cubicBezTo>
                  <a:lnTo>
                    <a:pt x="0" y="6485"/>
                  </a:lnTo>
                  <a:cubicBezTo>
                    <a:pt x="0" y="6674"/>
                    <a:pt x="153" y="6827"/>
                    <a:pt x="341" y="6827"/>
                  </a:cubicBezTo>
                  <a:lnTo>
                    <a:pt x="1365" y="6827"/>
                  </a:lnTo>
                  <a:cubicBezTo>
                    <a:pt x="1496" y="6827"/>
                    <a:pt x="1606" y="6751"/>
                    <a:pt x="1664" y="6642"/>
                  </a:cubicBezTo>
                  <a:cubicBezTo>
                    <a:pt x="1797" y="6747"/>
                    <a:pt x="1977" y="6827"/>
                    <a:pt x="2219" y="6827"/>
                  </a:cubicBezTo>
                  <a:lnTo>
                    <a:pt x="4949" y="6827"/>
                  </a:lnTo>
                  <a:cubicBezTo>
                    <a:pt x="5352" y="6827"/>
                    <a:pt x="5659" y="6644"/>
                    <a:pt x="5792" y="6324"/>
                  </a:cubicBezTo>
                  <a:cubicBezTo>
                    <a:pt x="5874" y="6125"/>
                    <a:pt x="5876" y="5893"/>
                    <a:pt x="5807" y="5675"/>
                  </a:cubicBezTo>
                  <a:cubicBezTo>
                    <a:pt x="5954" y="5589"/>
                    <a:pt x="6066" y="5462"/>
                    <a:pt x="6133" y="5300"/>
                  </a:cubicBezTo>
                  <a:cubicBezTo>
                    <a:pt x="6215" y="5101"/>
                    <a:pt x="6217" y="4869"/>
                    <a:pt x="6149" y="4651"/>
                  </a:cubicBezTo>
                  <a:cubicBezTo>
                    <a:pt x="6295" y="4565"/>
                    <a:pt x="6407" y="4438"/>
                    <a:pt x="6474" y="4276"/>
                  </a:cubicBezTo>
                  <a:cubicBezTo>
                    <a:pt x="6560" y="4068"/>
                    <a:pt x="6558" y="3825"/>
                    <a:pt x="6480" y="3598"/>
                  </a:cubicBezTo>
                  <a:cubicBezTo>
                    <a:pt x="6708" y="3434"/>
                    <a:pt x="6827" y="3162"/>
                    <a:pt x="6827" y="2901"/>
                  </a:cubicBezTo>
                  <a:close/>
                  <a:moveTo>
                    <a:pt x="1365" y="6144"/>
                  </a:moveTo>
                  <a:lnTo>
                    <a:pt x="1365" y="6485"/>
                  </a:lnTo>
                  <a:lnTo>
                    <a:pt x="341" y="6485"/>
                  </a:lnTo>
                  <a:lnTo>
                    <a:pt x="341" y="2731"/>
                  </a:lnTo>
                  <a:lnTo>
                    <a:pt x="1365" y="2731"/>
                  </a:lnTo>
                  <a:lnTo>
                    <a:pt x="1365" y="6144"/>
                  </a:lnTo>
                  <a:close/>
                  <a:moveTo>
                    <a:pt x="5973" y="3413"/>
                  </a:moveTo>
                  <a:cubicBezTo>
                    <a:pt x="6315" y="3755"/>
                    <a:pt x="6315" y="4437"/>
                    <a:pt x="5632" y="4437"/>
                  </a:cubicBezTo>
                  <a:cubicBezTo>
                    <a:pt x="5973" y="4779"/>
                    <a:pt x="5973" y="5461"/>
                    <a:pt x="5291" y="5461"/>
                  </a:cubicBezTo>
                  <a:cubicBezTo>
                    <a:pt x="5632" y="5803"/>
                    <a:pt x="5632" y="6485"/>
                    <a:pt x="4949" y="6485"/>
                  </a:cubicBezTo>
                  <a:lnTo>
                    <a:pt x="2219" y="6485"/>
                  </a:lnTo>
                  <a:cubicBezTo>
                    <a:pt x="1799" y="6485"/>
                    <a:pt x="1707" y="6144"/>
                    <a:pt x="1707" y="6144"/>
                  </a:cubicBezTo>
                  <a:lnTo>
                    <a:pt x="1707" y="2731"/>
                  </a:lnTo>
                  <a:cubicBezTo>
                    <a:pt x="2389" y="1707"/>
                    <a:pt x="2219" y="341"/>
                    <a:pt x="2901" y="341"/>
                  </a:cubicBezTo>
                  <a:cubicBezTo>
                    <a:pt x="3243" y="341"/>
                    <a:pt x="3584" y="1024"/>
                    <a:pt x="3243" y="2389"/>
                  </a:cubicBezTo>
                  <a:lnTo>
                    <a:pt x="5973" y="2389"/>
                  </a:lnTo>
                  <a:cubicBezTo>
                    <a:pt x="6656" y="2389"/>
                    <a:pt x="6656" y="3413"/>
                    <a:pt x="5973" y="3413"/>
                  </a:cubicBezTo>
                  <a:close/>
                </a:path>
              </a:pathLst>
            </a:custGeom>
            <a:solidFill>
              <a:schemeClr val="accent3"/>
            </a:solidFill>
            <a:ln>
              <a:noFill/>
            </a:ln>
          </p:spPr>
          <p:txBody>
            <a:bodyPr/>
            <a:lstStyle/>
            <a:p>
              <a:endParaRPr lang="zh-CN" altLang="en-US"/>
            </a:p>
          </p:txBody>
        </p:sp>
      </p:grpSp>
      <p:grpSp>
        <p:nvGrpSpPr>
          <p:cNvPr id="24" name="组合 23">
            <a:extLst>
              <a:ext uri="{FF2B5EF4-FFF2-40B4-BE49-F238E27FC236}">
                <a16:creationId xmlns:a16="http://schemas.microsoft.com/office/drawing/2014/main" id="{FFA7BEF0-C620-4EAC-B079-D5AF6211DD9E}"/>
              </a:ext>
            </a:extLst>
          </p:cNvPr>
          <p:cNvGrpSpPr/>
          <p:nvPr/>
        </p:nvGrpSpPr>
        <p:grpSpPr>
          <a:xfrm>
            <a:off x="6710780" y="2831471"/>
            <a:ext cx="1193802" cy="1193800"/>
            <a:chOff x="11731621" y="4481261"/>
            <a:chExt cx="1696110" cy="1696108"/>
          </a:xfrm>
        </p:grpSpPr>
        <p:sp>
          <p:nvSpPr>
            <p:cNvPr id="25" name="椭圆 24">
              <a:extLst>
                <a:ext uri="{FF2B5EF4-FFF2-40B4-BE49-F238E27FC236}">
                  <a16:creationId xmlns:a16="http://schemas.microsoft.com/office/drawing/2014/main" id="{0EBBB765-D82D-4E43-A5A0-9BCE2222413C}"/>
                </a:ext>
              </a:extLst>
            </p:cNvPr>
            <p:cNvSpPr/>
            <p:nvPr/>
          </p:nvSpPr>
          <p:spPr>
            <a:xfrm>
              <a:off x="11731621" y="4481261"/>
              <a:ext cx="1696110" cy="1696108"/>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7" name="任意多边形: 形状 26">
              <a:extLst>
                <a:ext uri="{FF2B5EF4-FFF2-40B4-BE49-F238E27FC236}">
                  <a16:creationId xmlns:a16="http://schemas.microsoft.com/office/drawing/2014/main" id="{50370C82-52CA-4F3D-8044-518966C783D9}"/>
                </a:ext>
              </a:extLst>
            </p:cNvPr>
            <p:cNvSpPr>
              <a:spLocks noChangeAspect="1"/>
            </p:cNvSpPr>
            <p:nvPr/>
          </p:nvSpPr>
          <p:spPr bwMode="auto">
            <a:xfrm flipH="1" flipV="1">
              <a:off x="12195128" y="4943560"/>
              <a:ext cx="769098" cy="767934"/>
            </a:xfrm>
            <a:custGeom>
              <a:avLst/>
              <a:gdLst>
                <a:gd name="T0" fmla="*/ 6827 w 6827"/>
                <a:gd name="T1" fmla="*/ 2901 h 6827"/>
                <a:gd name="T2" fmla="*/ 5973 w 6827"/>
                <a:gd name="T3" fmla="*/ 2048 h 6827"/>
                <a:gd name="T4" fmla="*/ 3663 w 6827"/>
                <a:gd name="T5" fmla="*/ 2048 h 6827"/>
                <a:gd name="T6" fmla="*/ 3436 w 6827"/>
                <a:gd name="T7" fmla="*/ 283 h 6827"/>
                <a:gd name="T8" fmla="*/ 2901 w 6827"/>
                <a:gd name="T9" fmla="*/ 0 h 6827"/>
                <a:gd name="T10" fmla="*/ 1925 w 6827"/>
                <a:gd name="T11" fmla="*/ 1247 h 6827"/>
                <a:gd name="T12" fmla="*/ 1494 w 6827"/>
                <a:gd name="T13" fmla="*/ 2415 h 6827"/>
                <a:gd name="T14" fmla="*/ 1365 w 6827"/>
                <a:gd name="T15" fmla="*/ 2389 h 6827"/>
                <a:gd name="T16" fmla="*/ 341 w 6827"/>
                <a:gd name="T17" fmla="*/ 2389 h 6827"/>
                <a:gd name="T18" fmla="*/ 0 w 6827"/>
                <a:gd name="T19" fmla="*/ 2731 h 6827"/>
                <a:gd name="T20" fmla="*/ 0 w 6827"/>
                <a:gd name="T21" fmla="*/ 6485 h 6827"/>
                <a:gd name="T22" fmla="*/ 341 w 6827"/>
                <a:gd name="T23" fmla="*/ 6827 h 6827"/>
                <a:gd name="T24" fmla="*/ 1365 w 6827"/>
                <a:gd name="T25" fmla="*/ 6827 h 6827"/>
                <a:gd name="T26" fmla="*/ 1664 w 6827"/>
                <a:gd name="T27" fmla="*/ 6642 h 6827"/>
                <a:gd name="T28" fmla="*/ 2219 w 6827"/>
                <a:gd name="T29" fmla="*/ 6827 h 6827"/>
                <a:gd name="T30" fmla="*/ 4949 w 6827"/>
                <a:gd name="T31" fmla="*/ 6827 h 6827"/>
                <a:gd name="T32" fmla="*/ 5792 w 6827"/>
                <a:gd name="T33" fmla="*/ 6324 h 6827"/>
                <a:gd name="T34" fmla="*/ 5807 w 6827"/>
                <a:gd name="T35" fmla="*/ 5675 h 6827"/>
                <a:gd name="T36" fmla="*/ 6133 w 6827"/>
                <a:gd name="T37" fmla="*/ 5300 h 6827"/>
                <a:gd name="T38" fmla="*/ 6149 w 6827"/>
                <a:gd name="T39" fmla="*/ 4651 h 6827"/>
                <a:gd name="T40" fmla="*/ 6474 w 6827"/>
                <a:gd name="T41" fmla="*/ 4276 h 6827"/>
                <a:gd name="T42" fmla="*/ 6480 w 6827"/>
                <a:gd name="T43" fmla="*/ 3598 h 6827"/>
                <a:gd name="T44" fmla="*/ 6827 w 6827"/>
                <a:gd name="T45" fmla="*/ 2901 h 6827"/>
                <a:gd name="T46" fmla="*/ 1365 w 6827"/>
                <a:gd name="T47" fmla="*/ 6144 h 6827"/>
                <a:gd name="T48" fmla="*/ 1365 w 6827"/>
                <a:gd name="T49" fmla="*/ 6485 h 6827"/>
                <a:gd name="T50" fmla="*/ 341 w 6827"/>
                <a:gd name="T51" fmla="*/ 6485 h 6827"/>
                <a:gd name="T52" fmla="*/ 341 w 6827"/>
                <a:gd name="T53" fmla="*/ 2731 h 6827"/>
                <a:gd name="T54" fmla="*/ 1365 w 6827"/>
                <a:gd name="T55" fmla="*/ 2731 h 6827"/>
                <a:gd name="T56" fmla="*/ 1365 w 6827"/>
                <a:gd name="T57" fmla="*/ 6144 h 6827"/>
                <a:gd name="T58" fmla="*/ 5973 w 6827"/>
                <a:gd name="T59" fmla="*/ 3413 h 6827"/>
                <a:gd name="T60" fmla="*/ 5632 w 6827"/>
                <a:gd name="T61" fmla="*/ 4437 h 6827"/>
                <a:gd name="T62" fmla="*/ 5291 w 6827"/>
                <a:gd name="T63" fmla="*/ 5461 h 6827"/>
                <a:gd name="T64" fmla="*/ 4949 w 6827"/>
                <a:gd name="T65" fmla="*/ 6485 h 6827"/>
                <a:gd name="T66" fmla="*/ 2219 w 6827"/>
                <a:gd name="T67" fmla="*/ 6485 h 6827"/>
                <a:gd name="T68" fmla="*/ 1707 w 6827"/>
                <a:gd name="T69" fmla="*/ 6144 h 6827"/>
                <a:gd name="T70" fmla="*/ 1707 w 6827"/>
                <a:gd name="T71" fmla="*/ 2731 h 6827"/>
                <a:gd name="T72" fmla="*/ 2901 w 6827"/>
                <a:gd name="T73" fmla="*/ 341 h 6827"/>
                <a:gd name="T74" fmla="*/ 3243 w 6827"/>
                <a:gd name="T75" fmla="*/ 2389 h 6827"/>
                <a:gd name="T76" fmla="*/ 5973 w 6827"/>
                <a:gd name="T77" fmla="*/ 2389 h 6827"/>
                <a:gd name="T78" fmla="*/ 5973 w 6827"/>
                <a:gd name="T79" fmla="*/ 341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827" h="6827">
                  <a:moveTo>
                    <a:pt x="6827" y="2901"/>
                  </a:moveTo>
                  <a:cubicBezTo>
                    <a:pt x="6827" y="2488"/>
                    <a:pt x="6528" y="2048"/>
                    <a:pt x="5973" y="2048"/>
                  </a:cubicBezTo>
                  <a:lnTo>
                    <a:pt x="3663" y="2048"/>
                  </a:lnTo>
                  <a:cubicBezTo>
                    <a:pt x="3794" y="1272"/>
                    <a:pt x="3716" y="643"/>
                    <a:pt x="3436" y="283"/>
                  </a:cubicBezTo>
                  <a:cubicBezTo>
                    <a:pt x="3293" y="101"/>
                    <a:pt x="3103" y="0"/>
                    <a:pt x="2901" y="0"/>
                  </a:cubicBezTo>
                  <a:cubicBezTo>
                    <a:pt x="2254" y="0"/>
                    <a:pt x="2087" y="634"/>
                    <a:pt x="1925" y="1247"/>
                  </a:cubicBezTo>
                  <a:cubicBezTo>
                    <a:pt x="1826" y="1624"/>
                    <a:pt x="1709" y="2043"/>
                    <a:pt x="1494" y="2415"/>
                  </a:cubicBezTo>
                  <a:cubicBezTo>
                    <a:pt x="1454" y="2399"/>
                    <a:pt x="1411" y="2389"/>
                    <a:pt x="1365" y="2389"/>
                  </a:cubicBezTo>
                  <a:lnTo>
                    <a:pt x="341" y="2389"/>
                  </a:lnTo>
                  <a:cubicBezTo>
                    <a:pt x="153" y="2389"/>
                    <a:pt x="0" y="2542"/>
                    <a:pt x="0" y="2731"/>
                  </a:cubicBezTo>
                  <a:lnTo>
                    <a:pt x="0" y="6485"/>
                  </a:lnTo>
                  <a:cubicBezTo>
                    <a:pt x="0" y="6674"/>
                    <a:pt x="153" y="6827"/>
                    <a:pt x="341" y="6827"/>
                  </a:cubicBezTo>
                  <a:lnTo>
                    <a:pt x="1365" y="6827"/>
                  </a:lnTo>
                  <a:cubicBezTo>
                    <a:pt x="1496" y="6827"/>
                    <a:pt x="1606" y="6751"/>
                    <a:pt x="1664" y="6642"/>
                  </a:cubicBezTo>
                  <a:cubicBezTo>
                    <a:pt x="1797" y="6747"/>
                    <a:pt x="1977" y="6827"/>
                    <a:pt x="2219" y="6827"/>
                  </a:cubicBezTo>
                  <a:lnTo>
                    <a:pt x="4949" y="6827"/>
                  </a:lnTo>
                  <a:cubicBezTo>
                    <a:pt x="5352" y="6827"/>
                    <a:pt x="5659" y="6644"/>
                    <a:pt x="5792" y="6324"/>
                  </a:cubicBezTo>
                  <a:cubicBezTo>
                    <a:pt x="5874" y="6125"/>
                    <a:pt x="5876" y="5893"/>
                    <a:pt x="5807" y="5675"/>
                  </a:cubicBezTo>
                  <a:cubicBezTo>
                    <a:pt x="5954" y="5589"/>
                    <a:pt x="6066" y="5462"/>
                    <a:pt x="6133" y="5300"/>
                  </a:cubicBezTo>
                  <a:cubicBezTo>
                    <a:pt x="6215" y="5101"/>
                    <a:pt x="6217" y="4869"/>
                    <a:pt x="6149" y="4651"/>
                  </a:cubicBezTo>
                  <a:cubicBezTo>
                    <a:pt x="6295" y="4565"/>
                    <a:pt x="6407" y="4438"/>
                    <a:pt x="6474" y="4276"/>
                  </a:cubicBezTo>
                  <a:cubicBezTo>
                    <a:pt x="6560" y="4068"/>
                    <a:pt x="6558" y="3825"/>
                    <a:pt x="6480" y="3598"/>
                  </a:cubicBezTo>
                  <a:cubicBezTo>
                    <a:pt x="6708" y="3434"/>
                    <a:pt x="6827" y="3162"/>
                    <a:pt x="6827" y="2901"/>
                  </a:cubicBezTo>
                  <a:close/>
                  <a:moveTo>
                    <a:pt x="1365" y="6144"/>
                  </a:moveTo>
                  <a:lnTo>
                    <a:pt x="1365" y="6485"/>
                  </a:lnTo>
                  <a:lnTo>
                    <a:pt x="341" y="6485"/>
                  </a:lnTo>
                  <a:lnTo>
                    <a:pt x="341" y="2731"/>
                  </a:lnTo>
                  <a:lnTo>
                    <a:pt x="1365" y="2731"/>
                  </a:lnTo>
                  <a:lnTo>
                    <a:pt x="1365" y="6144"/>
                  </a:lnTo>
                  <a:close/>
                  <a:moveTo>
                    <a:pt x="5973" y="3413"/>
                  </a:moveTo>
                  <a:cubicBezTo>
                    <a:pt x="6315" y="3755"/>
                    <a:pt x="6315" y="4437"/>
                    <a:pt x="5632" y="4437"/>
                  </a:cubicBezTo>
                  <a:cubicBezTo>
                    <a:pt x="5973" y="4779"/>
                    <a:pt x="5973" y="5461"/>
                    <a:pt x="5291" y="5461"/>
                  </a:cubicBezTo>
                  <a:cubicBezTo>
                    <a:pt x="5632" y="5803"/>
                    <a:pt x="5632" y="6485"/>
                    <a:pt x="4949" y="6485"/>
                  </a:cubicBezTo>
                  <a:lnTo>
                    <a:pt x="2219" y="6485"/>
                  </a:lnTo>
                  <a:cubicBezTo>
                    <a:pt x="1799" y="6485"/>
                    <a:pt x="1707" y="6144"/>
                    <a:pt x="1707" y="6144"/>
                  </a:cubicBezTo>
                  <a:lnTo>
                    <a:pt x="1707" y="2731"/>
                  </a:lnTo>
                  <a:cubicBezTo>
                    <a:pt x="2389" y="1707"/>
                    <a:pt x="2219" y="341"/>
                    <a:pt x="2901" y="341"/>
                  </a:cubicBezTo>
                  <a:cubicBezTo>
                    <a:pt x="3243" y="341"/>
                    <a:pt x="3584" y="1024"/>
                    <a:pt x="3243" y="2389"/>
                  </a:cubicBezTo>
                  <a:lnTo>
                    <a:pt x="5973" y="2389"/>
                  </a:lnTo>
                  <a:cubicBezTo>
                    <a:pt x="6656" y="2389"/>
                    <a:pt x="6656" y="3413"/>
                    <a:pt x="5973" y="3413"/>
                  </a:cubicBezTo>
                  <a:close/>
                </a:path>
              </a:pathLst>
            </a:custGeom>
            <a:solidFill>
              <a:schemeClr val="accent3"/>
            </a:solidFill>
            <a:ln>
              <a:noFill/>
            </a:ln>
          </p:spPr>
          <p:txBody>
            <a:bodyPr/>
            <a:lstStyle/>
            <a:p>
              <a:endParaRPr lang="zh-CN" altLang="en-US"/>
            </a:p>
          </p:txBody>
        </p:sp>
      </p:grpSp>
      <p:sp>
        <p:nvSpPr>
          <p:cNvPr id="7" name="乘号 6">
            <a:extLst>
              <a:ext uri="{FF2B5EF4-FFF2-40B4-BE49-F238E27FC236}">
                <a16:creationId xmlns:a16="http://schemas.microsoft.com/office/drawing/2014/main" id="{E3C4B884-B325-4501-B0D3-78F74712870A}"/>
              </a:ext>
            </a:extLst>
          </p:cNvPr>
          <p:cNvSpPr/>
          <p:nvPr/>
        </p:nvSpPr>
        <p:spPr>
          <a:xfrm>
            <a:off x="5803106" y="3136106"/>
            <a:ext cx="585788" cy="585788"/>
          </a:xfrm>
          <a:prstGeom prst="mathMultiply">
            <a:avLst>
              <a:gd name="adj1" fmla="val 2921"/>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1" name="椭圆 20">
            <a:extLst>
              <a:ext uri="{FF2B5EF4-FFF2-40B4-BE49-F238E27FC236}">
                <a16:creationId xmlns:a16="http://schemas.microsoft.com/office/drawing/2014/main" id="{F52C0ABF-BE2E-4840-9328-C5D0BC2447DB}"/>
              </a:ext>
            </a:extLst>
          </p:cNvPr>
          <p:cNvSpPr/>
          <p:nvPr/>
        </p:nvSpPr>
        <p:spPr>
          <a:xfrm>
            <a:off x="3711012" y="1770722"/>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dirty="0">
                <a:solidFill>
                  <a:schemeClr val="tx1">
                    <a:lumMod val="65000"/>
                    <a:lumOff val="35000"/>
                  </a:schemeClr>
                </a:solidFill>
                <a:latin typeface="微软雅黑"/>
              </a:rPr>
              <a:t>一</a:t>
            </a:r>
          </a:p>
        </p:txBody>
      </p:sp>
      <p:sp>
        <p:nvSpPr>
          <p:cNvPr id="28" name="椭圆 27">
            <a:extLst>
              <a:ext uri="{FF2B5EF4-FFF2-40B4-BE49-F238E27FC236}">
                <a16:creationId xmlns:a16="http://schemas.microsoft.com/office/drawing/2014/main" id="{BC981A04-B835-4136-847F-D03F7DAA6029}"/>
              </a:ext>
            </a:extLst>
          </p:cNvPr>
          <p:cNvSpPr/>
          <p:nvPr/>
        </p:nvSpPr>
        <p:spPr>
          <a:xfrm>
            <a:off x="3711012" y="4512131"/>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dirty="0">
                <a:solidFill>
                  <a:schemeClr val="tx1">
                    <a:lumMod val="65000"/>
                    <a:lumOff val="35000"/>
                  </a:schemeClr>
                </a:solidFill>
                <a:latin typeface="微软雅黑"/>
              </a:rPr>
              <a:t>三</a:t>
            </a:r>
          </a:p>
        </p:txBody>
      </p:sp>
      <p:sp>
        <p:nvSpPr>
          <p:cNvPr id="39" name="椭圆 38">
            <a:extLst>
              <a:ext uri="{FF2B5EF4-FFF2-40B4-BE49-F238E27FC236}">
                <a16:creationId xmlns:a16="http://schemas.microsoft.com/office/drawing/2014/main" id="{F9531823-1761-4655-A0C6-1B20DB49D423}"/>
              </a:ext>
            </a:extLst>
          </p:cNvPr>
          <p:cNvSpPr/>
          <p:nvPr/>
        </p:nvSpPr>
        <p:spPr>
          <a:xfrm flipH="1">
            <a:off x="7904582" y="1769463"/>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dirty="0">
                <a:solidFill>
                  <a:schemeClr val="tx1">
                    <a:lumMod val="65000"/>
                    <a:lumOff val="35000"/>
                  </a:schemeClr>
                </a:solidFill>
                <a:latin typeface="+mn-ea"/>
              </a:rPr>
              <a:t>一</a:t>
            </a:r>
          </a:p>
        </p:txBody>
      </p:sp>
      <p:sp>
        <p:nvSpPr>
          <p:cNvPr id="40" name="椭圆 39">
            <a:extLst>
              <a:ext uri="{FF2B5EF4-FFF2-40B4-BE49-F238E27FC236}">
                <a16:creationId xmlns:a16="http://schemas.microsoft.com/office/drawing/2014/main" id="{50E03702-0E09-4FC7-BBC5-26F558423602}"/>
              </a:ext>
            </a:extLst>
          </p:cNvPr>
          <p:cNvSpPr/>
          <p:nvPr/>
        </p:nvSpPr>
        <p:spPr>
          <a:xfrm flipH="1">
            <a:off x="7904582" y="4510872"/>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zh-CN" altLang="en-US" dirty="0">
                <a:solidFill>
                  <a:schemeClr val="tx1">
                    <a:lumMod val="65000"/>
                    <a:lumOff val="35000"/>
                  </a:schemeClr>
                </a:solidFill>
                <a:latin typeface="+mn-ea"/>
              </a:rPr>
              <a:t>三</a:t>
            </a:r>
          </a:p>
        </p:txBody>
      </p:sp>
      <p:sp>
        <p:nvSpPr>
          <p:cNvPr id="41" name="椭圆 40">
            <a:extLst>
              <a:ext uri="{FF2B5EF4-FFF2-40B4-BE49-F238E27FC236}">
                <a16:creationId xmlns:a16="http://schemas.microsoft.com/office/drawing/2014/main" id="{41D135B6-2B5F-4322-AC1E-AFCCFD82AA6A}"/>
              </a:ext>
            </a:extLst>
          </p:cNvPr>
          <p:cNvSpPr/>
          <p:nvPr/>
        </p:nvSpPr>
        <p:spPr>
          <a:xfrm flipH="1">
            <a:off x="8649175" y="3141426"/>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zh-CN" altLang="en-US" dirty="0">
                <a:solidFill>
                  <a:schemeClr val="tx1">
                    <a:lumMod val="65000"/>
                    <a:lumOff val="35000"/>
                  </a:schemeClr>
                </a:solidFill>
                <a:latin typeface="+mn-ea"/>
              </a:rPr>
              <a:t>二</a:t>
            </a:r>
          </a:p>
        </p:txBody>
      </p:sp>
      <p:sp>
        <p:nvSpPr>
          <p:cNvPr id="30" name="椭圆 29">
            <a:extLst>
              <a:ext uri="{FF2B5EF4-FFF2-40B4-BE49-F238E27FC236}">
                <a16:creationId xmlns:a16="http://schemas.microsoft.com/office/drawing/2014/main" id="{2CCAC880-79EE-442F-AF8B-F0DF0C56F078}"/>
              </a:ext>
            </a:extLst>
          </p:cNvPr>
          <p:cNvSpPr/>
          <p:nvPr/>
        </p:nvSpPr>
        <p:spPr>
          <a:xfrm>
            <a:off x="2966419" y="3141426"/>
            <a:ext cx="576406" cy="576406"/>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dirty="0">
                <a:solidFill>
                  <a:schemeClr val="tx1">
                    <a:lumMod val="65000"/>
                    <a:lumOff val="35000"/>
                  </a:schemeClr>
                </a:solidFill>
                <a:latin typeface="微软雅黑"/>
              </a:rPr>
              <a:t>二</a:t>
            </a:r>
          </a:p>
        </p:txBody>
      </p:sp>
      <p:sp>
        <p:nvSpPr>
          <p:cNvPr id="8" name="文本框 7">
            <a:extLst>
              <a:ext uri="{FF2B5EF4-FFF2-40B4-BE49-F238E27FC236}">
                <a16:creationId xmlns:a16="http://schemas.microsoft.com/office/drawing/2014/main" id="{AC14F87C-5669-41B3-85FF-FBDF2E2A8CC5}"/>
              </a:ext>
            </a:extLst>
          </p:cNvPr>
          <p:cNvSpPr txBox="1"/>
          <p:nvPr/>
        </p:nvSpPr>
        <p:spPr>
          <a:xfrm>
            <a:off x="8749438" y="1706844"/>
            <a:ext cx="1770208" cy="695190"/>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对齐模型</a:t>
            </a:r>
          </a:p>
        </p:txBody>
      </p:sp>
      <p:sp>
        <p:nvSpPr>
          <p:cNvPr id="45" name="文本框 44">
            <a:extLst>
              <a:ext uri="{FF2B5EF4-FFF2-40B4-BE49-F238E27FC236}">
                <a16:creationId xmlns:a16="http://schemas.microsoft.com/office/drawing/2014/main" id="{B9700C4B-DE6E-4F88-B539-F89F7ADFEDBF}"/>
              </a:ext>
            </a:extLst>
          </p:cNvPr>
          <p:cNvSpPr txBox="1"/>
          <p:nvPr/>
        </p:nvSpPr>
        <p:spPr>
          <a:xfrm>
            <a:off x="8749438" y="4455967"/>
            <a:ext cx="1770208" cy="695190"/>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RLHF 让 13 亿参数模型偏好超越 GPT-3，成为助手。</a:t>
            </a:r>
          </a:p>
        </p:txBody>
      </p:sp>
      <p:sp>
        <p:nvSpPr>
          <p:cNvPr id="46" name="文本框 45">
            <a:extLst>
              <a:ext uri="{FF2B5EF4-FFF2-40B4-BE49-F238E27FC236}">
                <a16:creationId xmlns:a16="http://schemas.microsoft.com/office/drawing/2014/main" id="{8F0564B8-D73D-41D5-8F0B-8A8A35CD65E4}"/>
              </a:ext>
            </a:extLst>
          </p:cNvPr>
          <p:cNvSpPr txBox="1"/>
          <p:nvPr/>
        </p:nvSpPr>
        <p:spPr>
          <a:xfrm>
            <a:off x="9477049" y="3083361"/>
            <a:ext cx="1770208" cy="695190"/>
          </a:xfrm>
          <a:prstGeom prst="rect">
            <a:avLst/>
          </a:prstGeom>
          <a:noFill/>
        </p:spPr>
        <p:txBody>
          <a:bodyPr wrap="square" lIns="0" tIns="0" rIns="0" bIns="0" rtlCol="0">
            <a:spAutoFit/>
          </a:bodyPr>
          <a:lstStyle/>
          <a:p>
            <a:pPr>
              <a:lnSpc>
                <a:spcPct val="150000"/>
              </a:lnSpc>
            </a:pPr>
            <a:r>
              <a:rPr lang="zh-CN" altLang="en-US" sz="1600" dirty="0">
                <a:solidFill>
                  <a:schemeClr val="tx1">
                    <a:lumMod val="65000"/>
                    <a:lumOff val="35000"/>
                  </a:schemeClr>
                </a:solidFill>
                <a:latin typeface="+mn-ea"/>
              </a:rPr>
              <a:t xml:space="preserve">指令服从</a:t>
            </a:r>
          </a:p>
        </p:txBody>
      </p:sp>
      <p:sp>
        <p:nvSpPr>
          <p:cNvPr id="49" name="文本框 48">
            <a:extLst>
              <a:ext uri="{FF2B5EF4-FFF2-40B4-BE49-F238E27FC236}">
                <a16:creationId xmlns:a16="http://schemas.microsoft.com/office/drawing/2014/main" id="{7B908DB6-21E5-4997-97E8-A0FA5624EEB7}"/>
              </a:ext>
            </a:extLst>
          </p:cNvPr>
          <p:cNvSpPr txBox="1"/>
          <p:nvPr/>
        </p:nvSpPr>
        <p:spPr>
          <a:xfrm flipH="1">
            <a:off x="1672354" y="1706844"/>
            <a:ext cx="1770208" cy="695190"/>
          </a:xfrm>
          <a:prstGeom prst="rect">
            <a:avLst/>
          </a:prstGeom>
          <a:noFill/>
        </p:spPr>
        <p:txBody>
          <a:bodyPr wrap="square" lIns="0" tIns="0" rIns="0" bIns="0" rtlCol="0">
            <a:spAutoFit/>
          </a:bodyPr>
          <a:lstStyle/>
          <a:p>
            <a:pPr algn="r">
              <a:lnSpc>
                <a:spcPct val="150000"/>
              </a:lnSpc>
            </a:pPr>
            <a:r>
              <a:rPr lang="zh-CN" altLang="en-US" sz="1600" dirty="0">
                <a:solidFill>
                  <a:schemeClr val="tx1">
                    <a:lumMod val="65000"/>
                    <a:lumOff val="35000"/>
                  </a:schemeClr>
                </a:solidFill>
                <a:latin typeface="+mn-ea"/>
              </a:rPr>
              <a:t xml:space="preserve">预训练模型</a:t>
            </a:r>
          </a:p>
        </p:txBody>
      </p:sp>
      <p:sp>
        <p:nvSpPr>
          <p:cNvPr id="55" name="文本框 54">
            <a:extLst>
              <a:ext uri="{FF2B5EF4-FFF2-40B4-BE49-F238E27FC236}">
                <a16:creationId xmlns:a16="http://schemas.microsoft.com/office/drawing/2014/main" id="{FF19620C-C5C7-4C6C-8860-A50246CF710B}"/>
              </a:ext>
            </a:extLst>
          </p:cNvPr>
          <p:cNvSpPr txBox="1"/>
          <p:nvPr/>
        </p:nvSpPr>
        <p:spPr>
          <a:xfrm flipH="1">
            <a:off x="1672354" y="4455967"/>
            <a:ext cx="1770208" cy="695190"/>
          </a:xfrm>
          <a:prstGeom prst="rect">
            <a:avLst/>
          </a:prstGeom>
          <a:noFill/>
        </p:spPr>
        <p:txBody>
          <a:bodyPr wrap="square" lIns="0" tIns="0" rIns="0" bIns="0" rtlCol="0">
            <a:spAutoFit/>
          </a:bodyPr>
          <a:lstStyle/>
          <a:p>
            <a:pPr algn="r">
              <a:lnSpc>
                <a:spcPct val="150000"/>
              </a:lnSpc>
            </a:pPr>
            <a:r>
              <a:rPr lang="zh-CN" altLang="en-US" sz="1600" dirty="0">
                <a:solidFill>
                  <a:schemeClr val="tx1">
                    <a:lumMod val="65000"/>
                    <a:lumOff val="35000"/>
                  </a:schemeClr>
                </a:solidFill>
                <a:latin typeface="+mn-ea"/>
              </a:rPr>
              <a:t xml:space="preserve">只预测下一个词，不服从指令，能力强大却难直接用。</a:t>
            </a:r>
          </a:p>
        </p:txBody>
      </p:sp>
      <p:sp>
        <p:nvSpPr>
          <p:cNvPr id="56" name="文本框 55">
            <a:extLst>
              <a:ext uri="{FF2B5EF4-FFF2-40B4-BE49-F238E27FC236}">
                <a16:creationId xmlns:a16="http://schemas.microsoft.com/office/drawing/2014/main" id="{24E2A870-3CC4-4EEB-B1F1-D15EBCA8C545}"/>
              </a:ext>
            </a:extLst>
          </p:cNvPr>
          <p:cNvSpPr txBox="1"/>
          <p:nvPr/>
        </p:nvSpPr>
        <p:spPr>
          <a:xfrm flipH="1">
            <a:off x="944743" y="3083361"/>
            <a:ext cx="1770208" cy="695190"/>
          </a:xfrm>
          <a:prstGeom prst="rect">
            <a:avLst/>
          </a:prstGeom>
          <a:noFill/>
        </p:spPr>
        <p:txBody>
          <a:bodyPr wrap="square" lIns="0" tIns="0" rIns="0" bIns="0" rtlCol="0">
            <a:spAutoFit/>
          </a:bodyPr>
          <a:lstStyle/>
          <a:p>
            <a:pPr algn="r">
              <a:lnSpc>
                <a:spcPct val="150000"/>
              </a:lnSpc>
            </a:pPr>
            <a:r>
              <a:rPr lang="zh-CN" altLang="en-US" sz="1600" dirty="0">
                <a:solidFill>
                  <a:schemeClr val="tx1">
                    <a:lumMod val="65000"/>
                    <a:lumOff val="35000"/>
                  </a:schemeClr>
                </a:solidFill>
                <a:latin typeface="+mn-ea"/>
              </a:rPr>
              <a:t xml:space="preserve">概率续写</a:t>
            </a:r>
          </a:p>
        </p:txBody>
      </p:sp>
      <p:sp>
        <p:nvSpPr>
          <p:cNvPr id="38" name="文本框 37">
            <a:extLst>
              <a:ext uri="{FF2B5EF4-FFF2-40B4-BE49-F238E27FC236}">
                <a16:creationId xmlns:a16="http://schemas.microsoft.com/office/drawing/2014/main" id="{82578F4A-04A7-4A6A-B762-C813288C9891}"/>
              </a:ext>
            </a:extLst>
          </p:cNvPr>
          <p:cNvSpPr txBox="1"/>
          <p:nvPr/>
        </p:nvSpPr>
        <p:spPr>
          <a:xfrm>
            <a:off x="5154982" y="1736099"/>
            <a:ext cx="1882036" cy="407291"/>
          </a:xfrm>
          <a:prstGeom prst="rect">
            <a:avLst/>
          </a:prstGeom>
          <a:noFill/>
        </p:spPr>
        <p:txBody>
          <a:bodyPr wrap="square" lIns="0" tIns="0" rIns="0" bIns="0" rtlCol="0">
            <a:spAutoFit/>
          </a:bodyPr>
          <a:lstStyle/>
          <a:p>
            <a:pPr algn="ctr">
              <a:lnSpc>
                <a:spcPct val="150000"/>
              </a:lnSpc>
            </a:pPr>
            <a:r>
              <a:rPr lang="zh-CN" altLang="en-US" sz="2000" b="1" dirty="0">
                <a:solidFill>
                  <a:schemeClr val="accent1"/>
                </a:solidFill>
                <a:latin typeface="+mj-ea"/>
                <a:ea typeface="+mj-ea"/>
              </a:rPr>
              <a:t xml:space="preserve">文本生成</a:t>
            </a:r>
          </a:p>
        </p:txBody>
      </p:sp>
      <p:cxnSp>
        <p:nvCxnSpPr>
          <p:cNvPr id="43" name="直接连接符 42">
            <a:extLst>
              <a:ext uri="{FF2B5EF4-FFF2-40B4-BE49-F238E27FC236}">
                <a16:creationId xmlns:a16="http://schemas.microsoft.com/office/drawing/2014/main" id="{AA6ED898-07E2-45F5-9F32-78356860F8E2}"/>
              </a:ext>
            </a:extLst>
          </p:cNvPr>
          <p:cNvCxnSpPr>
            <a:cxnSpLocks/>
          </p:cNvCxnSpPr>
          <p:nvPr/>
        </p:nvCxnSpPr>
        <p:spPr>
          <a:xfrm>
            <a:off x="5204683" y="2279795"/>
            <a:ext cx="1782635" cy="0"/>
          </a:xfrm>
          <a:prstGeom prst="line">
            <a:avLst/>
          </a:prstGeom>
          <a:ln w="12700" cap="rnd">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DC521F2A-103A-4E41-92EC-3B88E26A5FBA}"/>
              </a:ext>
            </a:extLst>
          </p:cNvPr>
          <p:cNvSpPr/>
          <p:nvPr/>
        </p:nvSpPr>
        <p:spPr>
          <a:xfrm>
            <a:off x="3910763" y="2456074"/>
            <a:ext cx="1947112" cy="1947112"/>
          </a:xfrm>
          <a:prstGeom prst="ellipse">
            <a:avLst/>
          </a:prstGeom>
          <a:noFill/>
          <a:ln>
            <a:gradFill>
              <a:gsLst>
                <a:gs pos="0">
                  <a:schemeClr val="accent1">
                    <a:alpha val="54000"/>
                  </a:schemeClr>
                </a:gs>
                <a:gs pos="26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9" name="椭圆 28">
            <a:extLst>
              <a:ext uri="{FF2B5EF4-FFF2-40B4-BE49-F238E27FC236}">
                <a16:creationId xmlns:a16="http://schemas.microsoft.com/office/drawing/2014/main" id="{74C37232-ABBB-495D-BEC0-1D8B440EB4DB}"/>
              </a:ext>
            </a:extLst>
          </p:cNvPr>
          <p:cNvSpPr/>
          <p:nvPr/>
        </p:nvSpPr>
        <p:spPr>
          <a:xfrm flipH="1">
            <a:off x="6334125" y="2454815"/>
            <a:ext cx="1947112" cy="1947112"/>
          </a:xfrm>
          <a:prstGeom prst="ellipse">
            <a:avLst/>
          </a:prstGeom>
          <a:noFill/>
          <a:ln>
            <a:gradFill>
              <a:gsLst>
                <a:gs pos="0">
                  <a:schemeClr val="accent1">
                    <a:alpha val="54000"/>
                  </a:schemeClr>
                </a:gs>
                <a:gs pos="26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5" name="文本占位符 4">
            <a:extLst>
              <a:ext uri="{FF2B5EF4-FFF2-40B4-BE49-F238E27FC236}">
                <a16:creationId xmlns:a16="http://schemas.microsoft.com/office/drawing/2014/main" id="{1A703197-4FC9-4696-8C6B-9305D014F9E2}"/>
              </a:ext>
            </a:extLst>
          </p:cNvPr>
          <p:cNvSpPr>
            <a:spLocks noGrp="1"/>
          </p:cNvSpPr>
          <p:nvPr>
            <p:ph type="body" sz="quarter" idx="10"/>
          </p:nvPr>
        </p:nvSpPr>
        <p:spPr>
          <a:xfrm>
            <a:off x="843917" y="371998"/>
            <a:ext cx="5252083" cy="360099"/>
          </a:xfrm>
        </p:spPr>
        <p:txBody>
          <a:bodyPr>
            <a:spAutoFit/>
          </a:bodyPr>
          <a:lstStyle/>
          <a:p>
            <a:r>
              <a:rPr lang="zh-CN" altLang="en-US" dirty="0"/>
              <a:t xml:space="preserve">对齐与破圈</a:t>
            </a:r>
          </a:p>
        </p:txBody>
      </p:sp>
    </p:spTree>
    <p:extLst>
      <p:ext uri="{BB962C8B-B14F-4D97-AF65-F5344CB8AC3E}">
        <p14:creationId xmlns:p14="http://schemas.microsoft.com/office/powerpoint/2010/main" val="1126640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6595E5E-7412-4B81-B2B8-E865B73210B1}"/>
              </a:ext>
            </a:extLst>
          </p:cNvPr>
          <p:cNvSpPr/>
          <p:nvPr/>
        </p:nvSpPr>
        <p:spPr>
          <a:xfrm>
            <a:off x="1172628"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4" name="矩形 43">
            <a:extLst>
              <a:ext uri="{FF2B5EF4-FFF2-40B4-BE49-F238E27FC236}">
                <a16:creationId xmlns:a16="http://schemas.microsoft.com/office/drawing/2014/main" id="{546C4C66-7592-4C81-AB50-3DAA2EA67C52}"/>
              </a:ext>
            </a:extLst>
          </p:cNvPr>
          <p:cNvSpPr/>
          <p:nvPr/>
        </p:nvSpPr>
        <p:spPr>
          <a:xfrm>
            <a:off x="1280376"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多模态</a:t>
            </a:r>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2240649"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08745FD-5E00-495C-BFCE-85659094E49E}"/>
              </a:ext>
            </a:extLst>
          </p:cNvPr>
          <p:cNvSpPr/>
          <p:nvPr/>
        </p:nvSpPr>
        <p:spPr>
          <a:xfrm>
            <a:off x="1458208"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GPT-4 统一处理文本图像音频，打破模态孤岛提升感知。</a:t>
            </a:r>
          </a:p>
        </p:txBody>
      </p:sp>
      <p:grpSp>
        <p:nvGrpSpPr>
          <p:cNvPr id="23" name="组合 22">
            <a:extLst>
              <a:ext uri="{FF2B5EF4-FFF2-40B4-BE49-F238E27FC236}">
                <a16:creationId xmlns:a16="http://schemas.microsoft.com/office/drawing/2014/main" id="{F35EE6F1-D64B-4442-8493-5A65DEB7D6D7}"/>
              </a:ext>
            </a:extLst>
          </p:cNvPr>
          <p:cNvGrpSpPr/>
          <p:nvPr/>
        </p:nvGrpSpPr>
        <p:grpSpPr>
          <a:xfrm>
            <a:off x="2317074" y="5164269"/>
            <a:ext cx="259309" cy="45720"/>
            <a:chOff x="2174965" y="5307240"/>
            <a:chExt cx="259309" cy="45720"/>
          </a:xfrm>
        </p:grpSpPr>
        <p:sp>
          <p:nvSpPr>
            <p:cNvPr id="24" name="椭圆 23">
              <a:extLst>
                <a:ext uri="{FF2B5EF4-FFF2-40B4-BE49-F238E27FC236}">
                  <a16:creationId xmlns:a16="http://schemas.microsoft.com/office/drawing/2014/main" id="{752C2F79-0767-4B29-8A5E-834DEED8F3DB}"/>
                </a:ext>
              </a:extLst>
            </p:cNvPr>
            <p:cNvSpPr/>
            <p:nvPr/>
          </p:nvSpPr>
          <p:spPr>
            <a:xfrm>
              <a:off x="2174965" y="5307240"/>
              <a:ext cx="45720" cy="457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6" name="椭圆 25">
              <a:extLst>
                <a:ext uri="{FF2B5EF4-FFF2-40B4-BE49-F238E27FC236}">
                  <a16:creationId xmlns:a16="http://schemas.microsoft.com/office/drawing/2014/main" id="{A0075F0E-CD96-4B3A-BF78-82B91ABA0A82}"/>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8" name="椭圆 27">
              <a:extLst>
                <a:ext uri="{FF2B5EF4-FFF2-40B4-BE49-F238E27FC236}">
                  <a16:creationId xmlns:a16="http://schemas.microsoft.com/office/drawing/2014/main" id="{0C136C17-8FB4-4EDE-8B26-C97D4E75EDA1}"/>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5" name="矩形: 折角 24">
            <a:extLst>
              <a:ext uri="{FF2B5EF4-FFF2-40B4-BE49-F238E27FC236}">
                <a16:creationId xmlns:a16="http://schemas.microsoft.com/office/drawing/2014/main" id="{119BD873-94D6-41D3-9DFF-1C1860249934}"/>
              </a:ext>
            </a:extLst>
          </p:cNvPr>
          <p:cNvSpPr/>
          <p:nvPr/>
        </p:nvSpPr>
        <p:spPr>
          <a:xfrm>
            <a:off x="4821900" y="1672302"/>
            <a:ext cx="2548200" cy="3653795"/>
          </a:xfrm>
          <a:prstGeom prst="foldedCorner">
            <a:avLst>
              <a:gd name="adj" fmla="val 12182"/>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a:extLst>
              <a:ext uri="{FF2B5EF4-FFF2-40B4-BE49-F238E27FC236}">
                <a16:creationId xmlns:a16="http://schemas.microsoft.com/office/drawing/2014/main" id="{F5D272BD-50CC-4678-8038-D81CED9D6A0D}"/>
              </a:ext>
            </a:extLst>
          </p:cNvPr>
          <p:cNvSpPr/>
          <p:nvPr/>
        </p:nvSpPr>
        <p:spPr>
          <a:xfrm>
            <a:off x="4929648"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开源崛起</a:t>
            </a:r>
          </a:p>
        </p:txBody>
      </p:sp>
      <p:cxnSp>
        <p:nvCxnSpPr>
          <p:cNvPr id="30" name="直接连接符 29">
            <a:extLst>
              <a:ext uri="{FF2B5EF4-FFF2-40B4-BE49-F238E27FC236}">
                <a16:creationId xmlns:a16="http://schemas.microsoft.com/office/drawing/2014/main" id="{22A70707-D392-473B-87F7-C03AEA08FF67}"/>
              </a:ext>
            </a:extLst>
          </p:cNvPr>
          <p:cNvCxnSpPr>
            <a:cxnSpLocks/>
          </p:cNvCxnSpPr>
          <p:nvPr/>
        </p:nvCxnSpPr>
        <p:spPr>
          <a:xfrm>
            <a:off x="5889921"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AF1FEF86-440C-448B-904B-EF5D52A9E317}"/>
              </a:ext>
            </a:extLst>
          </p:cNvPr>
          <p:cNvSpPr/>
          <p:nvPr/>
        </p:nvSpPr>
        <p:spPr>
          <a:xfrm>
            <a:off x="5107480"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LLaMA 与 DeepSeek 缩小差距，MoE 降本推动大模型普惠。</a:t>
            </a:r>
          </a:p>
        </p:txBody>
      </p:sp>
      <p:grpSp>
        <p:nvGrpSpPr>
          <p:cNvPr id="29" name="组合 28">
            <a:extLst>
              <a:ext uri="{FF2B5EF4-FFF2-40B4-BE49-F238E27FC236}">
                <a16:creationId xmlns:a16="http://schemas.microsoft.com/office/drawing/2014/main" id="{5C00CDEF-BAF1-4726-B12F-9412D019B464}"/>
              </a:ext>
            </a:extLst>
          </p:cNvPr>
          <p:cNvGrpSpPr/>
          <p:nvPr/>
        </p:nvGrpSpPr>
        <p:grpSpPr>
          <a:xfrm>
            <a:off x="5966346" y="5164269"/>
            <a:ext cx="259309" cy="45720"/>
            <a:chOff x="2174965" y="5307240"/>
            <a:chExt cx="259309" cy="45720"/>
          </a:xfrm>
        </p:grpSpPr>
        <p:sp>
          <p:nvSpPr>
            <p:cNvPr id="32" name="椭圆 31">
              <a:extLst>
                <a:ext uri="{FF2B5EF4-FFF2-40B4-BE49-F238E27FC236}">
                  <a16:creationId xmlns:a16="http://schemas.microsoft.com/office/drawing/2014/main" id="{595032D7-F09B-43F6-87BF-BC0FB163B87B}"/>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37" name="椭圆 36">
              <a:extLst>
                <a:ext uri="{FF2B5EF4-FFF2-40B4-BE49-F238E27FC236}">
                  <a16:creationId xmlns:a16="http://schemas.microsoft.com/office/drawing/2014/main" id="{CE829A2C-DC46-4451-918A-057058D759B6}"/>
                </a:ext>
              </a:extLst>
            </p:cNvPr>
            <p:cNvSpPr/>
            <p:nvPr/>
          </p:nvSpPr>
          <p:spPr>
            <a:xfrm>
              <a:off x="2278728"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2DE247BB-1354-427B-8FFE-2B3A669DA314}"/>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3" name="矩形: 圆角 32">
            <a:extLst>
              <a:ext uri="{FF2B5EF4-FFF2-40B4-BE49-F238E27FC236}">
                <a16:creationId xmlns:a16="http://schemas.microsoft.com/office/drawing/2014/main" id="{FAC004C3-57B0-4B98-B8D7-F3382A8BD161}"/>
              </a:ext>
            </a:extLst>
          </p:cNvPr>
          <p:cNvSpPr/>
          <p:nvPr/>
        </p:nvSpPr>
        <p:spPr>
          <a:xfrm>
            <a:off x="8471172"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矩形 33">
            <a:extLst>
              <a:ext uri="{FF2B5EF4-FFF2-40B4-BE49-F238E27FC236}">
                <a16:creationId xmlns:a16="http://schemas.microsoft.com/office/drawing/2014/main" id="{8017DDFB-C372-41F1-924E-06CE471AC517}"/>
              </a:ext>
            </a:extLst>
          </p:cNvPr>
          <p:cNvSpPr/>
          <p:nvPr/>
        </p:nvSpPr>
        <p:spPr>
          <a:xfrm>
            <a:off x="8578920"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智能体</a:t>
            </a:r>
          </a:p>
        </p:txBody>
      </p:sp>
      <p:cxnSp>
        <p:nvCxnSpPr>
          <p:cNvPr id="35" name="直接连接符 34">
            <a:extLst>
              <a:ext uri="{FF2B5EF4-FFF2-40B4-BE49-F238E27FC236}">
                <a16:creationId xmlns:a16="http://schemas.microsoft.com/office/drawing/2014/main" id="{0B6D003E-FAA9-4439-887C-6A890DFAD0E3}"/>
              </a:ext>
            </a:extLst>
          </p:cNvPr>
          <p:cNvCxnSpPr>
            <a:cxnSpLocks/>
          </p:cNvCxnSpPr>
          <p:nvPr/>
        </p:nvCxnSpPr>
        <p:spPr>
          <a:xfrm>
            <a:off x="9539193"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F797F89-3860-4E04-8892-933C2ACF94D6}"/>
              </a:ext>
            </a:extLst>
          </p:cNvPr>
          <p:cNvSpPr/>
          <p:nvPr/>
        </p:nvSpPr>
        <p:spPr>
          <a:xfrm>
            <a:off x="8756752"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思维链与 Agent 让模型从会说走向会做，中国形成特色。</a:t>
            </a:r>
          </a:p>
        </p:txBody>
      </p:sp>
      <p:grpSp>
        <p:nvGrpSpPr>
          <p:cNvPr id="43" name="组合 42">
            <a:extLst>
              <a:ext uri="{FF2B5EF4-FFF2-40B4-BE49-F238E27FC236}">
                <a16:creationId xmlns:a16="http://schemas.microsoft.com/office/drawing/2014/main" id="{927A192B-054D-4556-BE10-2EE8A008246D}"/>
              </a:ext>
            </a:extLst>
          </p:cNvPr>
          <p:cNvGrpSpPr/>
          <p:nvPr/>
        </p:nvGrpSpPr>
        <p:grpSpPr>
          <a:xfrm>
            <a:off x="9615618" y="5164269"/>
            <a:ext cx="259309" cy="45720"/>
            <a:chOff x="2174965" y="5307240"/>
            <a:chExt cx="259309" cy="45720"/>
          </a:xfrm>
        </p:grpSpPr>
        <p:sp>
          <p:nvSpPr>
            <p:cNvPr id="46" name="椭圆 45">
              <a:extLst>
                <a:ext uri="{FF2B5EF4-FFF2-40B4-BE49-F238E27FC236}">
                  <a16:creationId xmlns:a16="http://schemas.microsoft.com/office/drawing/2014/main" id="{A7CD82F4-3BF6-40C2-ACDF-D96717513E9D}"/>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7" name="椭圆 46">
              <a:extLst>
                <a:ext uri="{FF2B5EF4-FFF2-40B4-BE49-F238E27FC236}">
                  <a16:creationId xmlns:a16="http://schemas.microsoft.com/office/drawing/2014/main" id="{2D004D5F-6526-4330-82E0-8C6748E2E5C7}"/>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9" name="椭圆 48">
              <a:extLst>
                <a:ext uri="{FF2B5EF4-FFF2-40B4-BE49-F238E27FC236}">
                  <a16:creationId xmlns:a16="http://schemas.microsoft.com/office/drawing/2014/main" id="{3CAF9271-F626-417F-A6A2-5C8FEEEACBB2}"/>
                </a:ext>
              </a:extLst>
            </p:cNvPr>
            <p:cNvSpPr/>
            <p:nvPr/>
          </p:nvSpPr>
          <p:spPr>
            <a:xfrm>
              <a:off x="2388554"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占位符 10">
            <a:extLst>
              <a:ext uri="{FF2B5EF4-FFF2-40B4-BE49-F238E27FC236}">
                <a16:creationId xmlns:a16="http://schemas.microsoft.com/office/drawing/2014/main" id="{A5A452D6-AFBF-4A65-80EF-B451BD8974E9}"/>
              </a:ext>
            </a:extLst>
          </p:cNvPr>
          <p:cNvSpPr>
            <a:spLocks noGrp="1"/>
          </p:cNvSpPr>
          <p:nvPr>
            <p:ph type="body" sz="quarter" idx="10"/>
          </p:nvPr>
        </p:nvSpPr>
        <p:spPr>
          <a:xfrm>
            <a:off x="843917" y="371998"/>
            <a:ext cx="5252083" cy="360099"/>
          </a:xfrm>
        </p:spPr>
        <p:txBody>
          <a:bodyPr>
            <a:spAutoFit/>
          </a:bodyPr>
          <a:lstStyle/>
          <a:p>
            <a:r>
              <a:rPr lang="zh-CN" altLang="en-US" dirty="0"/>
              <a:t xml:space="preserve">产业演进主线</a:t>
            </a:r>
          </a:p>
        </p:txBody>
      </p:sp>
    </p:spTree>
    <p:extLst>
      <p:ext uri="{BB962C8B-B14F-4D97-AF65-F5344CB8AC3E}">
        <p14:creationId xmlns:p14="http://schemas.microsoft.com/office/powerpoint/2010/main" val="4080946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171EDCD-8DDF-4F04-B956-24EBBA53C12C}"/>
              </a:ext>
            </a:extLst>
          </p:cNvPr>
          <p:cNvSpPr>
            <a:spLocks noGrp="1"/>
          </p:cNvSpPr>
          <p:nvPr>
            <p:ph type="body" sz="quarter" idx="10"/>
          </p:nvPr>
        </p:nvSpPr>
        <p:spPr/>
        <p:txBody>
          <a:bodyPr>
            <a:spAutoFit/>
          </a:bodyPr>
          <a:lstStyle/>
          <a:p>
            <a:r>
              <a:rPr lang="en-US" altLang="zh-CN" dirty="0"/>
              <a:t xml:space="preserve">05</a:t>
            </a:r>
          </a:p>
        </p:txBody>
      </p:sp>
      <p:sp>
        <p:nvSpPr>
          <p:cNvPr id="4" name="文本占位符 3">
            <a:extLst>
              <a:ext uri="{FF2B5EF4-FFF2-40B4-BE49-F238E27FC236}">
                <a16:creationId xmlns:a16="http://schemas.microsoft.com/office/drawing/2014/main" id="{75430996-678D-4517-8DEF-CCA6DB990153}"/>
              </a:ext>
            </a:extLst>
          </p:cNvPr>
          <p:cNvSpPr>
            <a:spLocks noGrp="1"/>
          </p:cNvSpPr>
          <p:nvPr>
            <p:ph type="body" sz="quarter" idx="11"/>
          </p:nvPr>
        </p:nvSpPr>
        <p:spPr>
          <a:xfrm>
            <a:off x="5524211" y="2266904"/>
            <a:ext cx="5867608" cy="830997"/>
          </a:xfrm>
        </p:spPr>
        <p:txBody>
          <a:bodyPr>
            <a:spAutoFit/>
          </a:bodyPr>
          <a:lstStyle/>
          <a:p>
            <a:pPr lvl="0">
              <a:lnSpc>
                <a:spcPct val="100000"/>
              </a:lnSpc>
              <a:spcBef>
                <a:spcPts val="0"/>
              </a:spcBef>
            </a:pPr>
            <a:r>
              <a:rPr lang="zh-CN" altLang="en-US" dirty="0">
                <a:solidFill>
                  <a:srgbClr val="006871"/>
                </a:solidFill>
              </a:rPr>
              <a:t xml:space="preserve">规律与挑战</a:t>
            </a:r>
          </a:p>
        </p:txBody>
      </p:sp>
      <p:sp>
        <p:nvSpPr>
          <p:cNvPr id="5" name="文本占位符 4">
            <a:extLst>
              <a:ext uri="{FF2B5EF4-FFF2-40B4-BE49-F238E27FC236}">
                <a16:creationId xmlns:a16="http://schemas.microsoft.com/office/drawing/2014/main" id="{8E45D747-ABDF-4942-9346-C81D39148924}"/>
              </a:ext>
            </a:extLst>
          </p:cNvPr>
          <p:cNvSpPr>
            <a:spLocks noGrp="1"/>
          </p:cNvSpPr>
          <p:nvPr>
            <p:ph type="body" sz="quarter" idx="12"/>
          </p:nvPr>
        </p:nvSpPr>
        <p:spPr>
          <a:xfrm>
            <a:off x="5524211" y="3132779"/>
            <a:ext cx="5867608" cy="249299"/>
          </a:xfrm>
        </p:spPr>
        <p:txBody>
          <a:bodyPr>
            <a:spAutoFit/>
          </a:bodyPr>
          <a:lstStyle/>
          <a:p>
            <a:r>
              <a:rPr lang="zh-CN" altLang="en-US" dirty="0"/>
              <a:t xml:space="preserve">Laws &amp; Risks</a:t>
            </a:r>
          </a:p>
        </p:txBody>
      </p:sp>
      <p:sp>
        <p:nvSpPr>
          <p:cNvPr id="6" name="文本占位符 5">
            <a:extLst>
              <a:ext uri="{FF2B5EF4-FFF2-40B4-BE49-F238E27FC236}">
                <a16:creationId xmlns:a16="http://schemas.microsoft.com/office/drawing/2014/main" id="{69177E69-52BB-4C86-A925-3F0C2D388E9C}"/>
              </a:ext>
            </a:extLst>
          </p:cNvPr>
          <p:cNvSpPr>
            <a:spLocks noGrp="1"/>
          </p:cNvSpPr>
          <p:nvPr>
            <p:ph type="body" sz="quarter" idx="13"/>
          </p:nvPr>
        </p:nvSpPr>
        <p:spPr>
          <a:xfrm>
            <a:off x="5524211" y="3757038"/>
            <a:ext cx="3518189" cy="707373"/>
          </a:xfrm>
        </p:spPr>
        <p:txBody>
          <a:bodyPr>
            <a:spAutoFit/>
          </a:bodyPr>
          <a:lstStyle/>
          <a:p>
            <a:pPr lvl="0"/>
            <a:r>
              <a:rPr lang="zh-CN" altLang="en-US" dirty="0">
                <a:solidFill>
                  <a:prstClr val="black">
                    <a:lumMod val="50000"/>
                    <a:lumOff val="50000"/>
                  </a:prstClr>
                </a:solidFill>
              </a:rPr>
              <a:t xml:space="preserve">演进逻辑与四重约束</a:t>
            </a:r>
          </a:p>
        </p:txBody>
      </p:sp>
    </p:spTree>
    <p:extLst>
      <p:ext uri="{BB962C8B-B14F-4D97-AF65-F5344CB8AC3E}">
        <p14:creationId xmlns:p14="http://schemas.microsoft.com/office/powerpoint/2010/main" val="1431073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B6595E5E-7412-4B81-B2B8-E865B73210B1}"/>
              </a:ext>
            </a:extLst>
          </p:cNvPr>
          <p:cNvSpPr/>
          <p:nvPr/>
        </p:nvSpPr>
        <p:spPr>
          <a:xfrm>
            <a:off x="1172628"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4" name="矩形 43">
            <a:extLst>
              <a:ext uri="{FF2B5EF4-FFF2-40B4-BE49-F238E27FC236}">
                <a16:creationId xmlns:a16="http://schemas.microsoft.com/office/drawing/2014/main" id="{546C4C66-7592-4C81-AB50-3DAA2EA67C52}"/>
              </a:ext>
            </a:extLst>
          </p:cNvPr>
          <p:cNvSpPr/>
          <p:nvPr/>
        </p:nvSpPr>
        <p:spPr>
          <a:xfrm>
            <a:off x="1280376"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范式递进</a:t>
            </a:r>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2240649"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608745FD-5E00-495C-BFCE-85659094E49E}"/>
              </a:ext>
            </a:extLst>
          </p:cNvPr>
          <p:cNvSpPr/>
          <p:nvPr/>
        </p:nvSpPr>
        <p:spPr>
          <a:xfrm>
            <a:off x="1458208"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符号到统计到深度学习到预训练，每次跃迁降特征工程依赖。</a:t>
            </a:r>
          </a:p>
        </p:txBody>
      </p:sp>
      <p:grpSp>
        <p:nvGrpSpPr>
          <p:cNvPr id="23" name="组合 22">
            <a:extLst>
              <a:ext uri="{FF2B5EF4-FFF2-40B4-BE49-F238E27FC236}">
                <a16:creationId xmlns:a16="http://schemas.microsoft.com/office/drawing/2014/main" id="{F35EE6F1-D64B-4442-8493-5A65DEB7D6D7}"/>
              </a:ext>
            </a:extLst>
          </p:cNvPr>
          <p:cNvGrpSpPr/>
          <p:nvPr/>
        </p:nvGrpSpPr>
        <p:grpSpPr>
          <a:xfrm>
            <a:off x="2317074" y="5164269"/>
            <a:ext cx="259309" cy="45720"/>
            <a:chOff x="2174965" y="5307240"/>
            <a:chExt cx="259309" cy="45720"/>
          </a:xfrm>
        </p:grpSpPr>
        <p:sp>
          <p:nvSpPr>
            <p:cNvPr id="24" name="椭圆 23">
              <a:extLst>
                <a:ext uri="{FF2B5EF4-FFF2-40B4-BE49-F238E27FC236}">
                  <a16:creationId xmlns:a16="http://schemas.microsoft.com/office/drawing/2014/main" id="{752C2F79-0767-4B29-8A5E-834DEED8F3DB}"/>
                </a:ext>
              </a:extLst>
            </p:cNvPr>
            <p:cNvSpPr/>
            <p:nvPr/>
          </p:nvSpPr>
          <p:spPr>
            <a:xfrm>
              <a:off x="2174965" y="5307240"/>
              <a:ext cx="45720" cy="457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6" name="椭圆 25">
              <a:extLst>
                <a:ext uri="{FF2B5EF4-FFF2-40B4-BE49-F238E27FC236}">
                  <a16:creationId xmlns:a16="http://schemas.microsoft.com/office/drawing/2014/main" id="{A0075F0E-CD96-4B3A-BF78-82B91ABA0A82}"/>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8" name="椭圆 27">
              <a:extLst>
                <a:ext uri="{FF2B5EF4-FFF2-40B4-BE49-F238E27FC236}">
                  <a16:creationId xmlns:a16="http://schemas.microsoft.com/office/drawing/2014/main" id="{0C136C17-8FB4-4EDE-8B26-C97D4E75EDA1}"/>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5" name="矩形: 折角 24">
            <a:extLst>
              <a:ext uri="{FF2B5EF4-FFF2-40B4-BE49-F238E27FC236}">
                <a16:creationId xmlns:a16="http://schemas.microsoft.com/office/drawing/2014/main" id="{119BD873-94D6-41D3-9DFF-1C1860249934}"/>
              </a:ext>
            </a:extLst>
          </p:cNvPr>
          <p:cNvSpPr/>
          <p:nvPr/>
        </p:nvSpPr>
        <p:spPr>
          <a:xfrm>
            <a:off x="4821900" y="1672302"/>
            <a:ext cx="2548200" cy="3653795"/>
          </a:xfrm>
          <a:prstGeom prst="foldedCorner">
            <a:avLst>
              <a:gd name="adj" fmla="val 12182"/>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7" name="矩形 26">
            <a:extLst>
              <a:ext uri="{FF2B5EF4-FFF2-40B4-BE49-F238E27FC236}">
                <a16:creationId xmlns:a16="http://schemas.microsoft.com/office/drawing/2014/main" id="{F5D272BD-50CC-4678-8038-D81CED9D6A0D}"/>
              </a:ext>
            </a:extLst>
          </p:cNvPr>
          <p:cNvSpPr/>
          <p:nvPr/>
        </p:nvSpPr>
        <p:spPr>
          <a:xfrm>
            <a:off x="4929648"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三要素共振</a:t>
            </a:r>
          </a:p>
        </p:txBody>
      </p:sp>
      <p:cxnSp>
        <p:nvCxnSpPr>
          <p:cNvPr id="30" name="直接连接符 29">
            <a:extLst>
              <a:ext uri="{FF2B5EF4-FFF2-40B4-BE49-F238E27FC236}">
                <a16:creationId xmlns:a16="http://schemas.microsoft.com/office/drawing/2014/main" id="{22A70707-D392-473B-87F7-C03AEA08FF67}"/>
              </a:ext>
            </a:extLst>
          </p:cNvPr>
          <p:cNvCxnSpPr>
            <a:cxnSpLocks/>
          </p:cNvCxnSpPr>
          <p:nvPr/>
        </p:nvCxnSpPr>
        <p:spPr>
          <a:xfrm>
            <a:off x="5889921"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AF1FEF86-440C-448B-904B-EF5D52A9E317}"/>
              </a:ext>
            </a:extLst>
          </p:cNvPr>
          <p:cNvSpPr/>
          <p:nvPr/>
        </p:nvSpPr>
        <p:spPr>
          <a:xfrm>
            <a:off x="5107480"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历次浪潮由算力数据与算法同步突破触发，单要素难引爆。</a:t>
            </a:r>
          </a:p>
        </p:txBody>
      </p:sp>
      <p:grpSp>
        <p:nvGrpSpPr>
          <p:cNvPr id="29" name="组合 28">
            <a:extLst>
              <a:ext uri="{FF2B5EF4-FFF2-40B4-BE49-F238E27FC236}">
                <a16:creationId xmlns:a16="http://schemas.microsoft.com/office/drawing/2014/main" id="{5C00CDEF-BAF1-4726-B12F-9412D019B464}"/>
              </a:ext>
            </a:extLst>
          </p:cNvPr>
          <p:cNvGrpSpPr/>
          <p:nvPr/>
        </p:nvGrpSpPr>
        <p:grpSpPr>
          <a:xfrm>
            <a:off x="5966346" y="5164269"/>
            <a:ext cx="259309" cy="45720"/>
            <a:chOff x="2174965" y="5307240"/>
            <a:chExt cx="259309" cy="45720"/>
          </a:xfrm>
        </p:grpSpPr>
        <p:sp>
          <p:nvSpPr>
            <p:cNvPr id="32" name="椭圆 31">
              <a:extLst>
                <a:ext uri="{FF2B5EF4-FFF2-40B4-BE49-F238E27FC236}">
                  <a16:creationId xmlns:a16="http://schemas.microsoft.com/office/drawing/2014/main" id="{595032D7-F09B-43F6-87BF-BC0FB163B87B}"/>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37" name="椭圆 36">
              <a:extLst>
                <a:ext uri="{FF2B5EF4-FFF2-40B4-BE49-F238E27FC236}">
                  <a16:creationId xmlns:a16="http://schemas.microsoft.com/office/drawing/2014/main" id="{CE829A2C-DC46-4451-918A-057058D759B6}"/>
                </a:ext>
              </a:extLst>
            </p:cNvPr>
            <p:cNvSpPr/>
            <p:nvPr/>
          </p:nvSpPr>
          <p:spPr>
            <a:xfrm>
              <a:off x="2278728"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2" name="椭圆 41">
              <a:extLst>
                <a:ext uri="{FF2B5EF4-FFF2-40B4-BE49-F238E27FC236}">
                  <a16:creationId xmlns:a16="http://schemas.microsoft.com/office/drawing/2014/main" id="{2DE247BB-1354-427B-8FFE-2B3A669DA314}"/>
                </a:ext>
              </a:extLst>
            </p:cNvPr>
            <p:cNvSpPr/>
            <p:nvPr/>
          </p:nvSpPr>
          <p:spPr>
            <a:xfrm>
              <a:off x="2388554"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33" name="矩形: 圆角 32">
            <a:extLst>
              <a:ext uri="{FF2B5EF4-FFF2-40B4-BE49-F238E27FC236}">
                <a16:creationId xmlns:a16="http://schemas.microsoft.com/office/drawing/2014/main" id="{FAC004C3-57B0-4B98-B8D7-F3382A8BD161}"/>
              </a:ext>
            </a:extLst>
          </p:cNvPr>
          <p:cNvSpPr/>
          <p:nvPr/>
        </p:nvSpPr>
        <p:spPr>
          <a:xfrm>
            <a:off x="8471172" y="1672302"/>
            <a:ext cx="2548200" cy="3653795"/>
          </a:xfrm>
          <a:prstGeom prst="roundRect">
            <a:avLst>
              <a:gd name="adj" fmla="val 4080"/>
            </a:avLst>
          </a:prstGeom>
          <a:solidFill>
            <a:schemeClr val="bg1">
              <a:alpha val="70000"/>
            </a:schemeClr>
          </a:solidFill>
          <a:ln>
            <a:noFill/>
          </a:ln>
          <a:effectLst>
            <a:outerShdw blurRad="114300" sx="101000" sy="101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4" name="矩形 33">
            <a:extLst>
              <a:ext uri="{FF2B5EF4-FFF2-40B4-BE49-F238E27FC236}">
                <a16:creationId xmlns:a16="http://schemas.microsoft.com/office/drawing/2014/main" id="{8017DDFB-C372-41F1-924E-06CE471AC517}"/>
              </a:ext>
            </a:extLst>
          </p:cNvPr>
          <p:cNvSpPr/>
          <p:nvPr/>
        </p:nvSpPr>
        <p:spPr>
          <a:xfrm>
            <a:off x="8578920" y="1997999"/>
            <a:ext cx="2332704" cy="307777"/>
          </a:xfrm>
          <a:prstGeom prst="rect">
            <a:avLst/>
          </a:prstGeom>
          <a:ln>
            <a:noFill/>
          </a:ln>
        </p:spPr>
        <p:txBody>
          <a:bodyPr wrap="square" lIns="0" tIns="0" rIns="0" bIns="0">
            <a:spAutoFit/>
          </a:bodyPr>
          <a:lstStyle/>
          <a:p>
            <a:pPr algn="ctr"/>
            <a:r>
              <a:rPr lang="zh-CN" altLang="en-US" sz="2000" b="1" dirty="0">
                <a:solidFill>
                  <a:schemeClr val="accent1"/>
                </a:solidFill>
                <a:latin typeface="+mj-ea"/>
                <a:ea typeface="+mj-ea"/>
              </a:rPr>
              <a:t xml:space="preserve">规模即范式</a:t>
            </a:r>
          </a:p>
        </p:txBody>
      </p:sp>
      <p:cxnSp>
        <p:nvCxnSpPr>
          <p:cNvPr id="35" name="直接连接符 34">
            <a:extLst>
              <a:ext uri="{FF2B5EF4-FFF2-40B4-BE49-F238E27FC236}">
                <a16:creationId xmlns:a16="http://schemas.microsoft.com/office/drawing/2014/main" id="{0B6D003E-FAA9-4439-887C-6A890DFAD0E3}"/>
              </a:ext>
            </a:extLst>
          </p:cNvPr>
          <p:cNvCxnSpPr>
            <a:cxnSpLocks/>
          </p:cNvCxnSpPr>
          <p:nvPr/>
        </p:nvCxnSpPr>
        <p:spPr>
          <a:xfrm>
            <a:off x="9539193" y="2516258"/>
            <a:ext cx="412159" cy="0"/>
          </a:xfrm>
          <a:prstGeom prst="line">
            <a:avLst/>
          </a:prstGeom>
          <a:ln w="44450" cap="rnd">
            <a:solidFill>
              <a:schemeClr val="accent3"/>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1F797F89-3860-4E04-8892-933C2ACF94D6}"/>
              </a:ext>
            </a:extLst>
          </p:cNvPr>
          <p:cNvSpPr/>
          <p:nvPr/>
        </p:nvSpPr>
        <p:spPr>
          <a:xfrm>
            <a:off x="8756752" y="2715157"/>
            <a:ext cx="1977040" cy="2223686"/>
          </a:xfrm>
          <a:prstGeom prst="rect">
            <a:avLst/>
          </a:prstGeom>
        </p:spPr>
        <p:txBody>
          <a:bodyPr wrap="square" lIns="0" tIns="0" rIns="0" bIns="0">
            <a:spAutoFit/>
          </a:bodyPr>
          <a:lstStyle/>
          <a:p>
            <a:pPr lvl="0" algn="ctr">
              <a:lnSpc>
                <a:spcPct val="150000"/>
              </a:lnSpc>
            </a:pPr>
            <a:r>
              <a:rPr lang="en-US" altLang="zh-CN" sz="1400" dirty="0">
                <a:solidFill>
                  <a:prstClr val="black">
                    <a:lumMod val="65000"/>
                    <a:lumOff val="35000"/>
                  </a:prstClr>
                </a:solidFill>
                <a:latin typeface="+mn-ea"/>
              </a:rPr>
              <a:t xml:space="preserve">扩展定律使性能可预测，规模升格为新的生产力范式要素。</a:t>
            </a:r>
          </a:p>
        </p:txBody>
      </p:sp>
      <p:grpSp>
        <p:nvGrpSpPr>
          <p:cNvPr id="43" name="组合 42">
            <a:extLst>
              <a:ext uri="{FF2B5EF4-FFF2-40B4-BE49-F238E27FC236}">
                <a16:creationId xmlns:a16="http://schemas.microsoft.com/office/drawing/2014/main" id="{927A192B-054D-4556-BE10-2EE8A008246D}"/>
              </a:ext>
            </a:extLst>
          </p:cNvPr>
          <p:cNvGrpSpPr/>
          <p:nvPr/>
        </p:nvGrpSpPr>
        <p:grpSpPr>
          <a:xfrm>
            <a:off x="9615618" y="5164269"/>
            <a:ext cx="259309" cy="45720"/>
            <a:chOff x="2174965" y="5307240"/>
            <a:chExt cx="259309" cy="45720"/>
          </a:xfrm>
        </p:grpSpPr>
        <p:sp>
          <p:nvSpPr>
            <p:cNvPr id="46" name="椭圆 45">
              <a:extLst>
                <a:ext uri="{FF2B5EF4-FFF2-40B4-BE49-F238E27FC236}">
                  <a16:creationId xmlns:a16="http://schemas.microsoft.com/office/drawing/2014/main" id="{A7CD82F4-3BF6-40C2-ACDF-D96717513E9D}"/>
                </a:ext>
              </a:extLst>
            </p:cNvPr>
            <p:cNvSpPr/>
            <p:nvPr/>
          </p:nvSpPr>
          <p:spPr>
            <a:xfrm>
              <a:off x="2174965"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7" name="椭圆 46">
              <a:extLst>
                <a:ext uri="{FF2B5EF4-FFF2-40B4-BE49-F238E27FC236}">
                  <a16:creationId xmlns:a16="http://schemas.microsoft.com/office/drawing/2014/main" id="{2D004D5F-6526-4330-82E0-8C6748E2E5C7}"/>
                </a:ext>
              </a:extLst>
            </p:cNvPr>
            <p:cNvSpPr/>
            <p:nvPr/>
          </p:nvSpPr>
          <p:spPr>
            <a:xfrm>
              <a:off x="2278728" y="5307240"/>
              <a:ext cx="45720" cy="4572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9" name="椭圆 48">
              <a:extLst>
                <a:ext uri="{FF2B5EF4-FFF2-40B4-BE49-F238E27FC236}">
                  <a16:creationId xmlns:a16="http://schemas.microsoft.com/office/drawing/2014/main" id="{3CAF9271-F626-417F-A6A2-5C8FEEEACBB2}"/>
                </a:ext>
              </a:extLst>
            </p:cNvPr>
            <p:cNvSpPr/>
            <p:nvPr/>
          </p:nvSpPr>
          <p:spPr>
            <a:xfrm>
              <a:off x="2388554" y="5307240"/>
              <a:ext cx="45720" cy="457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1" name="文本占位符 10">
            <a:extLst>
              <a:ext uri="{FF2B5EF4-FFF2-40B4-BE49-F238E27FC236}">
                <a16:creationId xmlns:a16="http://schemas.microsoft.com/office/drawing/2014/main" id="{A5A452D6-AFBF-4A65-80EF-B451BD8974E9}"/>
              </a:ext>
            </a:extLst>
          </p:cNvPr>
          <p:cNvSpPr>
            <a:spLocks noGrp="1"/>
          </p:cNvSpPr>
          <p:nvPr>
            <p:ph type="body" sz="quarter" idx="10"/>
          </p:nvPr>
        </p:nvSpPr>
        <p:spPr>
          <a:xfrm>
            <a:off x="843917" y="371998"/>
            <a:ext cx="5252083" cy="360099"/>
          </a:xfrm>
        </p:spPr>
        <p:txBody>
          <a:bodyPr>
            <a:spAutoFit/>
          </a:bodyPr>
          <a:lstStyle/>
          <a:p>
            <a:r>
              <a:rPr lang="zh-CN" altLang="en-US" dirty="0"/>
              <a:t xml:space="preserve">技术演进规律</a:t>
            </a:r>
          </a:p>
        </p:txBody>
      </p:sp>
    </p:spTree>
    <p:extLst>
      <p:ext uri="{BB962C8B-B14F-4D97-AF65-F5344CB8AC3E}">
        <p14:creationId xmlns:p14="http://schemas.microsoft.com/office/powerpoint/2010/main" val="4080946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折角 14">
            <a:extLst>
              <a:ext uri="{FF2B5EF4-FFF2-40B4-BE49-F238E27FC236}">
                <a16:creationId xmlns:a16="http://schemas.microsoft.com/office/drawing/2014/main" id="{08B7A4B1-215F-4968-82DF-61E8DFAD4D37}"/>
              </a:ext>
            </a:extLst>
          </p:cNvPr>
          <p:cNvSpPr/>
          <p:nvPr/>
        </p:nvSpPr>
        <p:spPr>
          <a:xfrm>
            <a:off x="1165791" y="1488064"/>
            <a:ext cx="4446591" cy="1690681"/>
          </a:xfrm>
          <a:prstGeom prst="foldedCorner">
            <a:avLst>
              <a:gd name="adj" fmla="val 11512"/>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48" name="直接连接符 47">
            <a:extLst>
              <a:ext uri="{FF2B5EF4-FFF2-40B4-BE49-F238E27FC236}">
                <a16:creationId xmlns:a16="http://schemas.microsoft.com/office/drawing/2014/main" id="{FFEA117E-B1E4-4BDB-A068-168EE79D6769}"/>
              </a:ext>
            </a:extLst>
          </p:cNvPr>
          <p:cNvCxnSpPr>
            <a:cxnSpLocks/>
          </p:cNvCxnSpPr>
          <p:nvPr/>
        </p:nvCxnSpPr>
        <p:spPr>
          <a:xfrm>
            <a:off x="1176448" y="1488065"/>
            <a:ext cx="0" cy="1690680"/>
          </a:xfrm>
          <a:prstGeom prst="line">
            <a:avLst/>
          </a:prstGeom>
          <a:ln w="50800" cap="flat">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546C4C66-7592-4C81-AB50-3DAA2EA67C52}"/>
              </a:ext>
            </a:extLst>
          </p:cNvPr>
          <p:cNvSpPr/>
          <p:nvPr/>
        </p:nvSpPr>
        <p:spPr>
          <a:xfrm>
            <a:off x="1350121" y="1661416"/>
            <a:ext cx="1405073" cy="307777"/>
          </a:xfrm>
          <a:prstGeom prst="rect">
            <a:avLst/>
          </a:prstGeom>
          <a:ln>
            <a:noFill/>
          </a:ln>
        </p:spPr>
        <p:txBody>
          <a:bodyPr wrap="square" lIns="0" tIns="0" rIns="0" bIns="0">
            <a:spAutoFit/>
          </a:bodyPr>
          <a:lstStyle/>
          <a:p>
            <a:r>
              <a:rPr lang="zh-CN" altLang="en-US" sz="2000" b="1" dirty="0">
                <a:solidFill>
                  <a:schemeClr val="accent1"/>
                </a:solidFill>
                <a:latin typeface="+mj-ea"/>
                <a:ea typeface="+mj-ea"/>
              </a:rPr>
              <a:t xml:space="preserve">成本高企</a:t>
            </a:r>
          </a:p>
        </p:txBody>
      </p:sp>
      <p:sp>
        <p:nvSpPr>
          <p:cNvPr id="45" name="矩形 44">
            <a:extLst>
              <a:ext uri="{FF2B5EF4-FFF2-40B4-BE49-F238E27FC236}">
                <a16:creationId xmlns:a16="http://schemas.microsoft.com/office/drawing/2014/main" id="{608745FD-5E00-495C-BFCE-85659094E49E}"/>
              </a:ext>
            </a:extLst>
          </p:cNvPr>
          <p:cNvSpPr/>
          <p:nvPr/>
        </p:nvSpPr>
        <p:spPr>
          <a:xfrm>
            <a:off x="1350120" y="2027060"/>
            <a:ext cx="4146153" cy="931024"/>
          </a:xfrm>
          <a:prstGeom prst="rect">
            <a:avLst/>
          </a:prstGeom>
        </p:spPr>
        <p:txBody>
          <a:bodyPr wrap="square" lIns="0" tIns="0" rIns="0" bIns="0">
            <a:spAutoFit/>
          </a:bodyPr>
          <a:lstStyle/>
          <a:p>
            <a:pPr lvl="0">
              <a:lnSpc>
                <a:spcPct val="150000"/>
              </a:lnSpc>
            </a:pPr>
            <a:r>
              <a:rPr lang="zh-CN" altLang="en-US" sz="1400" dirty="0">
                <a:solidFill>
                  <a:prstClr val="black">
                    <a:lumMod val="65000"/>
                    <a:lumOff val="35000"/>
                  </a:prstClr>
                </a:solidFill>
                <a:latin typeface="+mn-ea"/>
              </a:rPr>
              <a:t xml:space="preserve">头部模型训练耗资数千万美元，推理能耗攀升，门槛碳排加大。</a:t>
            </a:r>
          </a:p>
        </p:txBody>
      </p:sp>
      <p:sp>
        <p:nvSpPr>
          <p:cNvPr id="23" name="矩形: 折角 22">
            <a:extLst>
              <a:ext uri="{FF2B5EF4-FFF2-40B4-BE49-F238E27FC236}">
                <a16:creationId xmlns:a16="http://schemas.microsoft.com/office/drawing/2014/main" id="{46102EE7-7CD8-4006-8D89-C81652C8E3FD}"/>
              </a:ext>
            </a:extLst>
          </p:cNvPr>
          <p:cNvSpPr/>
          <p:nvPr/>
        </p:nvSpPr>
        <p:spPr>
          <a:xfrm>
            <a:off x="6579619" y="1488064"/>
            <a:ext cx="4446591" cy="1690681"/>
          </a:xfrm>
          <a:prstGeom prst="foldedCorner">
            <a:avLst>
              <a:gd name="adj" fmla="val 11512"/>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24" name="直接连接符 23">
            <a:extLst>
              <a:ext uri="{FF2B5EF4-FFF2-40B4-BE49-F238E27FC236}">
                <a16:creationId xmlns:a16="http://schemas.microsoft.com/office/drawing/2014/main" id="{DC574D92-1A53-4C3F-837D-21B6873B3B15}"/>
              </a:ext>
            </a:extLst>
          </p:cNvPr>
          <p:cNvCxnSpPr>
            <a:cxnSpLocks/>
          </p:cNvCxnSpPr>
          <p:nvPr/>
        </p:nvCxnSpPr>
        <p:spPr>
          <a:xfrm>
            <a:off x="6590276" y="1488065"/>
            <a:ext cx="0" cy="1690680"/>
          </a:xfrm>
          <a:prstGeom prst="line">
            <a:avLst/>
          </a:prstGeom>
          <a:ln w="50800" cap="flat">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5B5A5466-CDDB-4B7A-86E3-C76DC09B8E25}"/>
              </a:ext>
            </a:extLst>
          </p:cNvPr>
          <p:cNvSpPr/>
          <p:nvPr/>
        </p:nvSpPr>
        <p:spPr>
          <a:xfrm>
            <a:off x="6763949" y="1661416"/>
            <a:ext cx="1405073" cy="307777"/>
          </a:xfrm>
          <a:prstGeom prst="rect">
            <a:avLst/>
          </a:prstGeom>
          <a:ln>
            <a:noFill/>
          </a:ln>
        </p:spPr>
        <p:txBody>
          <a:bodyPr wrap="square" lIns="0" tIns="0" rIns="0" bIns="0">
            <a:spAutoFit/>
          </a:bodyPr>
          <a:lstStyle/>
          <a:p>
            <a:r>
              <a:rPr lang="zh-CN" altLang="en-US" sz="2000" b="1" dirty="0">
                <a:solidFill>
                  <a:schemeClr val="accent1"/>
                </a:solidFill>
                <a:latin typeface="+mj-ea"/>
                <a:ea typeface="+mj-ea"/>
              </a:rPr>
              <a:t xml:space="preserve">幻觉难除</a:t>
            </a:r>
          </a:p>
        </p:txBody>
      </p:sp>
      <p:sp>
        <p:nvSpPr>
          <p:cNvPr id="26" name="矩形 25">
            <a:extLst>
              <a:ext uri="{FF2B5EF4-FFF2-40B4-BE49-F238E27FC236}">
                <a16:creationId xmlns:a16="http://schemas.microsoft.com/office/drawing/2014/main" id="{4C97FB68-79DB-4FAC-9718-06B71714598C}"/>
              </a:ext>
            </a:extLst>
          </p:cNvPr>
          <p:cNvSpPr/>
          <p:nvPr/>
        </p:nvSpPr>
        <p:spPr>
          <a:xfrm>
            <a:off x="6763948" y="2027060"/>
            <a:ext cx="4146153" cy="931024"/>
          </a:xfrm>
          <a:prstGeom prst="rect">
            <a:avLst/>
          </a:prstGeom>
        </p:spPr>
        <p:txBody>
          <a:bodyPr wrap="square" lIns="0" tIns="0" rIns="0" bIns="0">
            <a:spAutoFit/>
          </a:bodyPr>
          <a:lstStyle/>
          <a:p>
            <a:pPr lvl="0">
              <a:lnSpc>
                <a:spcPct val="150000"/>
              </a:lnSpc>
            </a:pPr>
            <a:r>
              <a:rPr lang="zh-CN" altLang="en-US" sz="1400" dirty="0">
                <a:solidFill>
                  <a:prstClr val="black">
                    <a:lumMod val="65000"/>
                    <a:lumOff val="35000"/>
                  </a:prstClr>
                </a:solidFill>
                <a:latin typeface="+mn-ea"/>
              </a:rPr>
              <a:t xml:space="preserve">生成内容事实性错误难根除，制约医疗法律等高风险落地。</a:t>
            </a:r>
          </a:p>
        </p:txBody>
      </p:sp>
      <p:sp>
        <p:nvSpPr>
          <p:cNvPr id="28" name="矩形: 折角 27">
            <a:extLst>
              <a:ext uri="{FF2B5EF4-FFF2-40B4-BE49-F238E27FC236}">
                <a16:creationId xmlns:a16="http://schemas.microsoft.com/office/drawing/2014/main" id="{B0A1FDD6-CABA-4CCD-94E1-FAC005205CEE}"/>
              </a:ext>
            </a:extLst>
          </p:cNvPr>
          <p:cNvSpPr/>
          <p:nvPr/>
        </p:nvSpPr>
        <p:spPr>
          <a:xfrm>
            <a:off x="1165791" y="3824864"/>
            <a:ext cx="4446591" cy="1690681"/>
          </a:xfrm>
          <a:prstGeom prst="foldedCorner">
            <a:avLst>
              <a:gd name="adj" fmla="val 11512"/>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29" name="直接连接符 28">
            <a:extLst>
              <a:ext uri="{FF2B5EF4-FFF2-40B4-BE49-F238E27FC236}">
                <a16:creationId xmlns:a16="http://schemas.microsoft.com/office/drawing/2014/main" id="{280587FD-9DBF-49A8-9577-B447AD3D443D}"/>
              </a:ext>
            </a:extLst>
          </p:cNvPr>
          <p:cNvCxnSpPr>
            <a:cxnSpLocks/>
          </p:cNvCxnSpPr>
          <p:nvPr/>
        </p:nvCxnSpPr>
        <p:spPr>
          <a:xfrm>
            <a:off x="1176448" y="3824865"/>
            <a:ext cx="0" cy="1690680"/>
          </a:xfrm>
          <a:prstGeom prst="line">
            <a:avLst/>
          </a:prstGeom>
          <a:ln w="50800" cap="flat">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3C4081C-90B4-464C-B2CC-51E7F28E6471}"/>
              </a:ext>
            </a:extLst>
          </p:cNvPr>
          <p:cNvSpPr/>
          <p:nvPr/>
        </p:nvSpPr>
        <p:spPr>
          <a:xfrm>
            <a:off x="1350121" y="3998216"/>
            <a:ext cx="1405073" cy="307777"/>
          </a:xfrm>
          <a:prstGeom prst="rect">
            <a:avLst/>
          </a:prstGeom>
          <a:ln>
            <a:noFill/>
          </a:ln>
        </p:spPr>
        <p:txBody>
          <a:bodyPr wrap="square" lIns="0" tIns="0" rIns="0" bIns="0">
            <a:spAutoFit/>
          </a:bodyPr>
          <a:lstStyle/>
          <a:p>
            <a:r>
              <a:rPr lang="zh-CN" altLang="en-US" sz="2000" b="1" dirty="0">
                <a:solidFill>
                  <a:schemeClr val="accent1"/>
                </a:solidFill>
                <a:latin typeface="+mj-ea"/>
                <a:ea typeface="+mj-ea"/>
              </a:rPr>
              <a:t xml:space="preserve">安全隐患</a:t>
            </a:r>
          </a:p>
        </p:txBody>
      </p:sp>
      <p:sp>
        <p:nvSpPr>
          <p:cNvPr id="31" name="矩形 30">
            <a:extLst>
              <a:ext uri="{FF2B5EF4-FFF2-40B4-BE49-F238E27FC236}">
                <a16:creationId xmlns:a16="http://schemas.microsoft.com/office/drawing/2014/main" id="{7CE5E191-43C9-4379-BE60-A576375369B3}"/>
              </a:ext>
            </a:extLst>
          </p:cNvPr>
          <p:cNvSpPr/>
          <p:nvPr/>
        </p:nvSpPr>
        <p:spPr>
          <a:xfrm>
            <a:off x="1350120" y="4363860"/>
            <a:ext cx="4146153" cy="931024"/>
          </a:xfrm>
          <a:prstGeom prst="rect">
            <a:avLst/>
          </a:prstGeom>
        </p:spPr>
        <p:txBody>
          <a:bodyPr wrap="square" lIns="0" tIns="0" rIns="0" bIns="0">
            <a:spAutoFit/>
          </a:bodyPr>
          <a:lstStyle/>
          <a:p>
            <a:pPr lvl="0">
              <a:lnSpc>
                <a:spcPct val="150000"/>
              </a:lnSpc>
            </a:pPr>
            <a:r>
              <a:rPr lang="zh-CN" altLang="en-US" sz="1400" dirty="0">
                <a:solidFill>
                  <a:prstClr val="black">
                    <a:lumMod val="65000"/>
                    <a:lumOff val="35000"/>
                  </a:prstClr>
                </a:solidFill>
                <a:latin typeface="+mn-ea"/>
              </a:rPr>
              <a:t xml:space="preserve">对齐可解释与滥用防御仍缺系统解法，模型行为存风险敞口。</a:t>
            </a:r>
          </a:p>
        </p:txBody>
      </p:sp>
      <p:sp>
        <p:nvSpPr>
          <p:cNvPr id="33" name="矩形: 折角 32">
            <a:extLst>
              <a:ext uri="{FF2B5EF4-FFF2-40B4-BE49-F238E27FC236}">
                <a16:creationId xmlns:a16="http://schemas.microsoft.com/office/drawing/2014/main" id="{83111936-ED5C-4C93-92B1-3DF91678A947}"/>
              </a:ext>
            </a:extLst>
          </p:cNvPr>
          <p:cNvSpPr/>
          <p:nvPr/>
        </p:nvSpPr>
        <p:spPr>
          <a:xfrm>
            <a:off x="6579619" y="3824864"/>
            <a:ext cx="4446591" cy="1690681"/>
          </a:xfrm>
          <a:prstGeom prst="foldedCorner">
            <a:avLst>
              <a:gd name="adj" fmla="val 11512"/>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34" name="直接连接符 33">
            <a:extLst>
              <a:ext uri="{FF2B5EF4-FFF2-40B4-BE49-F238E27FC236}">
                <a16:creationId xmlns:a16="http://schemas.microsoft.com/office/drawing/2014/main" id="{E31EC0A8-6348-45F2-95C6-4F0FF6E5901F}"/>
              </a:ext>
            </a:extLst>
          </p:cNvPr>
          <p:cNvCxnSpPr>
            <a:cxnSpLocks/>
          </p:cNvCxnSpPr>
          <p:nvPr/>
        </p:nvCxnSpPr>
        <p:spPr>
          <a:xfrm>
            <a:off x="6590276" y="3824865"/>
            <a:ext cx="0" cy="1690680"/>
          </a:xfrm>
          <a:prstGeom prst="line">
            <a:avLst/>
          </a:prstGeom>
          <a:ln w="50800" cap="flat">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12F6DEE5-D1A9-4173-947D-B759ED166717}"/>
              </a:ext>
            </a:extLst>
          </p:cNvPr>
          <p:cNvSpPr/>
          <p:nvPr/>
        </p:nvSpPr>
        <p:spPr>
          <a:xfrm>
            <a:off x="6763949" y="3998216"/>
            <a:ext cx="1405073" cy="307777"/>
          </a:xfrm>
          <a:prstGeom prst="rect">
            <a:avLst/>
          </a:prstGeom>
          <a:ln>
            <a:noFill/>
          </a:ln>
        </p:spPr>
        <p:txBody>
          <a:bodyPr wrap="square" lIns="0" tIns="0" rIns="0" bIns="0">
            <a:spAutoFit/>
          </a:bodyPr>
          <a:lstStyle/>
          <a:p>
            <a:r>
              <a:rPr lang="zh-CN" altLang="en-US" sz="2000" b="1" dirty="0">
                <a:solidFill>
                  <a:schemeClr val="accent1"/>
                </a:solidFill>
                <a:latin typeface="+mj-ea"/>
                <a:ea typeface="+mj-ea"/>
              </a:rPr>
              <a:t xml:space="preserve">治理滞后</a:t>
            </a:r>
          </a:p>
        </p:txBody>
      </p:sp>
      <p:sp>
        <p:nvSpPr>
          <p:cNvPr id="36" name="矩形 35">
            <a:extLst>
              <a:ext uri="{FF2B5EF4-FFF2-40B4-BE49-F238E27FC236}">
                <a16:creationId xmlns:a16="http://schemas.microsoft.com/office/drawing/2014/main" id="{CB28E499-9AB6-41F1-81DB-6CDA976AD663}"/>
              </a:ext>
            </a:extLst>
          </p:cNvPr>
          <p:cNvSpPr/>
          <p:nvPr/>
        </p:nvSpPr>
        <p:spPr>
          <a:xfrm>
            <a:off x="6763948" y="4363860"/>
            <a:ext cx="4146153" cy="931024"/>
          </a:xfrm>
          <a:prstGeom prst="rect">
            <a:avLst/>
          </a:prstGeom>
        </p:spPr>
        <p:txBody>
          <a:bodyPr wrap="square" lIns="0" tIns="0" rIns="0" bIns="0">
            <a:spAutoFit/>
          </a:bodyPr>
          <a:lstStyle/>
          <a:p>
            <a:pPr lvl="0">
              <a:lnSpc>
                <a:spcPct val="150000"/>
              </a:lnSpc>
            </a:pPr>
            <a:r>
              <a:rPr lang="zh-CN" altLang="en-US" sz="1400" dirty="0">
                <a:solidFill>
                  <a:prstClr val="black">
                    <a:lumMod val="65000"/>
                    <a:lumOff val="35000"/>
                  </a:prstClr>
                </a:solidFill>
                <a:latin typeface="+mn-ea"/>
              </a:rPr>
              <a:t xml:space="preserve">各国监管框架慢于技术迭代，算力数据垄断加剧技术鸿沟。</a:t>
            </a:r>
          </a:p>
        </p:txBody>
      </p:sp>
      <p:sp>
        <p:nvSpPr>
          <p:cNvPr id="5" name="文本占位符 4">
            <a:extLst>
              <a:ext uri="{FF2B5EF4-FFF2-40B4-BE49-F238E27FC236}">
                <a16:creationId xmlns:a16="http://schemas.microsoft.com/office/drawing/2014/main" id="{E3DAF615-BC75-4825-BB6C-4FBEC52A58B6}"/>
              </a:ext>
            </a:extLst>
          </p:cNvPr>
          <p:cNvSpPr>
            <a:spLocks noGrp="1"/>
          </p:cNvSpPr>
          <p:nvPr>
            <p:ph type="body" sz="quarter" idx="10"/>
          </p:nvPr>
        </p:nvSpPr>
        <p:spPr>
          <a:xfrm>
            <a:off x="843917" y="371998"/>
            <a:ext cx="5252083" cy="360099"/>
          </a:xfrm>
        </p:spPr>
        <p:txBody>
          <a:bodyPr>
            <a:spAutoFit/>
          </a:bodyPr>
          <a:lstStyle/>
          <a:p>
            <a:r>
              <a:rPr lang="zh-CN" altLang="en-US" dirty="0"/>
              <a:t xml:space="preserve">现实四重挑战</a:t>
            </a:r>
          </a:p>
        </p:txBody>
      </p:sp>
    </p:spTree>
    <p:extLst>
      <p:ext uri="{BB962C8B-B14F-4D97-AF65-F5344CB8AC3E}">
        <p14:creationId xmlns:p14="http://schemas.microsoft.com/office/powerpoint/2010/main" val="592557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50C38F5E-47C6-4E3B-89A6-3AE1451378FC}"/>
              </a:ext>
            </a:extLst>
          </p:cNvPr>
          <p:cNvSpPr/>
          <p:nvPr/>
        </p:nvSpPr>
        <p:spPr>
          <a:xfrm>
            <a:off x="940391" y="1486515"/>
            <a:ext cx="1538883" cy="369332"/>
          </a:xfrm>
          <a:prstGeom prst="rect">
            <a:avLst/>
          </a:prstGeom>
          <a:ln>
            <a:noFill/>
          </a:ln>
        </p:spPr>
        <p:txBody>
          <a:bodyPr wrap="none" lIns="0" tIns="0" rIns="0" bIns="0">
            <a:spAutoFit/>
          </a:bodyPr>
          <a:lstStyle/>
          <a:p>
            <a:r>
              <a:rPr lang="zh-CN" altLang="en-US" sz="2400" b="1" dirty="0">
                <a:solidFill>
                  <a:schemeClr val="accent1"/>
                </a:solidFill>
                <a:latin typeface="+mj-ea"/>
                <a:ea typeface="+mj-ea"/>
              </a:rPr>
              <a:t xml:space="preserve">历史必然</a:t>
            </a:r>
          </a:p>
        </p:txBody>
      </p:sp>
      <p:sp>
        <p:nvSpPr>
          <p:cNvPr id="18" name="矩形 17">
            <a:extLst>
              <a:ext uri="{FF2B5EF4-FFF2-40B4-BE49-F238E27FC236}">
                <a16:creationId xmlns:a16="http://schemas.microsoft.com/office/drawing/2014/main" id="{876B6E74-DE59-4746-891C-BE05BA51954F}"/>
              </a:ext>
            </a:extLst>
          </p:cNvPr>
          <p:cNvSpPr/>
          <p:nvPr/>
        </p:nvSpPr>
        <p:spPr>
          <a:xfrm>
            <a:off x="940391" y="2023296"/>
            <a:ext cx="10311219" cy="1064074"/>
          </a:xfrm>
          <a:prstGeom prst="rect">
            <a:avLst/>
          </a:prstGeom>
        </p:spPr>
        <p:txBody>
          <a:bodyPr wrap="square" lIns="0" tIns="0" rIns="0" bIns="0">
            <a:spAutoFit/>
          </a:bodyPr>
          <a:lstStyle/>
          <a:p>
            <a:pPr>
              <a:lnSpc>
                <a:spcPct val="150000"/>
              </a:lnSpc>
            </a:pPr>
            <a:r>
              <a:rPr lang="en-US" altLang="zh-CN" sz="1600" dirty="0">
                <a:solidFill>
                  <a:schemeClr val="tx1">
                    <a:lumMod val="65000"/>
                    <a:lumOff val="35000"/>
                  </a:schemeClr>
                </a:solidFill>
                <a:latin typeface="+mn-ea"/>
              </a:rPr>
              <a:t xml:space="preserve">大模型是算力数据算法六十年协同积累的必然，须重基础创新。</a:t>
            </a:r>
          </a:p>
        </p:txBody>
      </p:sp>
      <p:cxnSp>
        <p:nvCxnSpPr>
          <p:cNvPr id="3" name="直接连接符 2">
            <a:extLst>
              <a:ext uri="{FF2B5EF4-FFF2-40B4-BE49-F238E27FC236}">
                <a16:creationId xmlns:a16="http://schemas.microsoft.com/office/drawing/2014/main" id="{235D0F93-6BBC-4382-A98D-10025EC5ACA4}"/>
              </a:ext>
            </a:extLst>
          </p:cNvPr>
          <p:cNvCxnSpPr>
            <a:cxnSpLocks/>
          </p:cNvCxnSpPr>
          <p:nvPr/>
        </p:nvCxnSpPr>
        <p:spPr>
          <a:xfrm>
            <a:off x="658813" y="1559773"/>
            <a:ext cx="0" cy="216640"/>
          </a:xfrm>
          <a:prstGeom prst="line">
            <a:avLst/>
          </a:prstGeom>
          <a:ln w="76200" cap="rnd">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EB6D9950-8321-45EB-BFE9-1676E5E82650}"/>
              </a:ext>
            </a:extLst>
          </p:cNvPr>
          <p:cNvSpPr/>
          <p:nvPr/>
        </p:nvSpPr>
        <p:spPr>
          <a:xfrm>
            <a:off x="940391" y="3838342"/>
            <a:ext cx="1538883" cy="369332"/>
          </a:xfrm>
          <a:prstGeom prst="rect">
            <a:avLst/>
          </a:prstGeom>
        </p:spPr>
        <p:txBody>
          <a:bodyPr wrap="none" lIns="0" tIns="0" rIns="0" bIns="0">
            <a:spAutoFit/>
          </a:bodyPr>
          <a:lstStyle/>
          <a:p>
            <a:r>
              <a:rPr lang="zh-CN" altLang="en-US" sz="2400" b="1" dirty="0">
                <a:solidFill>
                  <a:schemeClr val="accent1"/>
                </a:solidFill>
                <a:latin typeface="+mj-ea"/>
                <a:ea typeface="+mj-ea"/>
              </a:rPr>
              <a:t xml:space="preserve">未来焦点</a:t>
            </a:r>
          </a:p>
        </p:txBody>
      </p:sp>
      <p:sp>
        <p:nvSpPr>
          <p:cNvPr id="29" name="矩形 28">
            <a:extLst>
              <a:ext uri="{FF2B5EF4-FFF2-40B4-BE49-F238E27FC236}">
                <a16:creationId xmlns:a16="http://schemas.microsoft.com/office/drawing/2014/main" id="{9FCA4093-A128-4330-B319-3A75F063257A}"/>
              </a:ext>
            </a:extLst>
          </p:cNvPr>
          <p:cNvSpPr/>
          <p:nvPr/>
        </p:nvSpPr>
        <p:spPr>
          <a:xfrm>
            <a:off x="940391" y="4375123"/>
            <a:ext cx="10311219" cy="1064074"/>
          </a:xfrm>
          <a:prstGeom prst="rect">
            <a:avLst/>
          </a:prstGeom>
        </p:spPr>
        <p:txBody>
          <a:bodyPr wrap="square" lIns="0" tIns="0" rIns="0" bIns="0">
            <a:spAutoFit/>
          </a:bodyPr>
          <a:lstStyle/>
          <a:p>
            <a:pPr>
              <a:lnSpc>
                <a:spcPct val="150000"/>
              </a:lnSpc>
            </a:pPr>
            <a:r>
              <a:rPr lang="en-US" altLang="zh-CN" sz="1600" dirty="0">
                <a:solidFill>
                  <a:schemeClr val="tx1">
                    <a:lumMod val="65000"/>
                    <a:lumOff val="35000"/>
                  </a:schemeClr>
                </a:solidFill>
                <a:latin typeface="+mn-ea"/>
              </a:rPr>
              <a:t xml:space="preserve">多模态统一、推理强化与智能体自主化成焦点，AI 渐成基建。</a:t>
            </a:r>
          </a:p>
        </p:txBody>
      </p:sp>
      <p:cxnSp>
        <p:nvCxnSpPr>
          <p:cNvPr id="33" name="直接连接符 32">
            <a:extLst>
              <a:ext uri="{FF2B5EF4-FFF2-40B4-BE49-F238E27FC236}">
                <a16:creationId xmlns:a16="http://schemas.microsoft.com/office/drawing/2014/main" id="{75CE223E-CF54-477C-A97A-BBC6388B36C2}"/>
              </a:ext>
            </a:extLst>
          </p:cNvPr>
          <p:cNvCxnSpPr>
            <a:cxnSpLocks/>
          </p:cNvCxnSpPr>
          <p:nvPr/>
        </p:nvCxnSpPr>
        <p:spPr>
          <a:xfrm>
            <a:off x="940391" y="3429000"/>
            <a:ext cx="10176788" cy="0"/>
          </a:xfrm>
          <a:prstGeom prst="line">
            <a:avLst/>
          </a:prstGeom>
          <a:ln w="19050" cap="rnd">
            <a:gradFill>
              <a:gsLst>
                <a:gs pos="0">
                  <a:schemeClr val="accent3">
                    <a:alpha val="70000"/>
                  </a:schemeClr>
                </a:gs>
                <a:gs pos="100000">
                  <a:schemeClr val="accent3">
                    <a:alpha val="0"/>
                  </a:schemeClr>
                </a:gs>
              </a:gsLst>
              <a:lin ang="0" scaled="0"/>
            </a:gra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FDDB3EC8-690A-42F3-9C8E-8AFD83FBC5F5}"/>
              </a:ext>
            </a:extLst>
          </p:cNvPr>
          <p:cNvCxnSpPr>
            <a:cxnSpLocks/>
          </p:cNvCxnSpPr>
          <p:nvPr/>
        </p:nvCxnSpPr>
        <p:spPr>
          <a:xfrm>
            <a:off x="940391" y="5809341"/>
            <a:ext cx="10176788" cy="0"/>
          </a:xfrm>
          <a:prstGeom prst="line">
            <a:avLst/>
          </a:prstGeom>
          <a:ln w="19050" cap="rnd">
            <a:gradFill>
              <a:gsLst>
                <a:gs pos="0">
                  <a:schemeClr val="accent3">
                    <a:alpha val="70000"/>
                  </a:schemeClr>
                </a:gs>
                <a:gs pos="100000">
                  <a:schemeClr val="accent3">
                    <a:alpha val="0"/>
                  </a:schemeClr>
                </a:gs>
              </a:gsLst>
              <a:lin ang="0" scaled="0"/>
            </a:gradFill>
            <a:headEnd type="none"/>
            <a:tailEnd type="none"/>
          </a:ln>
        </p:spPr>
        <p:style>
          <a:lnRef idx="1">
            <a:schemeClr val="accent1"/>
          </a:lnRef>
          <a:fillRef idx="0">
            <a:schemeClr val="accent1"/>
          </a:fillRef>
          <a:effectRef idx="0">
            <a:schemeClr val="accent1"/>
          </a:effectRef>
          <a:fontRef idx="minor">
            <a:schemeClr val="tx1"/>
          </a:fontRef>
        </p:style>
      </p:cxnSp>
      <p:sp>
        <p:nvSpPr>
          <p:cNvPr id="2" name="文本占位符 1">
            <a:extLst>
              <a:ext uri="{FF2B5EF4-FFF2-40B4-BE49-F238E27FC236}">
                <a16:creationId xmlns:a16="http://schemas.microsoft.com/office/drawing/2014/main" id="{A1034E97-542C-4E44-B782-0D1046583467}"/>
              </a:ext>
            </a:extLst>
          </p:cNvPr>
          <p:cNvSpPr>
            <a:spLocks noGrp="1"/>
          </p:cNvSpPr>
          <p:nvPr>
            <p:ph type="body" sz="quarter" idx="10"/>
          </p:nvPr>
        </p:nvSpPr>
        <p:spPr>
          <a:xfrm>
            <a:off x="843917" y="371998"/>
            <a:ext cx="5252083" cy="360099"/>
          </a:xfrm>
        </p:spPr>
        <p:txBody>
          <a:bodyPr>
            <a:spAutoFit/>
          </a:bodyPr>
          <a:lstStyle/>
          <a:p>
            <a:r>
              <a:rPr lang="zh-CN" altLang="en-US" dirty="0"/>
              <a:t xml:space="preserve">结论与展望</a:t>
            </a:r>
          </a:p>
        </p:txBody>
      </p:sp>
      <p:cxnSp>
        <p:nvCxnSpPr>
          <p:cNvPr id="13" name="直接连接符 12">
            <a:extLst>
              <a:ext uri="{FF2B5EF4-FFF2-40B4-BE49-F238E27FC236}">
                <a16:creationId xmlns:a16="http://schemas.microsoft.com/office/drawing/2014/main" id="{EB9B9A58-A5DD-45A2-95CF-22AA0177C3EB}"/>
              </a:ext>
            </a:extLst>
          </p:cNvPr>
          <p:cNvCxnSpPr>
            <a:cxnSpLocks/>
          </p:cNvCxnSpPr>
          <p:nvPr/>
        </p:nvCxnSpPr>
        <p:spPr>
          <a:xfrm>
            <a:off x="658813" y="3911600"/>
            <a:ext cx="0" cy="216640"/>
          </a:xfrm>
          <a:prstGeom prst="line">
            <a:avLst/>
          </a:prstGeom>
          <a:ln w="76200" cap="rnd">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9820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占位符 10" descr="图片包含 场景&#10;&#10;描述已自动生成">
            <a:extLst>
              <a:ext uri="{FF2B5EF4-FFF2-40B4-BE49-F238E27FC236}">
                <a16:creationId xmlns:a16="http://schemas.microsoft.com/office/drawing/2014/main" id="{6A7C60F6-4BDE-4596-9E89-BE3AB22D5F4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a:xfrm>
            <a:off x="172936" y="176464"/>
            <a:ext cx="11846128" cy="4395536"/>
          </a:xfrm>
        </p:spPr>
      </p:pic>
      <p:sp>
        <p:nvSpPr>
          <p:cNvPr id="8" name="文本占位符 7">
            <a:extLst>
              <a:ext uri="{FF2B5EF4-FFF2-40B4-BE49-F238E27FC236}">
                <a16:creationId xmlns:a16="http://schemas.microsoft.com/office/drawing/2014/main" id="{B68D46BF-2CF9-4CEB-9FDC-DA585E0B89F4}"/>
              </a:ext>
            </a:extLst>
          </p:cNvPr>
          <p:cNvSpPr>
            <a:spLocks noGrp="1"/>
          </p:cNvSpPr>
          <p:nvPr>
            <p:ph type="body" sz="quarter" idx="16"/>
          </p:nvPr>
        </p:nvSpPr>
        <p:spPr>
          <a:xfrm>
            <a:off x="1399806" y="5119688"/>
            <a:ext cx="9392390" cy="493712"/>
          </a:xfrm>
        </p:spPr>
        <p:txBody>
          <a:bodyPr>
            <a:spAutoFit/>
          </a:bodyPr>
          <a:lstStyle/>
          <a:p>
            <a:r>
              <a:rPr lang="zh-CN" altLang="en-US" dirty="0"/>
              <a:t xml:space="preserve">毕业论文答辩</a:t>
            </a:r>
          </a:p>
        </p:txBody>
      </p:sp>
      <p:sp>
        <p:nvSpPr>
          <p:cNvPr id="9" name="文本占位符 8">
            <a:extLst>
              <a:ext uri="{FF2B5EF4-FFF2-40B4-BE49-F238E27FC236}">
                <a16:creationId xmlns:a16="http://schemas.microsoft.com/office/drawing/2014/main" id="{38E0BEE9-C980-4B41-B05C-8266DA21698D}"/>
              </a:ext>
            </a:extLst>
          </p:cNvPr>
          <p:cNvSpPr>
            <a:spLocks noGrp="1"/>
          </p:cNvSpPr>
          <p:nvPr>
            <p:ph type="body" sz="quarter" idx="17"/>
          </p:nvPr>
        </p:nvSpPr>
        <p:spPr/>
        <p:txBody>
          <a:bodyPr>
            <a:spAutoFit/>
          </a:bodyPr>
          <a:lstStyle/>
          <a:p>
            <a:r>
              <a:rPr lang="en-US" altLang="zh-CN" dirty="0"/>
              <a:t xml:space="preserve">敬请各位老师批评指正</a:t>
            </a:r>
          </a:p>
        </p:txBody>
      </p:sp>
      <p:sp>
        <p:nvSpPr>
          <p:cNvPr id="12" name="矩形: 圆角 11">
            <a:extLst>
              <a:ext uri="{FF2B5EF4-FFF2-40B4-BE49-F238E27FC236}">
                <a16:creationId xmlns:a16="http://schemas.microsoft.com/office/drawing/2014/main" id="{69D695B6-55A5-4178-92C0-B0C71CA5D74B}"/>
              </a:ext>
            </a:extLst>
          </p:cNvPr>
          <p:cNvSpPr/>
          <p:nvPr/>
        </p:nvSpPr>
        <p:spPr>
          <a:xfrm>
            <a:off x="172936" y="176464"/>
            <a:ext cx="11846128" cy="4395536"/>
          </a:xfrm>
          <a:prstGeom prst="roundRect">
            <a:avLst>
              <a:gd name="adj" fmla="val 1227"/>
            </a:avLst>
          </a:prstGeom>
          <a:solidFill>
            <a:schemeClr val="accent1">
              <a:alpha val="86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5" name="矩形: 圆角 14">
            <a:extLst>
              <a:ext uri="{FF2B5EF4-FFF2-40B4-BE49-F238E27FC236}">
                <a16:creationId xmlns:a16="http://schemas.microsoft.com/office/drawing/2014/main" id="{B4DD3869-D696-4516-9EF8-4219F6B5B285}"/>
              </a:ext>
            </a:extLst>
          </p:cNvPr>
          <p:cNvSpPr/>
          <p:nvPr/>
        </p:nvSpPr>
        <p:spPr>
          <a:xfrm>
            <a:off x="5167969" y="4354360"/>
            <a:ext cx="1856062" cy="466724"/>
          </a:xfrm>
          <a:prstGeom prst="roundRect">
            <a:avLst>
              <a:gd name="adj" fmla="val 50000"/>
            </a:avLst>
          </a:prstGeom>
          <a:solidFill>
            <a:schemeClr val="bg1"/>
          </a:solidFill>
          <a:ln>
            <a:noFill/>
          </a:ln>
          <a:effectLst>
            <a:outerShdw blurRad="152400" sx="102000" sy="102000" algn="ctr" rotWithShape="0">
              <a:schemeClr val="tx1">
                <a:lumMod val="95000"/>
                <a:lumOff val="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lvl="0" algn="ctr"/>
            <a:r>
              <a:rPr lang="zh-CN" altLang="en-US" sz="1400" dirty="0">
                <a:solidFill>
                  <a:schemeClr val="tx1">
                    <a:lumMod val="65000"/>
                    <a:lumOff val="35000"/>
                  </a:schemeClr>
                </a:solidFill>
                <a:latin typeface="+mn-ea"/>
              </a:rPr>
              <a:t xml:space="preserve">答辩人：XXX</a:t>
            </a:r>
          </a:p>
        </p:txBody>
      </p:sp>
      <p:sp>
        <p:nvSpPr>
          <p:cNvPr id="7" name="文本占位符 6">
            <a:extLst>
              <a:ext uri="{FF2B5EF4-FFF2-40B4-BE49-F238E27FC236}">
                <a16:creationId xmlns:a16="http://schemas.microsoft.com/office/drawing/2014/main" id="{4B7F70DE-B6D8-4AEC-BBE2-2957ADC9075E}"/>
              </a:ext>
            </a:extLst>
          </p:cNvPr>
          <p:cNvSpPr>
            <a:spLocks noGrp="1"/>
          </p:cNvSpPr>
          <p:nvPr>
            <p:ph type="body" sz="quarter" idx="15"/>
          </p:nvPr>
        </p:nvSpPr>
        <p:spPr/>
        <p:txBody>
          <a:bodyPr>
            <a:spAutoFit/>
          </a:bodyPr>
          <a:lstStyle/>
          <a:p>
            <a:r>
              <a:rPr lang="en-US" altLang="zh-CN" dirty="0"/>
              <a:t xml:space="preserve">感谢聆听</a:t>
            </a:r>
          </a:p>
        </p:txBody>
      </p:sp>
      <p:cxnSp>
        <p:nvCxnSpPr>
          <p:cNvPr id="13" name="直接连接符 12">
            <a:extLst>
              <a:ext uri="{FF2B5EF4-FFF2-40B4-BE49-F238E27FC236}">
                <a16:creationId xmlns:a16="http://schemas.microsoft.com/office/drawing/2014/main" id="{C01122C4-8350-4379-88DD-93ACD5B3CFF0}"/>
              </a:ext>
            </a:extLst>
          </p:cNvPr>
          <p:cNvCxnSpPr>
            <a:cxnSpLocks/>
          </p:cNvCxnSpPr>
          <p:nvPr/>
        </p:nvCxnSpPr>
        <p:spPr>
          <a:xfrm>
            <a:off x="2527820" y="3178225"/>
            <a:ext cx="7136361" cy="0"/>
          </a:xfrm>
          <a:prstGeom prst="line">
            <a:avLst/>
          </a:prstGeom>
          <a:ln w="12700">
            <a:gradFill>
              <a:gsLst>
                <a:gs pos="0">
                  <a:schemeClr val="bg1">
                    <a:alpha val="0"/>
                  </a:schemeClr>
                </a:gs>
                <a:gs pos="49600">
                  <a:srgbClr val="FFFFFF">
                    <a:alpha val="40000"/>
                  </a:srgb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EDB1972-9D82-410D-8B77-6550ED460539}"/>
              </a:ext>
            </a:extLst>
          </p:cNvPr>
          <p:cNvCxnSpPr>
            <a:cxnSpLocks/>
          </p:cNvCxnSpPr>
          <p:nvPr/>
        </p:nvCxnSpPr>
        <p:spPr>
          <a:xfrm>
            <a:off x="2527820" y="1844725"/>
            <a:ext cx="7136361" cy="0"/>
          </a:xfrm>
          <a:prstGeom prst="line">
            <a:avLst/>
          </a:prstGeom>
          <a:ln w="12700">
            <a:gradFill>
              <a:gsLst>
                <a:gs pos="0">
                  <a:schemeClr val="bg1">
                    <a:alpha val="0"/>
                  </a:schemeClr>
                </a:gs>
                <a:gs pos="49600">
                  <a:srgbClr val="FFFFFF">
                    <a:alpha val="40000"/>
                  </a:srgb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A4113EB1-9253-404B-A9AE-3A6F58FC6E22}"/>
              </a:ext>
            </a:extLst>
          </p:cNvPr>
          <p:cNvGrpSpPr/>
          <p:nvPr/>
        </p:nvGrpSpPr>
        <p:grpSpPr>
          <a:xfrm>
            <a:off x="2536896" y="5322718"/>
            <a:ext cx="7118208" cy="87652"/>
            <a:chOff x="2536896" y="5320569"/>
            <a:chExt cx="7118208" cy="87652"/>
          </a:xfrm>
        </p:grpSpPr>
        <p:grpSp>
          <p:nvGrpSpPr>
            <p:cNvPr id="18" name="组合 17">
              <a:extLst>
                <a:ext uri="{FF2B5EF4-FFF2-40B4-BE49-F238E27FC236}">
                  <a16:creationId xmlns:a16="http://schemas.microsoft.com/office/drawing/2014/main" id="{C98A9F96-02B8-4B47-BEE2-032972F24C5D}"/>
                </a:ext>
              </a:extLst>
            </p:cNvPr>
            <p:cNvGrpSpPr/>
            <p:nvPr/>
          </p:nvGrpSpPr>
          <p:grpSpPr>
            <a:xfrm>
              <a:off x="2536896" y="5320569"/>
              <a:ext cx="962523" cy="87652"/>
              <a:chOff x="4228602" y="1363109"/>
              <a:chExt cx="962523" cy="87652"/>
            </a:xfrm>
          </p:grpSpPr>
          <p:cxnSp>
            <p:nvCxnSpPr>
              <p:cNvPr id="26" name="直接连接符 25">
                <a:extLst>
                  <a:ext uri="{FF2B5EF4-FFF2-40B4-BE49-F238E27FC236}">
                    <a16:creationId xmlns:a16="http://schemas.microsoft.com/office/drawing/2014/main" id="{7AB7BF1A-DA2F-4244-9C62-027842B88265}"/>
                  </a:ext>
                </a:extLst>
              </p:cNvPr>
              <p:cNvCxnSpPr/>
              <p:nvPr/>
            </p:nvCxnSpPr>
            <p:spPr>
              <a:xfrm>
                <a:off x="4228602" y="1406937"/>
                <a:ext cx="856343" cy="0"/>
              </a:xfrm>
              <a:prstGeom prst="line">
                <a:avLst/>
              </a:prstGeom>
              <a:ln w="22225" cap="rnd">
                <a:gradFill>
                  <a:gsLst>
                    <a:gs pos="0">
                      <a:schemeClr val="accent3">
                        <a:alpha val="0"/>
                      </a:schemeClr>
                    </a:gs>
                    <a:gs pos="100000">
                      <a:schemeClr val="accent3">
                        <a:alpha val="76000"/>
                      </a:schemeClr>
                    </a:gs>
                  </a:gsLst>
                  <a:lin ang="0" scaled="0"/>
                </a:gradFill>
                <a:tailEnd type="none" w="med" len="med"/>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C00A006D-AC94-493F-9829-841B4B597176}"/>
                  </a:ext>
                </a:extLst>
              </p:cNvPr>
              <p:cNvGrpSpPr/>
              <p:nvPr/>
            </p:nvGrpSpPr>
            <p:grpSpPr>
              <a:xfrm>
                <a:off x="5103473" y="1363109"/>
                <a:ext cx="87652" cy="87652"/>
                <a:chOff x="5103473" y="1363109"/>
                <a:chExt cx="87652" cy="87652"/>
              </a:xfrm>
            </p:grpSpPr>
            <p:sp>
              <p:nvSpPr>
                <p:cNvPr id="28" name="矩形 27">
                  <a:extLst>
                    <a:ext uri="{FF2B5EF4-FFF2-40B4-BE49-F238E27FC236}">
                      <a16:creationId xmlns:a16="http://schemas.microsoft.com/office/drawing/2014/main" id="{966520DA-CE1F-42A6-9A7A-6D171DE2B98C}"/>
                    </a:ext>
                  </a:extLst>
                </p:cNvPr>
                <p:cNvSpPr/>
                <p:nvPr/>
              </p:nvSpPr>
              <p:spPr>
                <a:xfrm rot="2700000">
                  <a:off x="5122267" y="1381904"/>
                  <a:ext cx="50063" cy="50063"/>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9" name="矩形 28">
                  <a:extLst>
                    <a:ext uri="{FF2B5EF4-FFF2-40B4-BE49-F238E27FC236}">
                      <a16:creationId xmlns:a16="http://schemas.microsoft.com/office/drawing/2014/main" id="{55BE4205-55F4-43EB-8101-DA60BDA251EB}"/>
                    </a:ext>
                  </a:extLst>
                </p:cNvPr>
                <p:cNvSpPr/>
                <p:nvPr/>
              </p:nvSpPr>
              <p:spPr>
                <a:xfrm rot="2700000">
                  <a:off x="5103473" y="1363109"/>
                  <a:ext cx="87652" cy="87652"/>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grpSp>
          <p:nvGrpSpPr>
            <p:cNvPr id="19" name="组合 18">
              <a:extLst>
                <a:ext uri="{FF2B5EF4-FFF2-40B4-BE49-F238E27FC236}">
                  <a16:creationId xmlns:a16="http://schemas.microsoft.com/office/drawing/2014/main" id="{3F1CDE85-83AB-497C-BE93-05DA38060C27}"/>
                </a:ext>
              </a:extLst>
            </p:cNvPr>
            <p:cNvGrpSpPr/>
            <p:nvPr/>
          </p:nvGrpSpPr>
          <p:grpSpPr>
            <a:xfrm flipH="1">
              <a:off x="8692581" y="5320569"/>
              <a:ext cx="962523" cy="87652"/>
              <a:chOff x="4228602" y="1363109"/>
              <a:chExt cx="962523" cy="87652"/>
            </a:xfrm>
          </p:grpSpPr>
          <p:cxnSp>
            <p:nvCxnSpPr>
              <p:cNvPr id="20" name="直接连接符 19">
                <a:extLst>
                  <a:ext uri="{FF2B5EF4-FFF2-40B4-BE49-F238E27FC236}">
                    <a16:creationId xmlns:a16="http://schemas.microsoft.com/office/drawing/2014/main" id="{5A5F5226-6501-4741-AB80-EDAC92A4C750}"/>
                  </a:ext>
                </a:extLst>
              </p:cNvPr>
              <p:cNvCxnSpPr/>
              <p:nvPr/>
            </p:nvCxnSpPr>
            <p:spPr>
              <a:xfrm>
                <a:off x="4228602" y="1406937"/>
                <a:ext cx="856343" cy="0"/>
              </a:xfrm>
              <a:prstGeom prst="line">
                <a:avLst/>
              </a:prstGeom>
              <a:ln w="22225" cap="rnd">
                <a:gradFill>
                  <a:gsLst>
                    <a:gs pos="0">
                      <a:schemeClr val="accent3">
                        <a:alpha val="0"/>
                      </a:schemeClr>
                    </a:gs>
                    <a:gs pos="100000">
                      <a:schemeClr val="accent3">
                        <a:alpha val="76000"/>
                      </a:schemeClr>
                    </a:gs>
                  </a:gsLst>
                  <a:lin ang="0" scaled="0"/>
                </a:gradFill>
                <a:tailEnd type="none" w="med" len="med"/>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F57DFAEE-18B7-4B4B-9F9A-F8F174A1DD76}"/>
                  </a:ext>
                </a:extLst>
              </p:cNvPr>
              <p:cNvGrpSpPr/>
              <p:nvPr/>
            </p:nvGrpSpPr>
            <p:grpSpPr>
              <a:xfrm>
                <a:off x="5103473" y="1363109"/>
                <a:ext cx="87652" cy="87652"/>
                <a:chOff x="5103473" y="1363109"/>
                <a:chExt cx="87652" cy="87652"/>
              </a:xfrm>
            </p:grpSpPr>
            <p:sp>
              <p:nvSpPr>
                <p:cNvPr id="24" name="矩形 23">
                  <a:extLst>
                    <a:ext uri="{FF2B5EF4-FFF2-40B4-BE49-F238E27FC236}">
                      <a16:creationId xmlns:a16="http://schemas.microsoft.com/office/drawing/2014/main" id="{4F64AE76-6694-43B9-B281-C5A8AF9D1355}"/>
                    </a:ext>
                  </a:extLst>
                </p:cNvPr>
                <p:cNvSpPr/>
                <p:nvPr/>
              </p:nvSpPr>
              <p:spPr>
                <a:xfrm rot="2700000">
                  <a:off x="5122267" y="1381904"/>
                  <a:ext cx="50063" cy="50063"/>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5" name="矩形 24">
                  <a:extLst>
                    <a:ext uri="{FF2B5EF4-FFF2-40B4-BE49-F238E27FC236}">
                      <a16:creationId xmlns:a16="http://schemas.microsoft.com/office/drawing/2014/main" id="{890C08EB-38C7-416D-8C0C-16CEABF4F73F}"/>
                    </a:ext>
                  </a:extLst>
                </p:cNvPr>
                <p:cNvSpPr/>
                <p:nvPr/>
              </p:nvSpPr>
              <p:spPr>
                <a:xfrm rot="2700000">
                  <a:off x="5103473" y="1363109"/>
                  <a:ext cx="87652" cy="87652"/>
                </a:xfrm>
                <a:prstGeom prst="rect">
                  <a:avLst/>
                </a:pr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grpSp>
      </p:grpSp>
    </p:spTree>
    <p:extLst>
      <p:ext uri="{BB962C8B-B14F-4D97-AF65-F5344CB8AC3E}">
        <p14:creationId xmlns:p14="http://schemas.microsoft.com/office/powerpoint/2010/main" val="3364193939"/>
      </p:ext>
    </p:extLst>
  </p:cSld>
  <p:clrMapOvr>
    <a:masterClrMapping/>
  </p:clrMapOvr>
</p:sld>
</file>

<file path=ppt/theme/theme1.xml><?xml version="1.0" encoding="utf-8"?>
<a:theme xmlns:a="http://schemas.openxmlformats.org/drawingml/2006/main" name="Office 主题​​">
  <a:themeElements>
    <a:clrScheme name="广东财经大学模板">
      <a:dk1>
        <a:sysClr val="windowText" lastClr="000000"/>
      </a:dk1>
      <a:lt1>
        <a:sysClr val="window" lastClr="FFFFFF"/>
      </a:lt1>
      <a:dk2>
        <a:srgbClr val="44546A"/>
      </a:dk2>
      <a:lt2>
        <a:srgbClr val="E7E6E6"/>
      </a:lt2>
      <a:accent1>
        <a:srgbClr val="006871"/>
      </a:accent1>
      <a:accent2>
        <a:srgbClr val="008F9A"/>
      </a:accent2>
      <a:accent3>
        <a:srgbClr val="3BA4A7"/>
      </a:accent3>
      <a:accent4>
        <a:srgbClr val="07C9C4"/>
      </a:accent4>
      <a:accent5>
        <a:srgbClr val="0088A7"/>
      </a:accent5>
      <a:accent6>
        <a:srgbClr val="0B697F"/>
      </a:accent6>
      <a:hlink>
        <a:srgbClr val="0563C1"/>
      </a:hlink>
      <a:folHlink>
        <a:srgbClr val="954F72"/>
      </a:folHlink>
    </a:clrScheme>
    <a:fontScheme name="广东财经大学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rnd">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chorCtr="0">
        <a:spAutoFit/>
      </a:bodyPr>
      <a:lstStyle>
        <a:defPPr algn="l">
          <a:lnSpc>
            <a:spcPct val="150000"/>
          </a:lnSpc>
          <a:defRPr dirty="0">
            <a:solidFill>
              <a:prstClr val="black">
                <a:lumMod val="65000"/>
                <a:lumOff val="35000"/>
              </a:prstClr>
            </a:solidFill>
            <a:latin typeface="微软雅黑"/>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5626</TotalTime>
  <Words>5257</Words>
  <Application>Microsoft Office PowerPoint</Application>
  <PresentationFormat>宽屏</PresentationFormat>
  <Paragraphs>555</Paragraphs>
  <Slides>70</Slides>
  <Notes>0</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70</vt:i4>
      </vt:variant>
    </vt:vector>
  </HeadingPairs>
  <TitlesOfParts>
    <vt:vector size="80" baseType="lpstr">
      <vt:lpstr>Arial</vt:lpstr>
      <vt:lpstr>Calibri</vt:lpstr>
      <vt:lpstr>Segoe UI</vt:lpstr>
      <vt:lpstr>Segoe UI Light</vt:lpstr>
      <vt:lpstr>Wingdings</vt:lpstr>
      <vt:lpstr>等线</vt:lpstr>
      <vt:lpstr>微软雅黑</vt:lpstr>
      <vt:lpstr>Office 主题​​</vt:lpstr>
      <vt:lpstr>OfficePLUS</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伟佳 陈</dc:creator>
  <cp:lastModifiedBy>Yan Li</cp:lastModifiedBy>
  <cp:revision>821</cp:revision>
  <dcterms:created xsi:type="dcterms:W3CDTF">2019-03-24T02:42:15Z</dcterms:created>
  <dcterms:modified xsi:type="dcterms:W3CDTF">2025-02-15T10:31:04Z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2019-04-13T10:48:31.6490748Z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10039bc5-54be-4737-bec2-5e16c6a7d533</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